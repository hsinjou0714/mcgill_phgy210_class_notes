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7340" y="419100"/>
            <a:ext cx="8529319" cy="37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4536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68121"/>
            <a:ext cx="8072119" cy="393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1020" y="1599438"/>
            <a:ext cx="8061959" cy="163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marissa.aycan@mail.mcgill.ca" TargetMode="External"/><Relationship Id="rId3" Type="http://schemas.openxmlformats.org/officeDocument/2006/relationships/hyperlink" Target="mailto:Michael.chen5@mail.mcgill.ca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7542" y="385953"/>
            <a:ext cx="1923414" cy="647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000" spc="-15" b="0">
                <a:latin typeface="Calibri Light"/>
                <a:cs typeface="Calibri Light"/>
              </a:rPr>
              <a:t>Lecture</a:t>
            </a:r>
            <a:r>
              <a:rPr dirty="0" sz="4000" spc="-90" b="0">
                <a:latin typeface="Calibri Light"/>
                <a:cs typeface="Calibri Light"/>
              </a:rPr>
              <a:t> </a:t>
            </a:r>
            <a:r>
              <a:rPr dirty="0" sz="4000" spc="-5" b="0">
                <a:latin typeface="Calibri Light"/>
                <a:cs typeface="Calibri Light"/>
              </a:rPr>
              <a:t>4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822958"/>
            <a:ext cx="1812289" cy="3460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dirty="0" sz="2100" spc="-15">
                <a:latin typeface="Calibri"/>
                <a:cs typeface="Calibri"/>
              </a:rPr>
              <a:t>Physiology</a:t>
            </a:r>
            <a:r>
              <a:rPr dirty="0" sz="2100" spc="-2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210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2260600"/>
            <a:ext cx="963294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20" b="0">
                <a:latin typeface="Calibri Light"/>
                <a:cs typeface="Calibri Light"/>
              </a:rPr>
              <a:t>Tutorials: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2844038"/>
            <a:ext cx="4471670" cy="5702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2160"/>
              </a:lnSpc>
            </a:pPr>
            <a:r>
              <a:rPr dirty="0" sz="2000" b="0">
                <a:latin typeface="Calibri Light"/>
                <a:cs typeface="Calibri Light"/>
              </a:rPr>
              <a:t>January </a:t>
            </a:r>
            <a:r>
              <a:rPr dirty="0" sz="2000" spc="5" b="0">
                <a:latin typeface="Calibri Light"/>
                <a:cs typeface="Calibri Light"/>
              </a:rPr>
              <a:t>24</a:t>
            </a:r>
            <a:r>
              <a:rPr dirty="0" baseline="25641" sz="1950" spc="7" b="0">
                <a:latin typeface="Calibri Light"/>
                <a:cs typeface="Calibri Light"/>
              </a:rPr>
              <a:t>th</a:t>
            </a:r>
            <a:r>
              <a:rPr dirty="0" sz="2000" spc="5" b="0">
                <a:latin typeface="Calibri Light"/>
                <a:cs typeface="Calibri Light"/>
              </a:rPr>
              <a:t>: </a:t>
            </a:r>
            <a:r>
              <a:rPr dirty="0" sz="2000" b="0">
                <a:latin typeface="Calibri Light"/>
                <a:cs typeface="Calibri Light"/>
              </a:rPr>
              <a:t>5h30 </a:t>
            </a:r>
            <a:r>
              <a:rPr dirty="0" sz="2000" spc="-15" b="0">
                <a:latin typeface="Calibri Light"/>
                <a:cs typeface="Calibri Light"/>
              </a:rPr>
              <a:t>to </a:t>
            </a:r>
            <a:r>
              <a:rPr dirty="0" sz="2000" b="0">
                <a:latin typeface="Calibri Light"/>
                <a:cs typeface="Calibri Light"/>
              </a:rPr>
              <a:t>6h30 pm mcmed 522  </a:t>
            </a:r>
            <a:r>
              <a:rPr dirty="0" sz="2000" spc="-5" b="0">
                <a:latin typeface="Calibri Light"/>
                <a:cs typeface="Calibri Light"/>
              </a:rPr>
              <a:t>February </a:t>
            </a:r>
            <a:r>
              <a:rPr dirty="0" sz="2000" spc="10" b="0">
                <a:latin typeface="Calibri Light"/>
                <a:cs typeface="Calibri Light"/>
              </a:rPr>
              <a:t>2</a:t>
            </a:r>
            <a:r>
              <a:rPr dirty="0" baseline="25641" sz="1950" spc="15" b="0">
                <a:latin typeface="Calibri Light"/>
                <a:cs typeface="Calibri Light"/>
              </a:rPr>
              <a:t>nd</a:t>
            </a:r>
            <a:r>
              <a:rPr dirty="0" sz="2000" spc="10" b="0">
                <a:latin typeface="Calibri Light"/>
                <a:cs typeface="Calibri Light"/>
              </a:rPr>
              <a:t>: </a:t>
            </a:r>
            <a:r>
              <a:rPr dirty="0" sz="2000" b="0">
                <a:latin typeface="Calibri Light"/>
                <a:cs typeface="Calibri Light"/>
              </a:rPr>
              <a:t>5h30 </a:t>
            </a:r>
            <a:r>
              <a:rPr dirty="0" sz="2000" spc="-15" b="0">
                <a:latin typeface="Calibri Light"/>
                <a:cs typeface="Calibri Light"/>
              </a:rPr>
              <a:t>to </a:t>
            </a:r>
            <a:r>
              <a:rPr dirty="0" sz="2000" b="0">
                <a:latin typeface="Calibri Light"/>
                <a:cs typeface="Calibri Light"/>
              </a:rPr>
              <a:t>6h30 pm mcmed</a:t>
            </a:r>
            <a:r>
              <a:rPr dirty="0" sz="2000" spc="-140" b="0">
                <a:latin typeface="Calibri Light"/>
                <a:cs typeface="Calibri Light"/>
              </a:rPr>
              <a:t> </a:t>
            </a:r>
            <a:r>
              <a:rPr dirty="0" sz="2000" b="0">
                <a:latin typeface="Calibri Light"/>
                <a:cs typeface="Calibri Light"/>
              </a:rPr>
              <a:t>522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739" y="540705"/>
            <a:ext cx="3011805" cy="666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27355" marR="5080" indent="-415290">
              <a:lnSpc>
                <a:spcPct val="131900"/>
              </a:lnSpc>
            </a:pPr>
            <a:r>
              <a:rPr dirty="0" sz="1600" spc="-35" b="1">
                <a:solidFill>
                  <a:srgbClr val="888888"/>
                </a:solidFill>
                <a:latin typeface="Calibri"/>
                <a:cs typeface="Calibri"/>
              </a:rPr>
              <a:t>TAs: </a:t>
            </a:r>
            <a:r>
              <a:rPr dirty="0" sz="1600" spc="-10" b="1" u="heavy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marissa.aycan@mail.mcgill.ca </a:t>
            </a:r>
            <a:r>
              <a:rPr dirty="0" sz="1600" spc="-10" b="1" u="heavy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sz="1600" spc="-5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Mic</a:t>
            </a:r>
            <a:r>
              <a:rPr dirty="0" sz="1600" spc="-10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h</a:t>
            </a:r>
            <a:r>
              <a:rPr dirty="0" sz="1600" spc="-5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ael</a:t>
            </a:r>
            <a:r>
              <a:rPr dirty="0" sz="1600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.</a:t>
            </a:r>
            <a:r>
              <a:rPr dirty="0" sz="1600" spc="-5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c</a:t>
            </a:r>
            <a:r>
              <a:rPr dirty="0" sz="1600" spc="-10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hen</a:t>
            </a:r>
            <a:r>
              <a:rPr dirty="0" sz="1600" spc="-15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5</a:t>
            </a:r>
            <a:r>
              <a:rPr dirty="0" sz="1600" spc="-5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@</a:t>
            </a:r>
            <a:r>
              <a:rPr dirty="0" sz="1600" spc="-10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ma</a:t>
            </a:r>
            <a:r>
              <a:rPr dirty="0" sz="1600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i</a:t>
            </a:r>
            <a:r>
              <a:rPr dirty="0" sz="1600" spc="-5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l</a:t>
            </a:r>
            <a:r>
              <a:rPr dirty="0" sz="1600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.</a:t>
            </a:r>
            <a:r>
              <a:rPr dirty="0" sz="1600" spc="-10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mcg</a:t>
            </a:r>
            <a:r>
              <a:rPr dirty="0" sz="1600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i</a:t>
            </a:r>
            <a:r>
              <a:rPr dirty="0" sz="1600" spc="-5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l</a:t>
            </a:r>
            <a:r>
              <a:rPr dirty="0" sz="1600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l</a:t>
            </a:r>
            <a:r>
              <a:rPr dirty="0" sz="1600" spc="-5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.</a:t>
            </a:r>
            <a:r>
              <a:rPr dirty="0" sz="1600" spc="-15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c</a:t>
            </a:r>
            <a:r>
              <a:rPr dirty="0" sz="1600" spc="-5" b="1" u="heavy">
                <a:solidFill>
                  <a:srgbClr val="0462C1"/>
                </a:solidFill>
                <a:latin typeface="Calibri"/>
                <a:cs typeface="Calibri"/>
                <a:hlinkClick r:id="rId3"/>
              </a:rPr>
              <a:t>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395223"/>
            <a:ext cx="6194425" cy="33083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/>
              <a:t>H. </a:t>
            </a:r>
            <a:r>
              <a:rPr dirty="0" sz="2000" spc="-15" u="sng"/>
              <a:t>Measuring Pulmonary </a:t>
            </a:r>
            <a:r>
              <a:rPr dirty="0" sz="2000" spc="-10" u="sng"/>
              <a:t>Blood Flow </a:t>
            </a:r>
            <a:r>
              <a:rPr dirty="0" sz="2000" u="sng"/>
              <a:t>(Q) </a:t>
            </a:r>
            <a:r>
              <a:rPr dirty="0" sz="2000" spc="-10" u="sng"/>
              <a:t>Using </a:t>
            </a:r>
            <a:r>
              <a:rPr dirty="0" sz="2000" spc="-5" u="sng"/>
              <a:t>Fick's</a:t>
            </a:r>
            <a:r>
              <a:rPr dirty="0" sz="2000" spc="-270" u="sng"/>
              <a:t> </a:t>
            </a:r>
            <a:r>
              <a:rPr dirty="0" sz="2000" spc="-10" u="sng"/>
              <a:t>principle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35940" y="1176781"/>
            <a:ext cx="7932420" cy="515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920"/>
              </a:lnSpc>
            </a:pPr>
            <a:r>
              <a:rPr dirty="0" sz="2000" u="heavy">
                <a:latin typeface="Calibri"/>
                <a:cs typeface="Calibri"/>
              </a:rPr>
              <a:t>O</a:t>
            </a:r>
            <a:r>
              <a:rPr dirty="0" sz="1600" u="heavy">
                <a:latin typeface="Calibri"/>
                <a:cs typeface="Calibri"/>
              </a:rPr>
              <a:t>2 </a:t>
            </a:r>
            <a:r>
              <a:rPr dirty="0" sz="2000" spc="-5" u="heavy">
                <a:latin typeface="Calibri"/>
                <a:cs typeface="Calibri"/>
              </a:rPr>
              <a:t>consumption </a:t>
            </a:r>
            <a:r>
              <a:rPr dirty="0" sz="2000" u="heavy">
                <a:latin typeface="Calibri"/>
                <a:cs typeface="Calibri"/>
              </a:rPr>
              <a:t>per </a:t>
            </a:r>
            <a:r>
              <a:rPr dirty="0" sz="2000" spc="-5" u="heavy">
                <a:latin typeface="Calibri"/>
                <a:cs typeface="Calibri"/>
              </a:rPr>
              <a:t>minute (VO</a:t>
            </a:r>
            <a:r>
              <a:rPr dirty="0" sz="1200" spc="-5" u="heavy">
                <a:latin typeface="Calibri"/>
                <a:cs typeface="Calibri"/>
              </a:rPr>
              <a:t>2</a:t>
            </a:r>
            <a:r>
              <a:rPr dirty="0" sz="2000" spc="-5" u="heavy">
                <a:latin typeface="Calibri"/>
                <a:cs typeface="Calibri"/>
              </a:rPr>
              <a:t>) is </a:t>
            </a:r>
            <a:r>
              <a:rPr dirty="0" sz="2000" u="heavy">
                <a:latin typeface="Calibri"/>
                <a:cs typeface="Calibri"/>
              </a:rPr>
              <a:t>equal </a:t>
            </a:r>
            <a:r>
              <a:rPr dirty="0" sz="2000" spc="-15" u="heavy">
                <a:latin typeface="Calibri"/>
                <a:cs typeface="Calibri"/>
              </a:rPr>
              <a:t>to </a:t>
            </a:r>
            <a:r>
              <a:rPr dirty="0" sz="2000" u="heavy">
                <a:latin typeface="Calibri"/>
                <a:cs typeface="Calibri"/>
              </a:rPr>
              <a:t>the </a:t>
            </a:r>
            <a:r>
              <a:rPr dirty="0" sz="2000" spc="5" u="heavy">
                <a:latin typeface="Calibri"/>
                <a:cs typeface="Calibri"/>
              </a:rPr>
              <a:t>O</a:t>
            </a:r>
            <a:r>
              <a:rPr dirty="0" sz="1600" spc="5" u="heavy">
                <a:latin typeface="Calibri"/>
                <a:cs typeface="Calibri"/>
              </a:rPr>
              <a:t>2 </a:t>
            </a:r>
            <a:r>
              <a:rPr dirty="0" sz="2000" spc="-20" u="heavy">
                <a:latin typeface="Calibri"/>
                <a:cs typeface="Calibri"/>
              </a:rPr>
              <a:t>taken </a:t>
            </a:r>
            <a:r>
              <a:rPr dirty="0" sz="2000" u="heavy">
                <a:latin typeface="Calibri"/>
                <a:cs typeface="Calibri"/>
              </a:rPr>
              <a:t>up </a:t>
            </a:r>
            <a:r>
              <a:rPr dirty="0" sz="2000" spc="-5" u="heavy">
                <a:latin typeface="Calibri"/>
                <a:cs typeface="Calibri"/>
              </a:rPr>
              <a:t>by </a:t>
            </a:r>
            <a:r>
              <a:rPr dirty="0" sz="2000" u="heavy">
                <a:latin typeface="Calibri"/>
                <a:cs typeface="Calibri"/>
              </a:rPr>
              <a:t>the blood in  </a:t>
            </a:r>
            <a:r>
              <a:rPr dirty="0" sz="2000" u="heavy">
                <a:latin typeface="Calibri"/>
                <a:cs typeface="Calibri"/>
              </a:rPr>
              <a:t>the lungs in </a:t>
            </a:r>
            <a:r>
              <a:rPr dirty="0" sz="2000" spc="-5" u="heavy">
                <a:latin typeface="Calibri"/>
                <a:cs typeface="Calibri"/>
              </a:rPr>
              <a:t>one minute. </a:t>
            </a:r>
            <a:r>
              <a:rPr dirty="0" sz="2000" spc="-5">
                <a:latin typeface="Calibri"/>
                <a:cs typeface="Calibri"/>
              </a:rPr>
              <a:t>The [O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] </a:t>
            </a:r>
            <a:r>
              <a:rPr dirty="0" sz="2000">
                <a:latin typeface="Calibri"/>
                <a:cs typeface="Calibri"/>
              </a:rPr>
              <a:t>in the blood </a:t>
            </a:r>
            <a:r>
              <a:rPr dirty="0" sz="2000" spc="-10">
                <a:latin typeface="Calibri"/>
                <a:cs typeface="Calibri"/>
              </a:rPr>
              <a:t>entering </a:t>
            </a:r>
            <a:r>
              <a:rPr dirty="0" sz="2000">
                <a:latin typeface="Calibri"/>
                <a:cs typeface="Calibri"/>
              </a:rPr>
              <a:t>the lungs is C</a:t>
            </a:r>
            <a:r>
              <a:rPr dirty="0" sz="1600">
                <a:latin typeface="Calibri"/>
                <a:cs typeface="Calibri"/>
              </a:rPr>
              <a:t>V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>
                <a:latin typeface="Calibri"/>
                <a:cs typeface="Calibri"/>
              </a:rPr>
              <a:t>2</a:t>
            </a:r>
            <a:r>
              <a:rPr dirty="0" sz="16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05534"/>
            <a:ext cx="4185285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latin typeface="Calibri"/>
                <a:cs typeface="Calibri"/>
              </a:rPr>
              <a:t>that </a:t>
            </a:r>
            <a:r>
              <a:rPr dirty="0" sz="2000" spc="-10">
                <a:latin typeface="Calibri"/>
                <a:cs typeface="Calibri"/>
              </a:rPr>
              <a:t>leaving </a:t>
            </a:r>
            <a:r>
              <a:rPr dirty="0" sz="2000">
                <a:latin typeface="Calibri"/>
                <a:cs typeface="Calibri"/>
              </a:rPr>
              <a:t>is CaO</a:t>
            </a:r>
            <a:r>
              <a:rPr dirty="0" sz="1600">
                <a:latin typeface="Calibri"/>
                <a:cs typeface="Calibri"/>
              </a:rPr>
              <a:t>2</a:t>
            </a:r>
            <a:r>
              <a:rPr dirty="0" sz="2000">
                <a:latin typeface="Calibri"/>
                <a:cs typeface="Calibri"/>
              </a:rPr>
              <a:t>. It then </a:t>
            </a:r>
            <a:r>
              <a:rPr dirty="0" sz="2000" spc="-15">
                <a:latin typeface="Calibri"/>
                <a:cs typeface="Calibri"/>
              </a:rPr>
              <a:t>follows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that: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594" y="2296286"/>
            <a:ext cx="2191385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latin typeface="Calibri"/>
                <a:cs typeface="Calibri"/>
              </a:rPr>
              <a:t>VO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= </a:t>
            </a:r>
            <a:r>
              <a:rPr dirty="0" sz="2000">
                <a:latin typeface="Calibri"/>
                <a:cs typeface="Calibri"/>
              </a:rPr>
              <a:t>Q(CaO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-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C</a:t>
            </a:r>
            <a:r>
              <a:rPr dirty="0" sz="1600" spc="-5">
                <a:latin typeface="Calibri"/>
                <a:cs typeface="Calibri"/>
              </a:rPr>
              <a:t>V</a:t>
            </a:r>
            <a:r>
              <a:rPr dirty="0" sz="2000" spc="-5">
                <a:latin typeface="Calibri"/>
                <a:cs typeface="Calibri"/>
              </a:rPr>
              <a:t>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2988183"/>
            <a:ext cx="248285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latin typeface="Calibri"/>
                <a:cs typeface="Calibri"/>
              </a:rPr>
              <a:t>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3594" y="3332607"/>
            <a:ext cx="2422525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Q= </a:t>
            </a:r>
            <a:r>
              <a:rPr dirty="0" sz="2000" spc="-5">
                <a:latin typeface="Calibri"/>
                <a:cs typeface="Calibri"/>
              </a:rPr>
              <a:t>VO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/ </a:t>
            </a:r>
            <a:r>
              <a:rPr dirty="0" sz="2000">
                <a:latin typeface="Calibri"/>
                <a:cs typeface="Calibri"/>
              </a:rPr>
              <a:t>(CaO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10">
                <a:latin typeface="Calibri"/>
                <a:cs typeface="Calibri"/>
              </a:rPr>
              <a:t> CVO</a:t>
            </a:r>
            <a:r>
              <a:rPr dirty="0" sz="1600" spc="-10">
                <a:latin typeface="Calibri"/>
                <a:cs typeface="Calibri"/>
              </a:rPr>
              <a:t>2</a:t>
            </a:r>
            <a:r>
              <a:rPr dirty="0" sz="2000" spc="-1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5305297"/>
            <a:ext cx="6031230" cy="675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latin typeface="Calibri"/>
                <a:cs typeface="Calibri"/>
              </a:rPr>
              <a:t>CaO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: measured </a:t>
            </a:r>
            <a:r>
              <a:rPr dirty="0" sz="2000" spc="-15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artery;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2000" spc="-5">
                <a:latin typeface="Calibri"/>
                <a:cs typeface="Calibri"/>
              </a:rPr>
              <a:t>C</a:t>
            </a:r>
            <a:r>
              <a:rPr dirty="0" sz="1600" spc="-5">
                <a:latin typeface="Calibri"/>
                <a:cs typeface="Calibri"/>
              </a:rPr>
              <a:t>V</a:t>
            </a:r>
            <a:r>
              <a:rPr dirty="0" sz="2000" spc="-5">
                <a:latin typeface="Calibri"/>
                <a:cs typeface="Calibri"/>
              </a:rPr>
              <a:t>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: measured </a:t>
            </a:r>
            <a:r>
              <a:rPr dirty="0" sz="2000">
                <a:latin typeface="Calibri"/>
                <a:cs typeface="Calibri"/>
              </a:rPr>
              <a:t>via a </a:t>
            </a:r>
            <a:r>
              <a:rPr dirty="0" sz="2000" spc="-10">
                <a:latin typeface="Calibri"/>
                <a:cs typeface="Calibri"/>
              </a:rPr>
              <a:t>catheter </a:t>
            </a:r>
            <a:r>
              <a:rPr dirty="0" sz="2000" spc="-15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the pulmonary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artery.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9975" y="33528"/>
            <a:ext cx="153035" cy="556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60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0723" y="719582"/>
            <a:ext cx="153035" cy="556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60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69794" y="1783334"/>
            <a:ext cx="153035" cy="556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60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9345" y="1802638"/>
            <a:ext cx="153035" cy="556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60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69794" y="2690114"/>
            <a:ext cx="153035" cy="556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60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97148" y="2747136"/>
            <a:ext cx="153035" cy="556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60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940" y="3475608"/>
            <a:ext cx="7400290" cy="14681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690">
                <a:latin typeface="Calibri"/>
                <a:cs typeface="Calibri"/>
              </a:rPr>
              <a:t>w</a:t>
            </a:r>
            <a:r>
              <a:rPr dirty="0" baseline="-13117" sz="5400" spc="-1035">
                <a:latin typeface="Arial"/>
                <a:cs typeface="Arial"/>
              </a:rPr>
              <a:t>.</a:t>
            </a:r>
            <a:r>
              <a:rPr dirty="0" baseline="-13117" sz="5400" spc="-1057">
                <a:latin typeface="Arial"/>
                <a:cs typeface="Arial"/>
              </a:rPr>
              <a:t> </a:t>
            </a:r>
            <a:r>
              <a:rPr dirty="0" sz="2000" spc="-10">
                <a:latin typeface="Calibri"/>
                <a:cs typeface="Calibri"/>
              </a:rPr>
              <a:t>here: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80000"/>
              </a:lnSpc>
              <a:spcBef>
                <a:spcPts val="3195"/>
              </a:spcBef>
            </a:pPr>
            <a:r>
              <a:rPr dirty="0" sz="2000" spc="-10">
                <a:latin typeface="Calibri"/>
                <a:cs typeface="Calibri"/>
              </a:rPr>
              <a:t>VO</a:t>
            </a:r>
            <a:r>
              <a:rPr dirty="0" sz="1600" spc="-10">
                <a:latin typeface="Calibri"/>
                <a:cs typeface="Calibri"/>
              </a:rPr>
              <a:t>2</a:t>
            </a:r>
            <a:r>
              <a:rPr dirty="0" sz="2000" spc="-10">
                <a:latin typeface="Calibri"/>
                <a:cs typeface="Calibri"/>
              </a:rPr>
              <a:t>: </a:t>
            </a:r>
            <a:r>
              <a:rPr dirty="0" sz="2000" spc="-5">
                <a:latin typeface="Calibri"/>
                <a:cs typeface="Calibri"/>
              </a:rPr>
              <a:t>measured by comparing [O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] </a:t>
            </a:r>
            <a:r>
              <a:rPr dirty="0" sz="2000">
                <a:latin typeface="Calibri"/>
                <a:cs typeface="Calibri"/>
              </a:rPr>
              <a:t>in the </a:t>
            </a:r>
            <a:r>
              <a:rPr dirty="0" sz="2000" spc="-15">
                <a:latin typeface="Calibri"/>
                <a:cs typeface="Calibri"/>
              </a:rPr>
              <a:t>expired </a:t>
            </a:r>
            <a:r>
              <a:rPr dirty="0" sz="2000" spc="-10">
                <a:latin typeface="Calibri"/>
                <a:cs typeface="Calibri"/>
              </a:rPr>
              <a:t>gas </a:t>
            </a:r>
            <a:r>
              <a:rPr dirty="0" sz="2000" spc="-5">
                <a:latin typeface="Calibri"/>
                <a:cs typeface="Calibri"/>
              </a:rPr>
              <a:t>collected </a:t>
            </a:r>
            <a:r>
              <a:rPr dirty="0" sz="2000">
                <a:latin typeface="Calibri"/>
                <a:cs typeface="Calibri"/>
              </a:rPr>
              <a:t>in a </a:t>
            </a:r>
            <a:r>
              <a:rPr dirty="0" sz="2000" spc="-10">
                <a:latin typeface="Calibri"/>
                <a:cs typeface="Calibri"/>
              </a:rPr>
              <a:t>large  spirometer </a:t>
            </a:r>
            <a:r>
              <a:rPr dirty="0" sz="2000">
                <a:latin typeface="Calibri"/>
                <a:cs typeface="Calibri"/>
              </a:rPr>
              <a:t>and [O</a:t>
            </a:r>
            <a:r>
              <a:rPr dirty="0" sz="1600">
                <a:latin typeface="Calibri"/>
                <a:cs typeface="Calibri"/>
              </a:rPr>
              <a:t>2</a:t>
            </a:r>
            <a:r>
              <a:rPr dirty="0" sz="2000">
                <a:latin typeface="Calibri"/>
                <a:cs typeface="Calibri"/>
              </a:rPr>
              <a:t>] in </a:t>
            </a:r>
            <a:r>
              <a:rPr dirty="0" sz="2000" spc="-5">
                <a:latin typeface="Calibri"/>
                <a:cs typeface="Calibri"/>
              </a:rPr>
              <a:t>inspired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gas;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228600"/>
            <a:ext cx="6934200" cy="63672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13175" y="795782"/>
            <a:ext cx="153035" cy="5568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600">
                <a:latin typeface="Arial"/>
                <a:cs typeface="Arial"/>
              </a:rPr>
              <a:t>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09676"/>
            <a:ext cx="3306445" cy="36195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00" spc="-5"/>
              <a:t>V  </a:t>
            </a:r>
            <a:r>
              <a:rPr dirty="0" sz="2200" spc="-25" u="heavy"/>
              <a:t>TRANSPORT </a:t>
            </a:r>
            <a:r>
              <a:rPr dirty="0" sz="2200" spc="-10" u="heavy"/>
              <a:t>OF O</a:t>
            </a:r>
            <a:r>
              <a:rPr dirty="0" sz="1600" spc="-10" u="heavy"/>
              <a:t>2 </a:t>
            </a:r>
            <a:r>
              <a:rPr dirty="0" sz="2200" spc="-5" u="heavy"/>
              <a:t>and</a:t>
            </a:r>
            <a:r>
              <a:rPr dirty="0" sz="2200" spc="-90" u="heavy"/>
              <a:t> </a:t>
            </a:r>
            <a:r>
              <a:rPr dirty="0" sz="2200" spc="-20" u="heavy"/>
              <a:t>CO</a:t>
            </a:r>
            <a:r>
              <a:rPr dirty="0" sz="1600" spc="-20" u="heavy"/>
              <a:t>2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35940" y="1346453"/>
            <a:ext cx="8298180" cy="2200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b="1">
                <a:latin typeface="Calibri"/>
                <a:cs typeface="Calibri"/>
              </a:rPr>
              <a:t>A.  </a:t>
            </a:r>
            <a:r>
              <a:rPr dirty="0" sz="2000" b="1" u="heavy">
                <a:latin typeface="Calibri"/>
                <a:cs typeface="Calibri"/>
              </a:rPr>
              <a:t>O</a:t>
            </a:r>
            <a:r>
              <a:rPr dirty="0" sz="1600" b="1" u="heavy">
                <a:latin typeface="Calibri"/>
                <a:cs typeface="Calibri"/>
              </a:rPr>
              <a:t>2 </a:t>
            </a:r>
            <a:r>
              <a:rPr dirty="0" sz="2000" spc="-10" b="1" u="heavy">
                <a:latin typeface="Calibri"/>
                <a:cs typeface="Calibri"/>
              </a:rPr>
              <a:t>Physically </a:t>
            </a:r>
            <a:r>
              <a:rPr dirty="0" sz="2000" spc="-5" b="1" u="heavy">
                <a:latin typeface="Calibri"/>
                <a:cs typeface="Calibri"/>
              </a:rPr>
              <a:t>Dissolved in</a:t>
            </a:r>
            <a:r>
              <a:rPr dirty="0" sz="2000" spc="40" b="1" u="heavy">
                <a:latin typeface="Calibri"/>
                <a:cs typeface="Calibri"/>
              </a:rPr>
              <a:t> </a:t>
            </a:r>
            <a:r>
              <a:rPr dirty="0" sz="2000" spc="-5" b="1" u="heavy">
                <a:latin typeface="Calibri"/>
                <a:cs typeface="Calibri"/>
              </a:rPr>
              <a:t>Plasma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48260">
              <a:lnSpc>
                <a:spcPct val="80000"/>
              </a:lnSpc>
              <a:spcBef>
                <a:spcPts val="1220"/>
              </a:spcBef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amount of </a:t>
            </a:r>
            <a:r>
              <a:rPr dirty="0" sz="2000" spc="-10">
                <a:latin typeface="Calibri"/>
                <a:cs typeface="Calibri"/>
              </a:rPr>
              <a:t>dissolved gas </a:t>
            </a:r>
            <a:r>
              <a:rPr dirty="0" sz="2000" spc="-5">
                <a:latin typeface="Calibri"/>
                <a:cs typeface="Calibri"/>
              </a:rPr>
              <a:t>carried by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blood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5">
                <a:latin typeface="Calibri"/>
                <a:cs typeface="Calibri"/>
              </a:rPr>
              <a:t>directly proportional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the  partial </a:t>
            </a:r>
            <a:r>
              <a:rPr dirty="0" sz="2000" spc="-10">
                <a:latin typeface="Calibri"/>
                <a:cs typeface="Calibri"/>
              </a:rPr>
              <a:t>pressure </a:t>
            </a:r>
            <a:r>
              <a:rPr dirty="0" sz="2000">
                <a:latin typeface="Calibri"/>
                <a:cs typeface="Calibri"/>
              </a:rPr>
              <a:t>of the </a:t>
            </a:r>
            <a:r>
              <a:rPr dirty="0" sz="2000" spc="-10">
                <a:latin typeface="Calibri"/>
                <a:cs typeface="Calibri"/>
              </a:rPr>
              <a:t>gas </a:t>
            </a:r>
            <a:r>
              <a:rPr dirty="0" sz="2000" spc="-5">
                <a:latin typeface="Calibri"/>
                <a:cs typeface="Calibri"/>
              </a:rPr>
              <a:t>(Henry’s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Law).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1920"/>
              </a:lnSpc>
              <a:spcBef>
                <a:spcPts val="1210"/>
              </a:spcBef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Because 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10">
                <a:latin typeface="Calibri"/>
                <a:cs typeface="Calibri"/>
              </a:rPr>
              <a:t>relatively </a:t>
            </a:r>
            <a:r>
              <a:rPr dirty="0" sz="2000">
                <a:latin typeface="Calibri"/>
                <a:cs typeface="Calibri"/>
              </a:rPr>
              <a:t>insoluble in </a:t>
            </a:r>
            <a:r>
              <a:rPr dirty="0" sz="2000" spc="-15">
                <a:latin typeface="Calibri"/>
                <a:cs typeface="Calibri"/>
              </a:rPr>
              <a:t>H</a:t>
            </a:r>
            <a:r>
              <a:rPr dirty="0" sz="1600" spc="-15">
                <a:latin typeface="Calibri"/>
                <a:cs typeface="Calibri"/>
              </a:rPr>
              <a:t>2</a:t>
            </a:r>
            <a:r>
              <a:rPr dirty="0" sz="2000" spc="-15">
                <a:latin typeface="Calibri"/>
                <a:cs typeface="Calibri"/>
              </a:rPr>
              <a:t>O,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amount of 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 spc="-10">
                <a:latin typeface="Calibri"/>
                <a:cs typeface="Calibri"/>
              </a:rPr>
              <a:t>dissolved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5">
                <a:latin typeface="Calibri"/>
                <a:cs typeface="Calibri"/>
              </a:rPr>
              <a:t>blood </a:t>
            </a:r>
            <a:r>
              <a:rPr dirty="0" sz="2000">
                <a:latin typeface="Calibri"/>
                <a:cs typeface="Calibri"/>
              </a:rPr>
              <a:t>is  </a:t>
            </a:r>
            <a:r>
              <a:rPr dirty="0" sz="2000" spc="-10">
                <a:latin typeface="Calibri"/>
                <a:cs typeface="Calibri"/>
              </a:rPr>
              <a:t>very </a:t>
            </a:r>
            <a:r>
              <a:rPr dirty="0" sz="2000" spc="-5">
                <a:latin typeface="Calibri"/>
                <a:cs typeface="Calibri"/>
              </a:rPr>
              <a:t>small,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linearly </a:t>
            </a:r>
            <a:r>
              <a:rPr dirty="0" sz="2000" spc="-10">
                <a:latin typeface="Calibri"/>
                <a:cs typeface="Calibri"/>
              </a:rPr>
              <a:t>proportional </a:t>
            </a:r>
            <a:r>
              <a:rPr dirty="0" sz="2000" spc="-15">
                <a:latin typeface="Calibri"/>
                <a:cs typeface="Calibri"/>
              </a:rPr>
              <a:t>to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 spc="5">
                <a:latin typeface="Calibri"/>
                <a:cs typeface="Calibri"/>
              </a:rPr>
              <a:t>PO</a:t>
            </a:r>
            <a:r>
              <a:rPr dirty="0" sz="1200" spc="5">
                <a:latin typeface="Calibri"/>
                <a:cs typeface="Calibri"/>
              </a:rPr>
              <a:t>2</a:t>
            </a:r>
            <a:r>
              <a:rPr dirty="0" sz="2000" spc="5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907408"/>
            <a:ext cx="694309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latin typeface="Arial"/>
                <a:cs typeface="Arial"/>
              </a:rPr>
              <a:t>•</a:t>
            </a:r>
            <a:r>
              <a:rPr dirty="0" sz="2000" spc="-10">
                <a:latin typeface="Calibri"/>
                <a:cs typeface="Calibri"/>
              </a:rPr>
              <a:t>Example: </a:t>
            </a:r>
            <a:r>
              <a:rPr dirty="0" sz="2000">
                <a:latin typeface="Calibri"/>
                <a:cs typeface="Calibri"/>
              </a:rPr>
              <a:t>In 100 ml </a:t>
            </a:r>
            <a:r>
              <a:rPr dirty="0" sz="2000" spc="-5">
                <a:latin typeface="Calibri"/>
                <a:cs typeface="Calibri"/>
              </a:rPr>
              <a:t>of plasma, there </a:t>
            </a:r>
            <a:r>
              <a:rPr dirty="0" sz="2000">
                <a:latin typeface="Calibri"/>
                <a:cs typeface="Calibri"/>
              </a:rPr>
              <a:t>is 0.3 ml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 spc="5">
                <a:latin typeface="Calibri"/>
                <a:cs typeface="Calibri"/>
              </a:rPr>
              <a:t>O</a:t>
            </a:r>
            <a:r>
              <a:rPr dirty="0" sz="1600" spc="5">
                <a:latin typeface="Calibri"/>
                <a:cs typeface="Calibri"/>
              </a:rPr>
              <a:t>2 </a:t>
            </a:r>
            <a:r>
              <a:rPr dirty="0" sz="2000" spc="-15">
                <a:latin typeface="Calibri"/>
                <a:cs typeface="Calibri"/>
              </a:rPr>
              <a:t>at </a:t>
            </a:r>
            <a:r>
              <a:rPr dirty="0" sz="2000">
                <a:latin typeface="Calibri"/>
                <a:cs typeface="Calibri"/>
              </a:rPr>
              <a:t>a PO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 spc="-5">
                <a:latin typeface="Calibri"/>
                <a:cs typeface="Calibri"/>
              </a:rPr>
              <a:t>of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151248"/>
            <a:ext cx="83185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mm</a:t>
            </a:r>
            <a:r>
              <a:rPr dirty="0" sz="2000" spc="-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Hg.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841620"/>
            <a:ext cx="8064500" cy="5746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6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O</a:t>
            </a:r>
            <a:r>
              <a:rPr dirty="0" sz="1600" spc="-5">
                <a:latin typeface="Calibri"/>
                <a:cs typeface="Calibri"/>
              </a:rPr>
              <a:t>2 </a:t>
            </a:r>
            <a:r>
              <a:rPr dirty="0" sz="2000" spc="-5">
                <a:latin typeface="Calibri"/>
                <a:cs typeface="Calibri"/>
              </a:rPr>
              <a:t>consumption (VO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) </a:t>
            </a:r>
            <a:r>
              <a:rPr dirty="0" sz="2000" spc="-10">
                <a:latin typeface="Calibri"/>
                <a:cs typeface="Calibri"/>
              </a:rPr>
              <a:t>by </a:t>
            </a:r>
            <a:r>
              <a:rPr dirty="0" sz="2000">
                <a:latin typeface="Calibri"/>
                <a:cs typeface="Calibri"/>
              </a:rPr>
              <a:t>the body </a:t>
            </a:r>
            <a:r>
              <a:rPr dirty="0" sz="2000" spc="-5">
                <a:latin typeface="Calibri"/>
                <a:cs typeface="Calibri"/>
              </a:rPr>
              <a:t>cells </a:t>
            </a:r>
            <a:r>
              <a:rPr dirty="0" sz="2000">
                <a:latin typeface="Calibri"/>
                <a:cs typeface="Calibri"/>
              </a:rPr>
              <a:t>is about 300 ml O</a:t>
            </a:r>
            <a:r>
              <a:rPr dirty="0" sz="1600">
                <a:latin typeface="Calibri"/>
                <a:cs typeface="Calibri"/>
              </a:rPr>
              <a:t>2</a:t>
            </a:r>
            <a:r>
              <a:rPr dirty="0" sz="2000">
                <a:latin typeface="Calibri"/>
                <a:cs typeface="Calibri"/>
              </a:rPr>
              <a:t>/min. </a:t>
            </a:r>
            <a:r>
              <a:rPr dirty="0" sz="2000" spc="-15">
                <a:latin typeface="Calibri"/>
                <a:cs typeface="Calibri"/>
              </a:rPr>
              <a:t>Therefore,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dirty="0" sz="2000">
                <a:latin typeface="Calibri"/>
                <a:cs typeface="Calibri"/>
              </a:rPr>
              <a:t>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 spc="-15">
                <a:latin typeface="Calibri"/>
                <a:cs typeface="Calibri"/>
              </a:rPr>
              <a:t>were </a:t>
            </a:r>
            <a:r>
              <a:rPr dirty="0" sz="2000">
                <a:latin typeface="Calibri"/>
                <a:cs typeface="Calibri"/>
              </a:rPr>
              <a:t>only </a:t>
            </a:r>
            <a:r>
              <a:rPr dirty="0" sz="2000" spc="-10">
                <a:latin typeface="Calibri"/>
                <a:cs typeface="Calibri"/>
              </a:rPr>
              <a:t>found </a:t>
            </a:r>
            <a:r>
              <a:rPr dirty="0" sz="2000">
                <a:latin typeface="Calibri"/>
                <a:cs typeface="Calibri"/>
              </a:rPr>
              <a:t>in plasma, the </a:t>
            </a:r>
            <a:r>
              <a:rPr dirty="0" sz="2000" spc="-5">
                <a:latin typeface="Calibri"/>
                <a:cs typeface="Calibri"/>
              </a:rPr>
              <a:t>tissue demand </a:t>
            </a:r>
            <a:r>
              <a:rPr dirty="0" sz="2000" spc="-15">
                <a:latin typeface="Calibri"/>
                <a:cs typeface="Calibri"/>
              </a:rPr>
              <a:t>for </a:t>
            </a:r>
            <a:r>
              <a:rPr dirty="0" sz="2000" spc="-10">
                <a:latin typeface="Calibri"/>
                <a:cs typeface="Calibri"/>
              </a:rPr>
              <a:t>O</a:t>
            </a:r>
            <a:r>
              <a:rPr dirty="0" sz="1600" spc="-10">
                <a:latin typeface="Calibri"/>
                <a:cs typeface="Calibri"/>
              </a:rPr>
              <a:t>2 </a:t>
            </a:r>
            <a:r>
              <a:rPr dirty="0" sz="2000" spc="-10">
                <a:latin typeface="Calibri"/>
                <a:cs typeface="Calibri"/>
              </a:rPr>
              <a:t>would never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met.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6647" y="4347336"/>
            <a:ext cx="88900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6240" y="2332482"/>
            <a:ext cx="7457440" cy="0"/>
          </a:xfrm>
          <a:custGeom>
            <a:avLst/>
            <a:gdLst/>
            <a:ahLst/>
            <a:cxnLst/>
            <a:rect l="l" t="t" r="r" b="b"/>
            <a:pathLst>
              <a:path w="7457440" h="0">
                <a:moveTo>
                  <a:pt x="0" y="0"/>
                </a:moveTo>
                <a:lnTo>
                  <a:pt x="7456932" y="0"/>
                </a:lnTo>
              </a:path>
            </a:pathLst>
          </a:custGeom>
          <a:ln w="1676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3540" y="732663"/>
            <a:ext cx="8354059" cy="1639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5100">
              <a:lnSpc>
                <a:spcPct val="100000"/>
              </a:lnSpc>
            </a:pPr>
            <a:r>
              <a:rPr dirty="0" sz="2000" spc="-5" b="0">
                <a:latin typeface="Calibri Light"/>
                <a:cs typeface="Calibri Light"/>
              </a:rPr>
              <a:t>B. </a:t>
            </a:r>
            <a:r>
              <a:rPr dirty="0" sz="2000" spc="-10" b="0">
                <a:latin typeface="Calibri Light"/>
                <a:cs typeface="Calibri Light"/>
              </a:rPr>
              <a:t>O</a:t>
            </a:r>
            <a:r>
              <a:rPr dirty="0" sz="1600" spc="-10" b="0">
                <a:latin typeface="Calibri Light"/>
                <a:cs typeface="Calibri Light"/>
              </a:rPr>
              <a:t>2 </a:t>
            </a:r>
            <a:r>
              <a:rPr dirty="0" sz="2000" spc="-10" b="0">
                <a:latin typeface="Calibri Light"/>
                <a:cs typeface="Calibri Light"/>
              </a:rPr>
              <a:t>Bound </a:t>
            </a:r>
            <a:r>
              <a:rPr dirty="0" sz="2000" spc="-15" b="0">
                <a:latin typeface="Calibri Light"/>
                <a:cs typeface="Calibri Light"/>
              </a:rPr>
              <a:t>to</a:t>
            </a:r>
            <a:r>
              <a:rPr dirty="0" sz="2000" spc="-80" b="0">
                <a:latin typeface="Calibri Light"/>
                <a:cs typeface="Calibri Light"/>
              </a:rPr>
              <a:t> </a:t>
            </a:r>
            <a:r>
              <a:rPr dirty="0" sz="2000" spc="-15" b="0">
                <a:latin typeface="Calibri Light"/>
                <a:cs typeface="Calibri Light"/>
              </a:rPr>
              <a:t>Hemoglobin</a:t>
            </a:r>
            <a:endParaRPr sz="2000">
              <a:latin typeface="Calibri Light"/>
              <a:cs typeface="Calibri Light"/>
            </a:endParaRPr>
          </a:p>
          <a:p>
            <a:pPr marL="12700" marR="5080">
              <a:lnSpc>
                <a:spcPct val="90000"/>
              </a:lnSpc>
              <a:spcBef>
                <a:spcPts val="1665"/>
              </a:spcBef>
            </a:pPr>
            <a:r>
              <a:rPr dirty="0" sz="2000" spc="-5">
                <a:latin typeface="Calibri"/>
                <a:cs typeface="Calibri"/>
              </a:rPr>
              <a:t>Hemoglobin </a:t>
            </a:r>
            <a:r>
              <a:rPr dirty="0" sz="2000">
                <a:latin typeface="Calibri"/>
                <a:cs typeface="Calibri"/>
              </a:rPr>
              <a:t>(Hb) </a:t>
            </a:r>
            <a:r>
              <a:rPr dirty="0" sz="2000" spc="-5">
                <a:latin typeface="Calibri"/>
                <a:cs typeface="Calibri"/>
              </a:rPr>
              <a:t>is </a:t>
            </a:r>
            <a:r>
              <a:rPr dirty="0" sz="2000" spc="-10">
                <a:latin typeface="Calibri"/>
                <a:cs typeface="Calibri"/>
              </a:rPr>
              <a:t>found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10">
                <a:latin typeface="Calibri"/>
                <a:cs typeface="Calibri"/>
              </a:rPr>
              <a:t>red </a:t>
            </a:r>
            <a:r>
              <a:rPr dirty="0" sz="2000">
                <a:latin typeface="Calibri"/>
                <a:cs typeface="Calibri"/>
              </a:rPr>
              <a:t>blood </a:t>
            </a:r>
            <a:r>
              <a:rPr dirty="0" sz="2000" spc="-5">
                <a:latin typeface="Calibri"/>
                <a:cs typeface="Calibri"/>
              </a:rPr>
              <a:t>cells,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permits </a:t>
            </a:r>
            <a:r>
              <a:rPr dirty="0" sz="2000">
                <a:latin typeface="Calibri"/>
                <a:cs typeface="Calibri"/>
              </a:rPr>
              <a:t>whole </a:t>
            </a:r>
            <a:r>
              <a:rPr dirty="0" sz="2000" spc="-5">
                <a:latin typeface="Calibri"/>
                <a:cs typeface="Calibri"/>
              </a:rPr>
              <a:t>blood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 spc="-20">
                <a:latin typeface="Calibri"/>
                <a:cs typeface="Calibri"/>
              </a:rPr>
              <a:t>take </a:t>
            </a:r>
            <a:r>
              <a:rPr dirty="0" sz="2000" spc="-5">
                <a:latin typeface="Calibri"/>
                <a:cs typeface="Calibri"/>
              </a:rPr>
              <a:t>up 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65 </a:t>
            </a:r>
            <a:r>
              <a:rPr dirty="0" sz="2000" spc="-5">
                <a:latin typeface="Calibri"/>
                <a:cs typeface="Calibri"/>
              </a:rPr>
              <a:t>times </a:t>
            </a:r>
            <a:r>
              <a:rPr dirty="0" sz="2000">
                <a:latin typeface="Calibri"/>
                <a:cs typeface="Calibri"/>
              </a:rPr>
              <a:t>as much </a:t>
            </a:r>
            <a:r>
              <a:rPr dirty="0" sz="2000" spc="5">
                <a:latin typeface="Calibri"/>
                <a:cs typeface="Calibri"/>
              </a:rPr>
              <a:t>O</a:t>
            </a:r>
            <a:r>
              <a:rPr dirty="0" sz="1600" spc="5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as </a:t>
            </a:r>
            <a:r>
              <a:rPr dirty="0" sz="2000" spc="-5">
                <a:latin typeface="Calibri"/>
                <a:cs typeface="Calibri"/>
              </a:rPr>
              <a:t>plasma, </a:t>
            </a:r>
            <a:r>
              <a:rPr dirty="0" sz="2000" spc="-15">
                <a:latin typeface="Calibri"/>
                <a:cs typeface="Calibri"/>
              </a:rPr>
              <a:t>at </a:t>
            </a:r>
            <a:r>
              <a:rPr dirty="0" sz="2000">
                <a:latin typeface="Calibri"/>
                <a:cs typeface="Calibri"/>
              </a:rPr>
              <a:t>a PO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100 mm Hg. </a:t>
            </a:r>
            <a:r>
              <a:rPr dirty="0" sz="2000" spc="-10" u="heavy">
                <a:latin typeface="Calibri"/>
                <a:cs typeface="Calibri"/>
              </a:rPr>
              <a:t>Each </a:t>
            </a:r>
            <a:r>
              <a:rPr dirty="0" sz="2000" u="heavy">
                <a:latin typeface="Calibri"/>
                <a:cs typeface="Calibri"/>
              </a:rPr>
              <a:t>molecule </a:t>
            </a:r>
            <a:r>
              <a:rPr dirty="0" sz="2000" spc="-5" u="heavy">
                <a:latin typeface="Calibri"/>
                <a:cs typeface="Calibri"/>
              </a:rPr>
              <a:t>of Hb  </a:t>
            </a:r>
            <a:r>
              <a:rPr dirty="0" sz="2000" spc="-10" u="heavy">
                <a:latin typeface="Calibri"/>
                <a:cs typeface="Calibri"/>
              </a:rPr>
              <a:t>consists </a:t>
            </a:r>
            <a:r>
              <a:rPr dirty="0" sz="2000" spc="-5" u="heavy">
                <a:latin typeface="Calibri"/>
                <a:cs typeface="Calibri"/>
              </a:rPr>
              <a:t>of </a:t>
            </a:r>
            <a:r>
              <a:rPr dirty="0" sz="2000" u="heavy">
                <a:latin typeface="Calibri"/>
                <a:cs typeface="Calibri"/>
              </a:rPr>
              <a:t>4 subunits bound </a:t>
            </a:r>
            <a:r>
              <a:rPr dirty="0" sz="2000" spc="-30" u="heavy">
                <a:latin typeface="Calibri"/>
                <a:cs typeface="Calibri"/>
              </a:rPr>
              <a:t>together. </a:t>
            </a:r>
            <a:r>
              <a:rPr dirty="0" sz="2000" spc="-10" u="heavy">
                <a:latin typeface="Calibri"/>
                <a:cs typeface="Calibri"/>
              </a:rPr>
              <a:t>Each </a:t>
            </a:r>
            <a:r>
              <a:rPr dirty="0" sz="2000" spc="-5" u="heavy">
                <a:latin typeface="Calibri"/>
                <a:cs typeface="Calibri"/>
              </a:rPr>
              <a:t>subunit </a:t>
            </a:r>
            <a:r>
              <a:rPr dirty="0" sz="2000" u="heavy">
                <a:latin typeface="Calibri"/>
                <a:cs typeface="Calibri"/>
              </a:rPr>
              <a:t>is </a:t>
            </a:r>
            <a:r>
              <a:rPr dirty="0" sz="2000" spc="-5" u="heavy">
                <a:latin typeface="Calibri"/>
                <a:cs typeface="Calibri"/>
              </a:rPr>
              <a:t>made </a:t>
            </a:r>
            <a:r>
              <a:rPr dirty="0" sz="2000" u="heavy">
                <a:latin typeface="Calibri"/>
                <a:cs typeface="Calibri"/>
              </a:rPr>
              <a:t>up </a:t>
            </a:r>
            <a:r>
              <a:rPr dirty="0" sz="2000" spc="-5" u="heavy">
                <a:latin typeface="Calibri"/>
                <a:cs typeface="Calibri"/>
              </a:rPr>
              <a:t>of </a:t>
            </a:r>
            <a:r>
              <a:rPr dirty="0" sz="2000" u="heavy">
                <a:latin typeface="Calibri"/>
                <a:cs typeface="Calibri"/>
              </a:rPr>
              <a:t>a heme </a:t>
            </a:r>
            <a:r>
              <a:rPr dirty="0" sz="2000" spc="-5" u="heavy">
                <a:latin typeface="Calibri"/>
                <a:cs typeface="Calibri"/>
              </a:rPr>
              <a:t>joined 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a </a:t>
            </a:r>
            <a:r>
              <a:rPr dirty="0" sz="2000" spc="-5">
                <a:latin typeface="Calibri"/>
                <a:cs typeface="Calibri"/>
              </a:rPr>
              <a:t>globin. </a:t>
            </a:r>
            <a:r>
              <a:rPr dirty="0" sz="2000">
                <a:latin typeface="Calibri"/>
                <a:cs typeface="Calibri"/>
              </a:rPr>
              <a:t>Heme </a:t>
            </a:r>
            <a:r>
              <a:rPr dirty="0" sz="2000" spc="-10">
                <a:latin typeface="Calibri"/>
                <a:cs typeface="Calibri"/>
              </a:rPr>
              <a:t>contains </a:t>
            </a:r>
            <a:r>
              <a:rPr dirty="0" sz="2000">
                <a:latin typeface="Calibri"/>
                <a:cs typeface="Calibri"/>
              </a:rPr>
              <a:t>an </a:t>
            </a:r>
            <a:r>
              <a:rPr dirty="0" sz="2000" spc="5">
                <a:latin typeface="Calibri"/>
                <a:cs typeface="Calibri"/>
              </a:rPr>
              <a:t>Fe</a:t>
            </a:r>
            <a:r>
              <a:rPr dirty="0" baseline="25641" sz="1950" spc="7">
                <a:latin typeface="Calibri"/>
                <a:cs typeface="Calibri"/>
              </a:rPr>
              <a:t>++ </a:t>
            </a:r>
            <a:r>
              <a:rPr dirty="0" sz="2000">
                <a:latin typeface="Calibri"/>
                <a:cs typeface="Calibri"/>
              </a:rPr>
              <a:t>ion </a:t>
            </a:r>
            <a:r>
              <a:rPr dirty="0" sz="2000" spc="-5">
                <a:latin typeface="Calibri"/>
                <a:cs typeface="Calibri"/>
              </a:rPr>
              <a:t>that can bind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1 </a:t>
            </a:r>
            <a:r>
              <a:rPr dirty="0" sz="2000" spc="-5">
                <a:latin typeface="Calibri"/>
                <a:cs typeface="Calibri"/>
              </a:rPr>
              <a:t>molecule of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>
                <a:latin typeface="Calibri"/>
                <a:cs typeface="Calibri"/>
              </a:rPr>
              <a:t>2</a:t>
            </a:r>
            <a:r>
              <a:rPr dirty="0" sz="200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1800" y="2971800"/>
            <a:ext cx="3243072" cy="365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/>
              <a:t>O</a:t>
            </a:r>
            <a:r>
              <a:rPr dirty="0" sz="1600" spc="-10"/>
              <a:t>2 </a:t>
            </a:r>
            <a:r>
              <a:rPr dirty="0" sz="2000" spc="-10"/>
              <a:t>Bound </a:t>
            </a:r>
            <a:r>
              <a:rPr dirty="0" sz="2000" spc="-15"/>
              <a:t>to</a:t>
            </a:r>
            <a:r>
              <a:rPr dirty="0" sz="2000" spc="-35"/>
              <a:t> </a:t>
            </a:r>
            <a:r>
              <a:rPr dirty="0" sz="2000" spc="-15"/>
              <a:t>Hemoglobin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35940" y="1024381"/>
            <a:ext cx="7978775" cy="23856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42240">
              <a:lnSpc>
                <a:spcPts val="192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Hb is essential </a:t>
            </a:r>
            <a:r>
              <a:rPr dirty="0" sz="2000" spc="-15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transport of 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 spc="-5">
                <a:latin typeface="Calibri"/>
                <a:cs typeface="Calibri"/>
              </a:rPr>
              <a:t>by blood because </a:t>
            </a:r>
            <a:r>
              <a:rPr dirty="0" sz="2000">
                <a:latin typeface="Calibri"/>
                <a:cs typeface="Calibri"/>
              </a:rPr>
              <a:t>it </a:t>
            </a:r>
            <a:r>
              <a:rPr dirty="0" sz="2000" spc="-5">
                <a:latin typeface="Calibri"/>
                <a:cs typeface="Calibri"/>
              </a:rPr>
              <a:t>combines rapidly 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15">
                <a:latin typeface="Calibri"/>
                <a:cs typeface="Calibri"/>
              </a:rPr>
              <a:t>reversibly </a:t>
            </a:r>
            <a:r>
              <a:rPr dirty="0" sz="2000" spc="-5">
                <a:latin typeface="Calibri"/>
                <a:cs typeface="Calibri"/>
              </a:rPr>
              <a:t>with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>
                <a:latin typeface="Calibri"/>
                <a:cs typeface="Calibri"/>
              </a:rPr>
              <a:t>2</a:t>
            </a:r>
            <a:r>
              <a:rPr dirty="0" sz="200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50">
              <a:latin typeface="Times New Roman"/>
              <a:cs typeface="Times New Roman"/>
            </a:endParaRPr>
          </a:p>
          <a:p>
            <a:pPr marL="20701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Calibri"/>
                <a:cs typeface="Calibri"/>
              </a:rPr>
              <a:t>Hb  + 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 spc="5">
                <a:latin typeface="Calibri"/>
                <a:cs typeface="Calibri"/>
              </a:rPr>
              <a:t>↔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HbO</a:t>
            </a:r>
            <a:r>
              <a:rPr dirty="0" sz="1600"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  <a:spcBef>
                <a:spcPts val="1230"/>
              </a:spcBef>
            </a:pPr>
            <a:r>
              <a:rPr dirty="0" sz="2000" spc="-20">
                <a:latin typeface="Arial"/>
                <a:cs typeface="Arial"/>
              </a:rPr>
              <a:t>•</a:t>
            </a:r>
            <a:r>
              <a:rPr dirty="0" sz="2000" spc="-20">
                <a:latin typeface="Calibri"/>
                <a:cs typeface="Calibri"/>
              </a:rPr>
              <a:t>At </a:t>
            </a:r>
            <a:r>
              <a:rPr dirty="0" sz="2000">
                <a:latin typeface="Calibri"/>
                <a:cs typeface="Calibri"/>
              </a:rPr>
              <a:t>PO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100 mm </a:t>
            </a:r>
            <a:r>
              <a:rPr dirty="0" sz="2000" spc="10">
                <a:latin typeface="Calibri"/>
                <a:cs typeface="Calibri"/>
              </a:rPr>
              <a:t>Hg,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total </a:t>
            </a:r>
            <a:r>
              <a:rPr dirty="0" sz="2000" spc="-5">
                <a:latin typeface="Calibri"/>
                <a:cs typeface="Calibri"/>
              </a:rPr>
              <a:t>amount of </a:t>
            </a:r>
            <a:r>
              <a:rPr dirty="0" sz="2000" spc="5">
                <a:latin typeface="Calibri"/>
                <a:cs typeface="Calibri"/>
              </a:rPr>
              <a:t>O</a:t>
            </a:r>
            <a:r>
              <a:rPr dirty="0" sz="1600" spc="5">
                <a:latin typeface="Calibri"/>
                <a:cs typeface="Calibri"/>
              </a:rPr>
              <a:t>2 </a:t>
            </a:r>
            <a:r>
              <a:rPr dirty="0" sz="2000" spc="-10">
                <a:latin typeface="Calibri"/>
                <a:cs typeface="Calibri"/>
              </a:rPr>
              <a:t>dissolved </a:t>
            </a:r>
            <a:r>
              <a:rPr dirty="0" sz="2000">
                <a:latin typeface="Calibri"/>
                <a:cs typeface="Calibri"/>
              </a:rPr>
              <a:t>in the blood is 0.3  </a:t>
            </a:r>
            <a:r>
              <a:rPr dirty="0" sz="2000" spc="-10">
                <a:latin typeface="Calibri"/>
                <a:cs typeface="Calibri"/>
              </a:rPr>
              <a:t>vol.%, </a:t>
            </a:r>
            <a:r>
              <a:rPr dirty="0" sz="2000">
                <a:latin typeface="Calibri"/>
                <a:cs typeface="Calibri"/>
              </a:rPr>
              <a:t>and the </a:t>
            </a:r>
            <a:r>
              <a:rPr dirty="0" sz="2000" spc="-10">
                <a:latin typeface="Calibri"/>
                <a:cs typeface="Calibri"/>
              </a:rPr>
              <a:t>total </a:t>
            </a:r>
            <a:r>
              <a:rPr dirty="0" sz="2000" spc="-5">
                <a:latin typeface="Calibri"/>
                <a:cs typeface="Calibri"/>
              </a:rPr>
              <a:t>amount of </a:t>
            </a:r>
            <a:r>
              <a:rPr dirty="0" sz="2000" spc="5">
                <a:latin typeface="Calibri"/>
                <a:cs typeface="Calibri"/>
              </a:rPr>
              <a:t>O</a:t>
            </a:r>
            <a:r>
              <a:rPr dirty="0" sz="1600" spc="5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bound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Hb is 19.5 </a:t>
            </a:r>
            <a:r>
              <a:rPr dirty="0" sz="2000" spc="-10">
                <a:latin typeface="Calibri"/>
                <a:cs typeface="Calibri"/>
              </a:rPr>
              <a:t>vol. </a:t>
            </a:r>
            <a:r>
              <a:rPr dirty="0" sz="2000">
                <a:latin typeface="Calibri"/>
                <a:cs typeface="Calibri"/>
              </a:rPr>
              <a:t>%. </a:t>
            </a:r>
            <a:r>
              <a:rPr dirty="0" sz="2000" spc="-5">
                <a:latin typeface="Calibri"/>
                <a:cs typeface="Calibri"/>
              </a:rPr>
              <a:t>This </a:t>
            </a:r>
            <a:r>
              <a:rPr dirty="0" sz="2000">
                <a:latin typeface="Calibri"/>
                <a:cs typeface="Calibri"/>
              </a:rPr>
              <a:t>means </a:t>
            </a:r>
            <a:r>
              <a:rPr dirty="0" sz="2000" spc="-5">
                <a:latin typeface="Calibri"/>
                <a:cs typeface="Calibri"/>
              </a:rPr>
              <a:t>that 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total </a:t>
            </a:r>
            <a:r>
              <a:rPr dirty="0" sz="2000" spc="-5">
                <a:latin typeface="Calibri"/>
                <a:cs typeface="Calibri"/>
              </a:rPr>
              <a:t>amount of 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5">
                <a:latin typeface="Calibri"/>
                <a:cs typeface="Calibri"/>
              </a:rPr>
              <a:t>arterial </a:t>
            </a:r>
            <a:r>
              <a:rPr dirty="0" sz="2000">
                <a:latin typeface="Calibri"/>
                <a:cs typeface="Calibri"/>
              </a:rPr>
              <a:t>blood is about 20 </a:t>
            </a:r>
            <a:r>
              <a:rPr dirty="0" sz="2000" spc="-10">
                <a:latin typeface="Calibri"/>
                <a:cs typeface="Calibri"/>
              </a:rPr>
              <a:t>vol.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%.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513544"/>
            <a:ext cx="8058150" cy="7099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83300"/>
              </a:lnSpc>
            </a:pPr>
            <a:r>
              <a:rPr dirty="0" sz="1800" spc="-5">
                <a:latin typeface="Calibri"/>
                <a:cs typeface="Calibri"/>
              </a:rPr>
              <a:t>(O</a:t>
            </a:r>
            <a:r>
              <a:rPr dirty="0" sz="1400" spc="-5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bound </a:t>
            </a: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 spc="-5">
                <a:latin typeface="Calibri"/>
                <a:cs typeface="Calibri"/>
              </a:rPr>
              <a:t>Hb does not </a:t>
            </a:r>
            <a:r>
              <a:rPr dirty="0" sz="1800" spc="-10">
                <a:latin typeface="Calibri"/>
                <a:cs typeface="Calibri"/>
              </a:rPr>
              <a:t>contribute to </a:t>
            </a:r>
            <a:r>
              <a:rPr dirty="0" sz="1800">
                <a:latin typeface="Calibri"/>
                <a:cs typeface="Calibri"/>
              </a:rPr>
              <a:t>the PO</a:t>
            </a:r>
            <a:r>
              <a:rPr dirty="0" sz="1400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of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blood. Only molecules  dissolved </a:t>
            </a:r>
            <a:r>
              <a:rPr dirty="0" sz="1800">
                <a:latin typeface="Calibri"/>
                <a:cs typeface="Calibri"/>
              </a:rPr>
              <a:t>in the </a:t>
            </a:r>
            <a:r>
              <a:rPr dirty="0" sz="1800" spc="-5">
                <a:latin typeface="Calibri"/>
                <a:cs typeface="Calibri"/>
              </a:rPr>
              <a:t>blood plasma </a:t>
            </a:r>
            <a:r>
              <a:rPr dirty="0" sz="1800" spc="-10">
                <a:latin typeface="Calibri"/>
                <a:cs typeface="Calibri"/>
              </a:rPr>
              <a:t>are </a:t>
            </a:r>
            <a:r>
              <a:rPr dirty="0" sz="1800" spc="-5">
                <a:latin typeface="Calibri"/>
                <a:cs typeface="Calibri"/>
              </a:rPr>
              <a:t>responsible </a:t>
            </a:r>
            <a:r>
              <a:rPr dirty="0" sz="1800" spc="-15">
                <a:latin typeface="Calibri"/>
                <a:cs typeface="Calibri"/>
              </a:rPr>
              <a:t>for </a:t>
            </a:r>
            <a:r>
              <a:rPr dirty="0" sz="1800">
                <a:latin typeface="Calibri"/>
                <a:cs typeface="Calibri"/>
              </a:rPr>
              <a:t>PO</a:t>
            </a:r>
            <a:r>
              <a:rPr dirty="0" sz="1400">
                <a:latin typeface="Calibri"/>
                <a:cs typeface="Calibri"/>
              </a:rPr>
              <a:t>2</a:t>
            </a:r>
            <a:r>
              <a:rPr dirty="0" sz="1800" i="1">
                <a:latin typeface="Calibri"/>
                <a:cs typeface="Calibri"/>
              </a:rPr>
              <a:t>. </a:t>
            </a:r>
            <a:r>
              <a:rPr dirty="0" sz="1800" spc="-30">
                <a:latin typeface="Calibri"/>
                <a:cs typeface="Calibri"/>
              </a:rPr>
              <a:t>However,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PO</a:t>
            </a:r>
            <a:r>
              <a:rPr dirty="0" sz="1400" spc="-5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of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plasma  does determine </a:t>
            </a:r>
            <a:r>
              <a:rPr dirty="0" sz="1800">
                <a:latin typeface="Calibri"/>
                <a:cs typeface="Calibri"/>
              </a:rPr>
              <a:t>the amount </a:t>
            </a:r>
            <a:r>
              <a:rPr dirty="0" sz="1800" spc="-5">
                <a:latin typeface="Calibri"/>
                <a:cs typeface="Calibri"/>
              </a:rPr>
              <a:t>of </a:t>
            </a:r>
            <a:r>
              <a:rPr dirty="0" sz="1800" spc="5">
                <a:latin typeface="Calibri"/>
                <a:cs typeface="Calibri"/>
              </a:rPr>
              <a:t>O</a:t>
            </a:r>
            <a:r>
              <a:rPr dirty="0" sz="1400" spc="5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that </a:t>
            </a:r>
            <a:r>
              <a:rPr dirty="0" sz="1800" spc="-10">
                <a:latin typeface="Calibri"/>
                <a:cs typeface="Calibri"/>
              </a:rPr>
              <a:t>combines </a:t>
            </a:r>
            <a:r>
              <a:rPr dirty="0" sz="1800" spc="-5">
                <a:latin typeface="Calibri"/>
                <a:cs typeface="Calibri"/>
              </a:rPr>
              <a:t>with</a:t>
            </a:r>
            <a:r>
              <a:rPr dirty="0" sz="1800" spc="1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Hb).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254508"/>
            <a:ext cx="8027670" cy="19069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b="0">
                <a:latin typeface="Calibri Light"/>
                <a:cs typeface="Calibri Light"/>
              </a:rPr>
              <a:t>C. </a:t>
            </a:r>
            <a:r>
              <a:rPr dirty="0" sz="1800" spc="-5" b="0" u="sng">
                <a:latin typeface="Calibri Light"/>
                <a:cs typeface="Calibri Light"/>
              </a:rPr>
              <a:t>The </a:t>
            </a:r>
            <a:r>
              <a:rPr dirty="0" sz="1800" b="0" u="sng">
                <a:latin typeface="Calibri Light"/>
                <a:cs typeface="Calibri Light"/>
              </a:rPr>
              <a:t>O</a:t>
            </a:r>
            <a:r>
              <a:rPr dirty="0" sz="1400" b="0" u="sng">
                <a:latin typeface="Calibri Light"/>
                <a:cs typeface="Calibri Light"/>
              </a:rPr>
              <a:t>2 </a:t>
            </a:r>
            <a:r>
              <a:rPr dirty="0" sz="1800" spc="-15" b="0" u="sng">
                <a:latin typeface="Calibri Light"/>
                <a:cs typeface="Calibri Light"/>
              </a:rPr>
              <a:t>dissociation</a:t>
            </a:r>
            <a:r>
              <a:rPr dirty="0" sz="1800" spc="-140" b="0" u="sng">
                <a:latin typeface="Calibri Light"/>
                <a:cs typeface="Calibri Light"/>
              </a:rPr>
              <a:t> </a:t>
            </a:r>
            <a:r>
              <a:rPr dirty="0" sz="1800" spc="-10" b="0" u="sng">
                <a:latin typeface="Calibri Light"/>
                <a:cs typeface="Calibri Light"/>
              </a:rPr>
              <a:t>curve</a:t>
            </a:r>
            <a:endParaRPr sz="18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65100" marR="5080">
              <a:lnSpc>
                <a:spcPts val="1939"/>
              </a:lnSpc>
              <a:spcBef>
                <a:spcPts val="1240"/>
              </a:spcBef>
            </a:pPr>
            <a:r>
              <a:rPr dirty="0" sz="1800" spc="-5">
                <a:latin typeface="Calibri"/>
                <a:cs typeface="Calibri"/>
              </a:rPr>
              <a:t>•The HbO</a:t>
            </a:r>
            <a:r>
              <a:rPr dirty="0" sz="1400" spc="-5">
                <a:latin typeface="Calibri"/>
                <a:cs typeface="Calibri"/>
              </a:rPr>
              <a:t>2 </a:t>
            </a:r>
            <a:r>
              <a:rPr dirty="0" sz="1800" spc="-10">
                <a:latin typeface="Calibri"/>
                <a:cs typeface="Calibri"/>
              </a:rPr>
              <a:t>dissociation </a:t>
            </a:r>
            <a:r>
              <a:rPr dirty="0" sz="1800" spc="-5">
                <a:latin typeface="Calibri"/>
                <a:cs typeface="Calibri"/>
              </a:rPr>
              <a:t>curve determines </a:t>
            </a:r>
            <a:r>
              <a:rPr dirty="0" sz="1800">
                <a:latin typeface="Calibri"/>
                <a:cs typeface="Calibri"/>
              </a:rPr>
              <a:t>the amount </a:t>
            </a:r>
            <a:r>
              <a:rPr dirty="0" sz="1800" spc="-5">
                <a:latin typeface="Calibri"/>
                <a:cs typeface="Calibri"/>
              </a:rPr>
              <a:t>of </a:t>
            </a:r>
            <a:r>
              <a:rPr dirty="0" sz="1800" spc="5">
                <a:latin typeface="Calibri"/>
                <a:cs typeface="Calibri"/>
              </a:rPr>
              <a:t>O</a:t>
            </a:r>
            <a:r>
              <a:rPr dirty="0" sz="1400" spc="5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carried by Hb </a:t>
            </a:r>
            <a:r>
              <a:rPr dirty="0" sz="1800" spc="-15">
                <a:latin typeface="Calibri"/>
                <a:cs typeface="Calibri"/>
              </a:rPr>
              <a:t>for </a:t>
            </a: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5">
                <a:latin typeface="Calibri"/>
                <a:cs typeface="Calibri"/>
              </a:rPr>
              <a:t>given  partial </a:t>
            </a:r>
            <a:r>
              <a:rPr dirty="0" sz="1800" spc="-10">
                <a:latin typeface="Calibri"/>
                <a:cs typeface="Calibri"/>
              </a:rPr>
              <a:t>pressure </a:t>
            </a:r>
            <a:r>
              <a:rPr dirty="0" sz="1800" spc="-5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</a:t>
            </a:r>
            <a:r>
              <a:rPr dirty="0" sz="1400">
                <a:latin typeface="Calibri"/>
                <a:cs typeface="Calibri"/>
              </a:rPr>
              <a:t>2</a:t>
            </a:r>
            <a:r>
              <a:rPr dirty="0" sz="180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1235"/>
              </a:spcBef>
            </a:pPr>
            <a:r>
              <a:rPr dirty="0" sz="1800" spc="-5">
                <a:latin typeface="Calibri"/>
                <a:cs typeface="Calibri"/>
              </a:rPr>
              <a:t>•The </a:t>
            </a:r>
            <a:r>
              <a:rPr dirty="0" sz="1800">
                <a:latin typeface="Calibri"/>
                <a:cs typeface="Calibri"/>
              </a:rPr>
              <a:t>curve </a:t>
            </a:r>
            <a:r>
              <a:rPr dirty="0" sz="1800" spc="-5">
                <a:latin typeface="Calibri"/>
                <a:cs typeface="Calibri"/>
              </a:rPr>
              <a:t>is </a:t>
            </a:r>
            <a:r>
              <a:rPr dirty="0" sz="1800" spc="-10">
                <a:latin typeface="Calibri"/>
                <a:cs typeface="Calibri"/>
              </a:rPr>
              <a:t>flat at </a:t>
            </a:r>
            <a:r>
              <a:rPr dirty="0" sz="1800" spc="-5">
                <a:latin typeface="Calibri"/>
                <a:cs typeface="Calibri"/>
              </a:rPr>
              <a:t>high </a:t>
            </a:r>
            <a:r>
              <a:rPr dirty="0" sz="1800" spc="-10">
                <a:latin typeface="Calibri"/>
                <a:cs typeface="Calibri"/>
              </a:rPr>
              <a:t>values </a:t>
            </a:r>
            <a:r>
              <a:rPr dirty="0" sz="1800" spc="-5">
                <a:latin typeface="Calibri"/>
                <a:cs typeface="Calibri"/>
              </a:rPr>
              <a:t>of </a:t>
            </a:r>
            <a:r>
              <a:rPr dirty="0" sz="1800">
                <a:latin typeface="Calibri"/>
                <a:cs typeface="Calibri"/>
              </a:rPr>
              <a:t>PO</a:t>
            </a:r>
            <a:r>
              <a:rPr dirty="0" sz="1400">
                <a:latin typeface="Calibri"/>
                <a:cs typeface="Calibri"/>
              </a:rPr>
              <a:t>2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10">
                <a:latin typeface="Calibri"/>
                <a:cs typeface="Calibri"/>
              </a:rPr>
              <a:t>steep at low values </a:t>
            </a:r>
            <a:r>
              <a:rPr dirty="0" sz="1800" spc="-5">
                <a:latin typeface="Calibri"/>
                <a:cs typeface="Calibri"/>
              </a:rPr>
              <a:t>of</a:t>
            </a:r>
            <a:r>
              <a:rPr dirty="0" sz="1800" spc="30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PO</a:t>
            </a:r>
            <a:r>
              <a:rPr dirty="0" sz="1400" spc="-5">
                <a:latin typeface="Calibri"/>
                <a:cs typeface="Calibri"/>
              </a:rPr>
              <a:t>2</a:t>
            </a:r>
            <a:r>
              <a:rPr dirty="0" sz="1800" spc="-5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514600"/>
            <a:ext cx="5638800" cy="4181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62559"/>
            <a:ext cx="3567429" cy="3048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u="sng"/>
              <a:t>The </a:t>
            </a:r>
            <a:r>
              <a:rPr dirty="0" sz="2000" spc="-10" u="sng"/>
              <a:t>O</a:t>
            </a:r>
            <a:r>
              <a:rPr dirty="0" sz="1600" spc="-10" u="sng"/>
              <a:t>2 </a:t>
            </a:r>
            <a:r>
              <a:rPr dirty="0" sz="2000" spc="-15" u="sng"/>
              <a:t>dissociation </a:t>
            </a:r>
            <a:r>
              <a:rPr dirty="0" sz="2000" spc="-10" u="sng"/>
              <a:t>curve</a:t>
            </a:r>
            <a:r>
              <a:rPr dirty="0" sz="2000" spc="-30" u="sng"/>
              <a:t> </a:t>
            </a:r>
            <a:r>
              <a:rPr dirty="0" sz="2000" spc="-25" u="sng"/>
              <a:t>(Cont’ed)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459740" y="1179829"/>
            <a:ext cx="7751445" cy="24066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93040">
              <a:lnSpc>
                <a:spcPct val="80000"/>
              </a:lnSpc>
            </a:pPr>
            <a:r>
              <a:rPr dirty="0" sz="1800" spc="-10">
                <a:latin typeface="Arial"/>
                <a:cs typeface="Arial"/>
              </a:rPr>
              <a:t>•</a:t>
            </a:r>
            <a:r>
              <a:rPr dirty="0" sz="1800" spc="-10">
                <a:latin typeface="Calibri"/>
                <a:cs typeface="Calibri"/>
              </a:rPr>
              <a:t>Hb provides </a:t>
            </a:r>
            <a:r>
              <a:rPr dirty="0" sz="1800">
                <a:latin typeface="Calibri"/>
                <a:cs typeface="Calibri"/>
              </a:rPr>
              <a:t>an </a:t>
            </a:r>
            <a:r>
              <a:rPr dirty="0" sz="1800" spc="-5">
                <a:latin typeface="Calibri"/>
                <a:cs typeface="Calibri"/>
              </a:rPr>
              <a:t>automatic mechanism that </a:t>
            </a:r>
            <a:r>
              <a:rPr dirty="0" sz="1800" spc="-10">
                <a:latin typeface="Calibri"/>
                <a:cs typeface="Calibri"/>
              </a:rPr>
              <a:t>matches </a:t>
            </a:r>
            <a:r>
              <a:rPr dirty="0" sz="1800" spc="-5">
                <a:latin typeface="Calibri"/>
                <a:cs typeface="Calibri"/>
              </a:rPr>
              <a:t>tissue </a:t>
            </a:r>
            <a:r>
              <a:rPr dirty="0" sz="1800" spc="10">
                <a:latin typeface="Calibri"/>
                <a:cs typeface="Calibri"/>
              </a:rPr>
              <a:t>O</a:t>
            </a:r>
            <a:r>
              <a:rPr dirty="0" sz="1400" spc="10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supply </a:t>
            </a: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 spc="-5">
                <a:latin typeface="Calibri"/>
                <a:cs typeface="Calibri"/>
              </a:rPr>
              <a:t>tissue </a:t>
            </a:r>
            <a:r>
              <a:rPr dirty="0" sz="1800">
                <a:latin typeface="Calibri"/>
                <a:cs typeface="Calibri"/>
              </a:rPr>
              <a:t>O</a:t>
            </a:r>
            <a:r>
              <a:rPr dirty="0" sz="1400">
                <a:latin typeface="Calibri"/>
                <a:cs typeface="Calibri"/>
              </a:rPr>
              <a:t>2  </a:t>
            </a:r>
            <a:r>
              <a:rPr dirty="0" sz="1800">
                <a:latin typeface="Calibri"/>
                <a:cs typeface="Calibri"/>
              </a:rPr>
              <a:t>need.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Times New Roman"/>
              <a:cs typeface="Times New Roman"/>
            </a:endParaRPr>
          </a:p>
          <a:p>
            <a:pPr algn="just" marL="12700">
              <a:lnSpc>
                <a:spcPts val="1945"/>
              </a:lnSpc>
            </a:pPr>
            <a:r>
              <a:rPr dirty="0" sz="1800" spc="-20">
                <a:latin typeface="Arial"/>
                <a:cs typeface="Arial"/>
              </a:rPr>
              <a:t>•</a:t>
            </a:r>
            <a:r>
              <a:rPr dirty="0" sz="1800" spc="-20">
                <a:latin typeface="Calibri"/>
                <a:cs typeface="Calibri"/>
              </a:rPr>
              <a:t>At </a:t>
            </a:r>
            <a:r>
              <a:rPr dirty="0" sz="1800" spc="-10">
                <a:latin typeface="Calibri"/>
                <a:cs typeface="Calibri"/>
              </a:rPr>
              <a:t>low values </a:t>
            </a:r>
            <a:r>
              <a:rPr dirty="0" sz="1800" spc="-5">
                <a:latin typeface="Calibri"/>
                <a:cs typeface="Calibri"/>
              </a:rPr>
              <a:t>of PO</a:t>
            </a:r>
            <a:r>
              <a:rPr dirty="0" sz="1400" spc="-5">
                <a:latin typeface="Calibri"/>
                <a:cs typeface="Calibri"/>
              </a:rPr>
              <a:t>2</a:t>
            </a:r>
            <a:r>
              <a:rPr dirty="0" sz="1800" spc="-5">
                <a:latin typeface="Calibri"/>
                <a:cs typeface="Calibri"/>
              </a:rPr>
              <a:t>, </a:t>
            </a:r>
            <a:r>
              <a:rPr dirty="0" sz="1800">
                <a:latin typeface="Calibri"/>
                <a:cs typeface="Calibri"/>
              </a:rPr>
              <a:t>as seen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peripheral </a:t>
            </a:r>
            <a:r>
              <a:rPr dirty="0" sz="1800" spc="-5">
                <a:latin typeface="Calibri"/>
                <a:cs typeface="Calibri"/>
              </a:rPr>
              <a:t>tissues, </a:t>
            </a: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5">
                <a:latin typeface="Calibri"/>
                <a:cs typeface="Calibri"/>
              </a:rPr>
              <a:t>small </a:t>
            </a:r>
            <a:r>
              <a:rPr dirty="0" sz="1800" spc="-10">
                <a:latin typeface="Calibri"/>
                <a:cs typeface="Calibri"/>
              </a:rPr>
              <a:t>drop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 spc="5">
                <a:latin typeface="Calibri"/>
                <a:cs typeface="Calibri"/>
              </a:rPr>
              <a:t>PO</a:t>
            </a:r>
            <a:r>
              <a:rPr dirty="0" sz="1400" spc="5">
                <a:latin typeface="Calibri"/>
                <a:cs typeface="Calibri"/>
              </a:rPr>
              <a:t>2</a:t>
            </a:r>
            <a:r>
              <a:rPr dirty="0" sz="1400" spc="18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unloads</a:t>
            </a:r>
            <a:endParaRPr sz="1800">
              <a:latin typeface="Calibri"/>
              <a:cs typeface="Calibri"/>
            </a:endParaRPr>
          </a:p>
          <a:p>
            <a:pPr algn="just" marL="12700">
              <a:lnSpc>
                <a:spcPts val="1945"/>
              </a:lnSpc>
            </a:pPr>
            <a:r>
              <a:rPr dirty="0" sz="1800">
                <a:latin typeface="Calibri"/>
                <a:cs typeface="Calibri"/>
              </a:rPr>
              <a:t>the O</a:t>
            </a:r>
            <a:r>
              <a:rPr dirty="0" sz="1400">
                <a:latin typeface="Calibri"/>
                <a:cs typeface="Calibri"/>
              </a:rPr>
              <a:t>2 </a:t>
            </a:r>
            <a:r>
              <a:rPr dirty="0" sz="1800" spc="-10">
                <a:latin typeface="Calibri"/>
                <a:cs typeface="Calibri"/>
              </a:rPr>
              <a:t>from </a:t>
            </a:r>
            <a:r>
              <a:rPr dirty="0" sz="1800" spc="-5">
                <a:latin typeface="Calibri"/>
                <a:cs typeface="Calibri"/>
              </a:rPr>
              <a:t>Hb </a:t>
            </a: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tissue.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ts val="1730"/>
              </a:lnSpc>
              <a:spcBef>
                <a:spcPts val="1250"/>
              </a:spcBef>
              <a:buFont typeface="Arial"/>
              <a:buChar char="•"/>
              <a:tabLst>
                <a:tab pos="144145" algn="l"/>
              </a:tabLst>
            </a:pPr>
            <a:r>
              <a:rPr dirty="0" sz="1800" spc="-10">
                <a:latin typeface="Calibri"/>
                <a:cs typeface="Calibri"/>
              </a:rPr>
              <a:t>Example: </a:t>
            </a: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10">
                <a:latin typeface="Calibri"/>
                <a:cs typeface="Calibri"/>
              </a:rPr>
              <a:t>drop </a:t>
            </a:r>
            <a:r>
              <a:rPr dirty="0" sz="1800" spc="-5">
                <a:latin typeface="Calibri"/>
                <a:cs typeface="Calibri"/>
              </a:rPr>
              <a:t>in PO</a:t>
            </a:r>
            <a:r>
              <a:rPr dirty="0" sz="1400" spc="-5">
                <a:latin typeface="Calibri"/>
                <a:cs typeface="Calibri"/>
              </a:rPr>
              <a:t>2 </a:t>
            </a:r>
            <a:r>
              <a:rPr dirty="0" sz="1800" spc="-10">
                <a:latin typeface="Calibri"/>
                <a:cs typeface="Calibri"/>
              </a:rPr>
              <a:t>from </a:t>
            </a:r>
            <a:r>
              <a:rPr dirty="0" sz="1800">
                <a:latin typeface="Calibri"/>
                <a:cs typeface="Calibri"/>
              </a:rPr>
              <a:t>40 </a:t>
            </a: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20 mmHg </a:t>
            </a:r>
            <a:r>
              <a:rPr dirty="0" sz="1800" spc="-10">
                <a:latin typeface="Calibri"/>
                <a:cs typeface="Calibri"/>
              </a:rPr>
              <a:t>results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5">
                <a:latin typeface="Calibri"/>
                <a:cs typeface="Calibri"/>
              </a:rPr>
              <a:t>decrease </a:t>
            </a:r>
            <a:r>
              <a:rPr dirty="0" sz="1800">
                <a:latin typeface="Calibri"/>
                <a:cs typeface="Calibri"/>
              </a:rPr>
              <a:t>in %HbO</a:t>
            </a:r>
            <a:r>
              <a:rPr dirty="0" sz="1400">
                <a:latin typeface="Calibri"/>
                <a:cs typeface="Calibri"/>
              </a:rPr>
              <a:t>2 </a:t>
            </a:r>
            <a:r>
              <a:rPr dirty="0" sz="1800" spc="-10">
                <a:latin typeface="Calibri"/>
                <a:cs typeface="Calibri"/>
              </a:rPr>
              <a:t>from  </a:t>
            </a:r>
            <a:r>
              <a:rPr dirty="0" sz="1800">
                <a:latin typeface="Calibri"/>
                <a:cs typeface="Calibri"/>
              </a:rPr>
              <a:t>about 75% </a:t>
            </a: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35%; a </a:t>
            </a:r>
            <a:r>
              <a:rPr dirty="0" sz="1800" spc="-10">
                <a:latin typeface="Calibri"/>
                <a:cs typeface="Calibri"/>
              </a:rPr>
              <a:t>drop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PO</a:t>
            </a:r>
            <a:r>
              <a:rPr dirty="0" sz="1400">
                <a:latin typeface="Calibri"/>
                <a:cs typeface="Calibri"/>
              </a:rPr>
              <a:t>2 </a:t>
            </a:r>
            <a:r>
              <a:rPr dirty="0" sz="1800" spc="-10">
                <a:latin typeface="Calibri"/>
                <a:cs typeface="Calibri"/>
              </a:rPr>
              <a:t>from </a:t>
            </a:r>
            <a:r>
              <a:rPr dirty="0" sz="1800">
                <a:latin typeface="Calibri"/>
                <a:cs typeface="Calibri"/>
              </a:rPr>
              <a:t>100 </a:t>
            </a: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80 mmHg </a:t>
            </a:r>
            <a:r>
              <a:rPr dirty="0" sz="1800" spc="-10">
                <a:latin typeface="Calibri"/>
                <a:cs typeface="Calibri"/>
              </a:rPr>
              <a:t>results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5">
                <a:latin typeface="Calibri"/>
                <a:cs typeface="Calibri"/>
              </a:rPr>
              <a:t>decrease of </a:t>
            </a:r>
            <a:r>
              <a:rPr dirty="0" sz="1800">
                <a:latin typeface="Calibri"/>
                <a:cs typeface="Calibri"/>
              </a:rPr>
              <a:t>less  than 3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%).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33600" y="3585971"/>
            <a:ext cx="4191000" cy="3110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" y="914572"/>
            <a:ext cx="8737221" cy="42820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07794" y="5454141"/>
            <a:ext cx="4610100" cy="149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00" spc="-5">
                <a:latin typeface="Arial"/>
                <a:cs typeface="Arial"/>
              </a:rPr>
              <a:t>Copyrigth</a:t>
            </a:r>
            <a:r>
              <a:rPr dirty="0" sz="900" spc="-5">
                <a:latin typeface="Symbol"/>
                <a:cs typeface="Symbol"/>
              </a:rPr>
              <a:t>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5">
                <a:latin typeface="Arial"/>
                <a:cs typeface="Arial"/>
              </a:rPr>
              <a:t>The McGraw-Hill </a:t>
            </a:r>
            <a:r>
              <a:rPr dirty="0" sz="900">
                <a:latin typeface="Arial"/>
                <a:cs typeface="Arial"/>
              </a:rPr>
              <a:t>Companies, Inc. Permission requires to reproduce or</a:t>
            </a:r>
            <a:r>
              <a:rPr dirty="0" sz="900" spc="-65">
                <a:latin typeface="Arial"/>
                <a:cs typeface="Arial"/>
              </a:rPr>
              <a:t> </a:t>
            </a:r>
            <a:r>
              <a:rPr dirty="0" sz="900" spc="-5">
                <a:latin typeface="Arial"/>
                <a:cs typeface="Arial"/>
              </a:rPr>
              <a:t>display.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95800" y="1066800"/>
            <a:ext cx="69850" cy="4130675"/>
          </a:xfrm>
          <a:custGeom>
            <a:avLst/>
            <a:gdLst/>
            <a:ahLst/>
            <a:cxnLst/>
            <a:rect l="l" t="t" r="r" b="b"/>
            <a:pathLst>
              <a:path w="69850" h="4130675">
                <a:moveTo>
                  <a:pt x="0" y="0"/>
                </a:moveTo>
                <a:lnTo>
                  <a:pt x="69850" y="4130675"/>
                </a:lnTo>
              </a:path>
            </a:pathLst>
          </a:custGeom>
          <a:ln w="7620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7084"/>
            <a:ext cx="4906645" cy="3937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u="heavy"/>
              <a:t>Shape </a:t>
            </a:r>
            <a:r>
              <a:rPr dirty="0" spc="-5" u="heavy"/>
              <a:t>of Hemoglobin dissociation</a:t>
            </a:r>
            <a:r>
              <a:rPr dirty="0" spc="-105" u="heavy"/>
              <a:t> </a:t>
            </a:r>
            <a:r>
              <a:rPr dirty="0" spc="-5" u="heavy"/>
              <a:t>curve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824990"/>
            <a:ext cx="7653020" cy="2658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dirty="0" sz="2000" spc="-5">
                <a:latin typeface="Calibri"/>
                <a:cs typeface="Calibri"/>
              </a:rPr>
              <a:t>The quaternary </a:t>
            </a:r>
            <a:r>
              <a:rPr dirty="0" sz="2000" spc="-10">
                <a:latin typeface="Calibri"/>
                <a:cs typeface="Calibri"/>
              </a:rPr>
              <a:t>structure </a:t>
            </a:r>
            <a:r>
              <a:rPr dirty="0" sz="2000" spc="-5">
                <a:latin typeface="Calibri"/>
                <a:cs typeface="Calibri"/>
              </a:rPr>
              <a:t>of Hb determines </a:t>
            </a:r>
            <a:r>
              <a:rPr dirty="0" sz="2000">
                <a:latin typeface="Calibri"/>
                <a:cs typeface="Calibri"/>
              </a:rPr>
              <a:t>its </a:t>
            </a:r>
            <a:r>
              <a:rPr dirty="0" sz="2000" spc="-10">
                <a:latin typeface="Calibri"/>
                <a:cs typeface="Calibri"/>
              </a:rPr>
              <a:t>affinity </a:t>
            </a:r>
            <a:r>
              <a:rPr dirty="0" sz="2000" spc="-15">
                <a:latin typeface="Calibri"/>
                <a:cs typeface="Calibri"/>
              </a:rPr>
              <a:t>for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spc="5">
                <a:latin typeface="Calibri"/>
                <a:cs typeface="Calibri"/>
              </a:rPr>
              <a:t>O</a:t>
            </a:r>
            <a:r>
              <a:rPr dirty="0" sz="1600" spc="5">
                <a:latin typeface="Calibri"/>
                <a:cs typeface="Calibri"/>
              </a:rPr>
              <a:t>2</a:t>
            </a:r>
            <a:r>
              <a:rPr dirty="0" sz="2000" spc="5">
                <a:latin typeface="Calibri"/>
                <a:cs typeface="Calibri"/>
              </a:rPr>
              <a:t>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050">
              <a:latin typeface="Times New Roman"/>
              <a:cs typeface="Times New Roman"/>
            </a:endParaRPr>
          </a:p>
          <a:p>
            <a:pPr marL="184785" indent="-172085">
              <a:lnSpc>
                <a:spcPts val="2280"/>
              </a:lnSpc>
              <a:buFont typeface="Arial"/>
              <a:buChar char="•"/>
              <a:tabLst>
                <a:tab pos="185420" algn="l"/>
              </a:tabLst>
            </a:pPr>
            <a:r>
              <a:rPr dirty="0" sz="2000" spc="-5">
                <a:latin typeface="Calibri"/>
                <a:cs typeface="Calibri"/>
              </a:rPr>
              <a:t>The combination </a:t>
            </a:r>
            <a:r>
              <a:rPr dirty="0" sz="2000">
                <a:latin typeface="Calibri"/>
                <a:cs typeface="Calibri"/>
              </a:rPr>
              <a:t>of the </a:t>
            </a:r>
            <a:r>
              <a:rPr dirty="0" sz="2000" spc="-15">
                <a:latin typeface="Calibri"/>
                <a:cs typeface="Calibri"/>
              </a:rPr>
              <a:t>first </a:t>
            </a:r>
            <a:r>
              <a:rPr dirty="0" sz="2000" spc="-5">
                <a:latin typeface="Calibri"/>
                <a:cs typeface="Calibri"/>
              </a:rPr>
              <a:t>heme </a:t>
            </a:r>
            <a:r>
              <a:rPr dirty="0" sz="2000">
                <a:latin typeface="Calibri"/>
                <a:cs typeface="Calibri"/>
              </a:rPr>
              <a:t>of Hb with 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 spc="-5">
                <a:latin typeface="Calibri"/>
                <a:cs typeface="Calibri"/>
              </a:rPr>
              <a:t>increases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affinity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184785">
              <a:lnSpc>
                <a:spcPts val="2280"/>
              </a:lnSpc>
            </a:pP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second heme </a:t>
            </a:r>
            <a:r>
              <a:rPr dirty="0" sz="2000" spc="-15">
                <a:latin typeface="Calibri"/>
                <a:cs typeface="Calibri"/>
              </a:rPr>
              <a:t>for 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>
                <a:latin typeface="Calibri"/>
                <a:cs typeface="Calibri"/>
              </a:rPr>
              <a:t>2</a:t>
            </a:r>
            <a:r>
              <a:rPr dirty="0" sz="2000">
                <a:latin typeface="Calibri"/>
                <a:cs typeface="Calibri"/>
              </a:rPr>
              <a:t>, </a:t>
            </a:r>
            <a:r>
              <a:rPr dirty="0" sz="2000" spc="-10">
                <a:latin typeface="Calibri"/>
                <a:cs typeface="Calibri"/>
              </a:rPr>
              <a:t>etc. (cooperative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binding).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just" marL="184785" marR="220979" indent="-172085">
              <a:lnSpc>
                <a:spcPts val="2160"/>
              </a:lnSpc>
              <a:spcBef>
                <a:spcPts val="150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2000" spc="-5">
                <a:latin typeface="Calibri"/>
                <a:cs typeface="Calibri"/>
              </a:rPr>
              <a:t>Myoglobin, </a:t>
            </a:r>
            <a:r>
              <a:rPr dirty="0" sz="2000" spc="-10">
                <a:latin typeface="Calibri"/>
                <a:cs typeface="Calibri"/>
              </a:rPr>
              <a:t>found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15">
                <a:latin typeface="Calibri"/>
                <a:cs typeface="Calibri"/>
              </a:rPr>
              <a:t>skeletal </a:t>
            </a:r>
            <a:r>
              <a:rPr dirty="0" sz="2000">
                <a:latin typeface="Calibri"/>
                <a:cs typeface="Calibri"/>
              </a:rPr>
              <a:t>muscle, </a:t>
            </a:r>
            <a:r>
              <a:rPr dirty="0" sz="2000" spc="-5">
                <a:latin typeface="Calibri"/>
                <a:cs typeface="Calibri"/>
              </a:rPr>
              <a:t>resembles Hb </a:t>
            </a:r>
            <a:r>
              <a:rPr dirty="0" sz="2000">
                <a:latin typeface="Calibri"/>
                <a:cs typeface="Calibri"/>
              </a:rPr>
              <a:t>but </a:t>
            </a:r>
            <a:r>
              <a:rPr dirty="0" sz="2000" spc="-5">
                <a:latin typeface="Calibri"/>
                <a:cs typeface="Calibri"/>
              </a:rPr>
              <a:t>binds only one  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 spc="-5">
                <a:latin typeface="Calibri"/>
                <a:cs typeface="Calibri"/>
              </a:rPr>
              <a:t>molecule. The </a:t>
            </a:r>
            <a:r>
              <a:rPr dirty="0" sz="2000" spc="-10">
                <a:latin typeface="Calibri"/>
                <a:cs typeface="Calibri"/>
              </a:rPr>
              <a:t>O</a:t>
            </a:r>
            <a:r>
              <a:rPr dirty="0" sz="1600" spc="-10">
                <a:latin typeface="Calibri"/>
                <a:cs typeface="Calibri"/>
              </a:rPr>
              <a:t>2</a:t>
            </a:r>
            <a:r>
              <a:rPr dirty="0" sz="2000" spc="-10">
                <a:latin typeface="Calibri"/>
                <a:cs typeface="Calibri"/>
              </a:rPr>
              <a:t>-myoglobin </a:t>
            </a:r>
            <a:r>
              <a:rPr dirty="0" sz="2000" spc="-5">
                <a:latin typeface="Calibri"/>
                <a:cs typeface="Calibri"/>
              </a:rPr>
              <a:t>curve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5">
                <a:latin typeface="Calibri"/>
                <a:cs typeface="Calibri"/>
              </a:rPr>
              <a:t>hyperbolic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5">
                <a:latin typeface="Calibri"/>
                <a:cs typeface="Calibri"/>
              </a:rPr>
              <a:t>shape. </a:t>
            </a:r>
            <a:r>
              <a:rPr dirty="0" sz="2000">
                <a:latin typeface="Calibri"/>
                <a:cs typeface="Calibri"/>
              </a:rPr>
              <a:t>It </a:t>
            </a:r>
            <a:r>
              <a:rPr dirty="0" sz="2000" spc="-15">
                <a:latin typeface="Calibri"/>
                <a:cs typeface="Calibri"/>
              </a:rPr>
              <a:t>follows  </a:t>
            </a:r>
            <a:r>
              <a:rPr dirty="0" sz="2000" spc="-5">
                <a:latin typeface="Calibri"/>
                <a:cs typeface="Calibri"/>
              </a:rPr>
              <a:t>that </a:t>
            </a:r>
            <a:r>
              <a:rPr dirty="0" sz="2000" spc="-10">
                <a:latin typeface="Calibri"/>
                <a:cs typeface="Calibri"/>
              </a:rPr>
              <a:t>myoglobin </a:t>
            </a:r>
            <a:r>
              <a:rPr dirty="0" sz="2000" spc="-5">
                <a:latin typeface="Calibri"/>
                <a:cs typeface="Calibri"/>
              </a:rPr>
              <a:t>will release </a:t>
            </a:r>
            <a:r>
              <a:rPr dirty="0" sz="2000">
                <a:latin typeface="Calibri"/>
                <a:cs typeface="Calibri"/>
              </a:rPr>
              <a:t>its 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 spc="-5">
                <a:latin typeface="Calibri"/>
                <a:cs typeface="Calibri"/>
              </a:rPr>
              <a:t>only </a:t>
            </a:r>
            <a:r>
              <a:rPr dirty="0" sz="2000" spc="-10">
                <a:latin typeface="Calibri"/>
                <a:cs typeface="Calibri"/>
              </a:rPr>
              <a:t>at </a:t>
            </a:r>
            <a:r>
              <a:rPr dirty="0" sz="2000" spc="-5">
                <a:latin typeface="Calibri"/>
                <a:cs typeface="Calibri"/>
              </a:rPr>
              <a:t>very low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PO</a:t>
            </a:r>
            <a:r>
              <a:rPr dirty="0" sz="1600" spc="-5">
                <a:latin typeface="Calibri"/>
                <a:cs typeface="Calibri"/>
              </a:rPr>
              <a:t>2.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62559"/>
            <a:ext cx="3567429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b="0" u="sng">
                <a:latin typeface="Calibri Light"/>
                <a:cs typeface="Calibri Light"/>
              </a:rPr>
              <a:t>The </a:t>
            </a:r>
            <a:r>
              <a:rPr dirty="0" sz="2000" spc="-10" b="0" u="sng">
                <a:latin typeface="Calibri Light"/>
                <a:cs typeface="Calibri Light"/>
              </a:rPr>
              <a:t>O</a:t>
            </a:r>
            <a:r>
              <a:rPr dirty="0" sz="1600" spc="-10" b="0" u="sng">
                <a:latin typeface="Calibri Light"/>
                <a:cs typeface="Calibri Light"/>
              </a:rPr>
              <a:t>2 </a:t>
            </a:r>
            <a:r>
              <a:rPr dirty="0" sz="2000" spc="-15" b="0" u="sng">
                <a:latin typeface="Calibri Light"/>
                <a:cs typeface="Calibri Light"/>
              </a:rPr>
              <a:t>dissociation </a:t>
            </a:r>
            <a:r>
              <a:rPr dirty="0" sz="2000" spc="-10" b="0" u="sng">
                <a:latin typeface="Calibri Light"/>
                <a:cs typeface="Calibri Light"/>
              </a:rPr>
              <a:t>curve</a:t>
            </a:r>
            <a:r>
              <a:rPr dirty="0" sz="2000" spc="-30" b="0" u="sng">
                <a:latin typeface="Calibri Light"/>
                <a:cs typeface="Calibri Light"/>
              </a:rPr>
              <a:t> </a:t>
            </a:r>
            <a:r>
              <a:rPr dirty="0" sz="2000" spc="-25" b="0" u="sng">
                <a:latin typeface="Calibri Light"/>
                <a:cs typeface="Calibri Light"/>
              </a:rPr>
              <a:t>(Cont’ed)</a:t>
            </a:r>
            <a:endParaRPr sz="2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06398"/>
            <a:ext cx="7519034" cy="761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ts val="1939"/>
              </a:lnSpc>
            </a:pPr>
            <a:r>
              <a:rPr dirty="0" sz="1800" spc="-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total </a:t>
            </a:r>
            <a:r>
              <a:rPr dirty="0" sz="1800" spc="-5">
                <a:latin typeface="Calibri"/>
                <a:cs typeface="Calibri"/>
              </a:rPr>
              <a:t>amount of </a:t>
            </a:r>
            <a:r>
              <a:rPr dirty="0" sz="1800">
                <a:latin typeface="Calibri"/>
                <a:cs typeface="Calibri"/>
              </a:rPr>
              <a:t>O</a:t>
            </a:r>
            <a:r>
              <a:rPr dirty="0" sz="1400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blood depends mostly on Hb </a:t>
            </a:r>
            <a:r>
              <a:rPr dirty="0" sz="1800" spc="-10">
                <a:latin typeface="Calibri"/>
                <a:cs typeface="Calibri"/>
              </a:rPr>
              <a:t>concentration. </a:t>
            </a:r>
            <a:r>
              <a:rPr dirty="0" sz="1800">
                <a:latin typeface="Calibri"/>
                <a:cs typeface="Calibri"/>
              </a:rPr>
              <a:t>Under  </a:t>
            </a:r>
            <a:r>
              <a:rPr dirty="0" sz="1800" spc="-10">
                <a:latin typeface="Calibri"/>
                <a:cs typeface="Calibri"/>
              </a:rPr>
              <a:t>conditions </a:t>
            </a:r>
            <a:r>
              <a:rPr dirty="0" sz="1800" spc="-5">
                <a:latin typeface="Calibri"/>
                <a:cs typeface="Calibri"/>
              </a:rPr>
              <a:t>of decreased Hb </a:t>
            </a:r>
            <a:r>
              <a:rPr dirty="0" sz="1800" spc="-10">
                <a:latin typeface="Calibri"/>
                <a:cs typeface="Calibri"/>
              </a:rPr>
              <a:t>concentration </a:t>
            </a:r>
            <a:r>
              <a:rPr dirty="0" sz="1800" spc="-5">
                <a:latin typeface="Calibri"/>
                <a:cs typeface="Calibri"/>
              </a:rPr>
              <a:t>(anaemia) even </a:t>
            </a:r>
            <a:r>
              <a:rPr dirty="0" sz="1800">
                <a:latin typeface="Calibri"/>
                <a:cs typeface="Calibri"/>
              </a:rPr>
              <a:t>when </a:t>
            </a:r>
            <a:r>
              <a:rPr dirty="0" sz="1800" spc="10">
                <a:latin typeface="Calibri"/>
                <a:cs typeface="Calibri"/>
              </a:rPr>
              <a:t>O</a:t>
            </a:r>
            <a:r>
              <a:rPr dirty="0" sz="1400" spc="10">
                <a:latin typeface="Calibri"/>
                <a:cs typeface="Calibri"/>
              </a:rPr>
              <a:t>2 </a:t>
            </a:r>
            <a:r>
              <a:rPr dirty="0" sz="1800" spc="-10">
                <a:latin typeface="Calibri"/>
                <a:cs typeface="Calibri"/>
              </a:rPr>
              <a:t>saturation </a:t>
            </a:r>
            <a:r>
              <a:rPr dirty="0" sz="1800">
                <a:latin typeface="Calibri"/>
                <a:cs typeface="Calibri"/>
              </a:rPr>
              <a:t>is  </a:t>
            </a:r>
            <a:r>
              <a:rPr dirty="0" sz="1800" spc="-5">
                <a:latin typeface="Calibri"/>
                <a:cs typeface="Calibri"/>
              </a:rPr>
              <a:t>97.5%, less </a:t>
            </a:r>
            <a:r>
              <a:rPr dirty="0" sz="1800">
                <a:latin typeface="Calibri"/>
                <a:cs typeface="Calibri"/>
              </a:rPr>
              <a:t>O</a:t>
            </a:r>
            <a:r>
              <a:rPr dirty="0" sz="1400">
                <a:latin typeface="Calibri"/>
                <a:cs typeface="Calibri"/>
              </a:rPr>
              <a:t>2 </a:t>
            </a:r>
            <a:r>
              <a:rPr dirty="0" sz="1800" spc="-10">
                <a:latin typeface="Calibri"/>
                <a:cs typeface="Calibri"/>
              </a:rPr>
              <a:t>can </a:t>
            </a:r>
            <a:r>
              <a:rPr dirty="0" sz="1800" spc="-5">
                <a:latin typeface="Calibri"/>
                <a:cs typeface="Calibri"/>
              </a:rPr>
              <a:t>be carried in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blood </a:t>
            </a:r>
            <a:r>
              <a:rPr dirty="0" sz="1800" spc="-10">
                <a:latin typeface="Calibri"/>
                <a:cs typeface="Calibri"/>
              </a:rPr>
              <a:t>by</a:t>
            </a:r>
            <a:r>
              <a:rPr dirty="0" sz="1800" spc="1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Hb.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0800" y="2650235"/>
            <a:ext cx="4800600" cy="39532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62559"/>
            <a:ext cx="1826895" cy="33083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30"/>
              <a:t>D. </a:t>
            </a:r>
            <a:r>
              <a:rPr dirty="0" sz="2000" spc="-5" u="sng"/>
              <a:t>The </a:t>
            </a:r>
            <a:r>
              <a:rPr dirty="0" sz="2000" spc="-10" u="sng"/>
              <a:t>Bohr</a:t>
            </a:r>
            <a:r>
              <a:rPr dirty="0" sz="2000" spc="-160" u="sng"/>
              <a:t> </a:t>
            </a:r>
            <a:r>
              <a:rPr dirty="0" sz="2000" spc="-35" u="sng"/>
              <a:t>Effect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35940" y="1560829"/>
            <a:ext cx="7886065" cy="2357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216535">
              <a:lnSpc>
                <a:spcPct val="80000"/>
              </a:lnSpc>
            </a:pPr>
            <a:r>
              <a:rPr dirty="0" sz="1800" spc="-5">
                <a:latin typeface="Arial"/>
                <a:cs typeface="Arial"/>
              </a:rPr>
              <a:t>•</a:t>
            </a:r>
            <a:r>
              <a:rPr dirty="0" sz="1800" spc="-5">
                <a:latin typeface="Calibri"/>
                <a:cs typeface="Calibri"/>
              </a:rPr>
              <a:t>The Bohr </a:t>
            </a:r>
            <a:r>
              <a:rPr dirty="0" sz="1800" spc="-25">
                <a:latin typeface="Calibri"/>
                <a:cs typeface="Calibri"/>
              </a:rPr>
              <a:t>Effect </a:t>
            </a:r>
            <a:r>
              <a:rPr dirty="0" sz="1800" spc="-5">
                <a:latin typeface="Calibri"/>
                <a:cs typeface="Calibri"/>
              </a:rPr>
              <a:t>is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shift of </a:t>
            </a:r>
            <a:r>
              <a:rPr dirty="0" sz="1800">
                <a:latin typeface="Calibri"/>
                <a:cs typeface="Calibri"/>
              </a:rPr>
              <a:t>the HbO</a:t>
            </a:r>
            <a:r>
              <a:rPr dirty="0" sz="1400">
                <a:latin typeface="Calibri"/>
                <a:cs typeface="Calibri"/>
              </a:rPr>
              <a:t>2 </a:t>
            </a:r>
            <a:r>
              <a:rPr dirty="0" sz="1800" spc="-10">
                <a:latin typeface="Calibri"/>
                <a:cs typeface="Calibri"/>
              </a:rPr>
              <a:t>dissociation </a:t>
            </a:r>
            <a:r>
              <a:rPr dirty="0" sz="1800" spc="-5">
                <a:latin typeface="Calibri"/>
                <a:cs typeface="Calibri"/>
              </a:rPr>
              <a:t>curve </a:t>
            </a: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right </a:t>
            </a:r>
            <a:r>
              <a:rPr dirty="0" sz="1800">
                <a:latin typeface="Calibri"/>
                <a:cs typeface="Calibri"/>
              </a:rPr>
              <a:t>when </a:t>
            </a:r>
            <a:r>
              <a:rPr dirty="0" sz="1800" spc="-5">
                <a:latin typeface="Calibri"/>
                <a:cs typeface="Calibri"/>
              </a:rPr>
              <a:t>blood  </a:t>
            </a:r>
            <a:r>
              <a:rPr dirty="0" sz="1800" spc="-10">
                <a:latin typeface="Calibri"/>
                <a:cs typeface="Calibri"/>
              </a:rPr>
              <a:t>CO</a:t>
            </a:r>
            <a:r>
              <a:rPr dirty="0" sz="1400" spc="-10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or </a:t>
            </a:r>
            <a:r>
              <a:rPr dirty="0" sz="1800" spc="-10">
                <a:latin typeface="Calibri"/>
                <a:cs typeface="Calibri"/>
              </a:rPr>
              <a:t>temperature </a:t>
            </a:r>
            <a:r>
              <a:rPr dirty="0" sz="1800" spc="-5">
                <a:latin typeface="Calibri"/>
                <a:cs typeface="Calibri"/>
              </a:rPr>
              <a:t>increases, or blood pH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decreases</a:t>
            </a:r>
            <a:r>
              <a:rPr dirty="0" sz="1400" spc="-5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80000"/>
              </a:lnSpc>
              <a:spcBef>
                <a:spcPts val="1255"/>
              </a:spcBef>
            </a:pPr>
            <a:r>
              <a:rPr dirty="0" sz="1800" spc="-10">
                <a:latin typeface="Arial"/>
                <a:cs typeface="Arial"/>
              </a:rPr>
              <a:t>•</a:t>
            </a:r>
            <a:r>
              <a:rPr dirty="0" sz="1800" spc="-10">
                <a:latin typeface="Calibri"/>
                <a:cs typeface="Calibri"/>
              </a:rPr>
              <a:t>Example: </a:t>
            </a:r>
            <a:r>
              <a:rPr dirty="0" sz="1800" spc="-5">
                <a:latin typeface="Calibri"/>
                <a:cs typeface="Calibri"/>
              </a:rPr>
              <a:t>When </a:t>
            </a:r>
            <a:r>
              <a:rPr dirty="0" sz="1800" spc="-10">
                <a:latin typeface="Calibri"/>
                <a:cs typeface="Calibri"/>
              </a:rPr>
              <a:t>we </a:t>
            </a:r>
            <a:r>
              <a:rPr dirty="0" sz="1800" spc="-15">
                <a:latin typeface="Calibri"/>
                <a:cs typeface="Calibri"/>
              </a:rPr>
              <a:t>exercise, </a:t>
            </a:r>
            <a:r>
              <a:rPr dirty="0" sz="1800" spc="-10">
                <a:latin typeface="Calibri"/>
                <a:cs typeface="Calibri"/>
              </a:rPr>
              <a:t>we </a:t>
            </a:r>
            <a:r>
              <a:rPr dirty="0" sz="1800" spc="-5">
                <a:latin typeface="Calibri"/>
                <a:cs typeface="Calibri"/>
              </a:rPr>
              <a:t>increase our </a:t>
            </a:r>
            <a:r>
              <a:rPr dirty="0" sz="1800">
                <a:latin typeface="Calibri"/>
                <a:cs typeface="Calibri"/>
              </a:rPr>
              <a:t>CO</a:t>
            </a:r>
            <a:r>
              <a:rPr dirty="0" sz="1400">
                <a:latin typeface="Calibri"/>
                <a:cs typeface="Calibri"/>
              </a:rPr>
              <a:t>2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5">
                <a:latin typeface="Calibri"/>
                <a:cs typeface="Calibri"/>
              </a:rPr>
              <a:t>acid </a:t>
            </a:r>
            <a:r>
              <a:rPr dirty="0" sz="1800" spc="-10">
                <a:latin typeface="Calibri"/>
                <a:cs typeface="Calibri"/>
              </a:rPr>
              <a:t>production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15">
                <a:latin typeface="Calibri"/>
                <a:cs typeface="Calibri"/>
              </a:rPr>
              <a:t>generate  </a:t>
            </a:r>
            <a:r>
              <a:rPr dirty="0" sz="1800" spc="-5">
                <a:latin typeface="Calibri"/>
                <a:cs typeface="Calibri"/>
              </a:rPr>
              <a:t>heat. The curve shifting </a:t>
            </a: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right </a:t>
            </a:r>
            <a:r>
              <a:rPr dirty="0" sz="1800">
                <a:latin typeface="Calibri"/>
                <a:cs typeface="Calibri"/>
              </a:rPr>
              <a:t>means </a:t>
            </a:r>
            <a:r>
              <a:rPr dirty="0" sz="1800" spc="-5">
                <a:latin typeface="Calibri"/>
                <a:cs typeface="Calibri"/>
              </a:rPr>
              <a:t>that </a:t>
            </a:r>
            <a:r>
              <a:rPr dirty="0" sz="1800" spc="-15">
                <a:latin typeface="Calibri"/>
                <a:cs typeface="Calibri"/>
              </a:rPr>
              <a:t>for </a:t>
            </a: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5">
                <a:latin typeface="Calibri"/>
                <a:cs typeface="Calibri"/>
              </a:rPr>
              <a:t>given </a:t>
            </a:r>
            <a:r>
              <a:rPr dirty="0" sz="1800" spc="-10">
                <a:latin typeface="Calibri"/>
                <a:cs typeface="Calibri"/>
              </a:rPr>
              <a:t>drop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PO</a:t>
            </a:r>
            <a:r>
              <a:rPr dirty="0" sz="1400">
                <a:latin typeface="Calibri"/>
                <a:cs typeface="Calibri"/>
              </a:rPr>
              <a:t>2</a:t>
            </a:r>
            <a:r>
              <a:rPr dirty="0" sz="1800">
                <a:latin typeface="Calibri"/>
                <a:cs typeface="Calibri"/>
              </a:rPr>
              <a:t>, an </a:t>
            </a:r>
            <a:r>
              <a:rPr dirty="0" sz="1800" spc="-5">
                <a:latin typeface="Calibri"/>
                <a:cs typeface="Calibri"/>
              </a:rPr>
              <a:t>additional  amount of </a:t>
            </a:r>
            <a:r>
              <a:rPr dirty="0" sz="1800">
                <a:latin typeface="Calibri"/>
                <a:cs typeface="Calibri"/>
              </a:rPr>
              <a:t>O</a:t>
            </a:r>
            <a:r>
              <a:rPr dirty="0" sz="1400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is released </a:t>
            </a:r>
            <a:r>
              <a:rPr dirty="0" sz="1800" spc="-10">
                <a:latin typeface="Calibri"/>
                <a:cs typeface="Calibri"/>
              </a:rPr>
              <a:t>from </a:t>
            </a:r>
            <a:r>
              <a:rPr dirty="0" sz="1800" spc="-5">
                <a:latin typeface="Calibri"/>
                <a:cs typeface="Calibri"/>
              </a:rPr>
              <a:t>Hb </a:t>
            </a: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working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tissues.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Times New Roman"/>
              <a:cs typeface="Times New Roman"/>
            </a:endParaRPr>
          </a:p>
          <a:p>
            <a:pPr algn="just" marL="12700">
              <a:lnSpc>
                <a:spcPts val="1730"/>
              </a:lnSpc>
            </a:pPr>
            <a:r>
              <a:rPr dirty="0" sz="1600" spc="-10">
                <a:latin typeface="Calibri"/>
                <a:cs typeface="Calibri"/>
              </a:rPr>
              <a:t>(Note </a:t>
            </a:r>
            <a:r>
              <a:rPr dirty="0" sz="1600" spc="-5">
                <a:latin typeface="Calibri"/>
                <a:cs typeface="Calibri"/>
              </a:rPr>
              <a:t>that these </a:t>
            </a:r>
            <a:r>
              <a:rPr dirty="0" sz="1600" spc="-15">
                <a:latin typeface="Calibri"/>
                <a:cs typeface="Calibri"/>
              </a:rPr>
              <a:t>factors have </a:t>
            </a:r>
            <a:r>
              <a:rPr dirty="0" sz="1600" spc="-5">
                <a:latin typeface="Calibri"/>
                <a:cs typeface="Calibri"/>
              </a:rPr>
              <a:t>little </a:t>
            </a:r>
            <a:r>
              <a:rPr dirty="0" sz="1600" spc="-15">
                <a:latin typeface="Calibri"/>
                <a:cs typeface="Calibri"/>
              </a:rPr>
              <a:t>effect </a:t>
            </a:r>
            <a:r>
              <a:rPr dirty="0" sz="1600" spc="-5">
                <a:latin typeface="Calibri"/>
                <a:cs typeface="Calibri"/>
              </a:rPr>
              <a:t>on the </a:t>
            </a:r>
            <a:r>
              <a:rPr dirty="0" sz="1600" spc="-10">
                <a:latin typeface="Calibri"/>
                <a:cs typeface="Calibri"/>
              </a:rPr>
              <a:t>total </a:t>
            </a:r>
            <a:r>
              <a:rPr dirty="0" sz="1600" spc="-5">
                <a:latin typeface="Calibri"/>
                <a:cs typeface="Calibri"/>
              </a:rPr>
              <a:t>amount of O2 </a:t>
            </a:r>
            <a:r>
              <a:rPr dirty="0" sz="1600" spc="-10">
                <a:latin typeface="Calibri"/>
                <a:cs typeface="Calibri"/>
              </a:rPr>
              <a:t>combined </a:t>
            </a:r>
            <a:r>
              <a:rPr dirty="0" sz="1600">
                <a:latin typeface="Calibri"/>
                <a:cs typeface="Calibri"/>
              </a:rPr>
              <a:t>with </a:t>
            </a:r>
            <a:r>
              <a:rPr dirty="0" sz="1600" spc="-5">
                <a:latin typeface="Calibri"/>
                <a:cs typeface="Calibri"/>
              </a:rPr>
              <a:t>Hb</a:t>
            </a:r>
            <a:r>
              <a:rPr dirty="0" sz="1600" spc="1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above</a:t>
            </a:r>
            <a:endParaRPr sz="1600">
              <a:latin typeface="Calibri"/>
              <a:cs typeface="Calibri"/>
            </a:endParaRPr>
          </a:p>
          <a:p>
            <a:pPr algn="just" marL="12700">
              <a:lnSpc>
                <a:spcPts val="1730"/>
              </a:lnSpc>
            </a:pPr>
            <a:r>
              <a:rPr dirty="0" sz="1600" spc="-5">
                <a:latin typeface="Calibri"/>
                <a:cs typeface="Calibri"/>
              </a:rPr>
              <a:t>80 mm</a:t>
            </a:r>
            <a:r>
              <a:rPr dirty="0" sz="1600" spc="-85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Hg).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00" y="609717"/>
            <a:ext cx="4956745" cy="51052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36394" y="6138671"/>
            <a:ext cx="4345305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200" spc="-5" i="1">
                <a:latin typeface="Arial"/>
                <a:cs typeface="Arial"/>
              </a:rPr>
              <a:t>Reproduced </a:t>
            </a:r>
            <a:r>
              <a:rPr dirty="0" sz="1200" i="1">
                <a:latin typeface="Arial"/>
                <a:cs typeface="Arial"/>
              </a:rPr>
              <a:t>from </a:t>
            </a:r>
            <a:r>
              <a:rPr dirty="0" sz="1200" spc="-5" i="1">
                <a:latin typeface="Arial"/>
                <a:cs typeface="Arial"/>
              </a:rPr>
              <a:t>West: Respiratory Physiology- </a:t>
            </a:r>
            <a:r>
              <a:rPr dirty="0" sz="1200" i="1">
                <a:latin typeface="Arial"/>
                <a:cs typeface="Arial"/>
              </a:rPr>
              <a:t>the</a:t>
            </a:r>
            <a:r>
              <a:rPr dirty="0" sz="1200" spc="10" i="1">
                <a:latin typeface="Arial"/>
                <a:cs typeface="Arial"/>
              </a:rPr>
              <a:t> </a:t>
            </a:r>
            <a:r>
              <a:rPr dirty="0" sz="1200" spc="-5" i="1">
                <a:latin typeface="Arial"/>
                <a:cs typeface="Arial"/>
              </a:rPr>
              <a:t>essentials).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32175" y="192023"/>
            <a:ext cx="1727200" cy="28511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b="1" u="heavy">
                <a:solidFill>
                  <a:srgbClr val="44536A"/>
                </a:solidFill>
                <a:latin typeface="Arial"/>
                <a:cs typeface="Arial"/>
              </a:rPr>
              <a:t>The Bohr</a:t>
            </a:r>
            <a:r>
              <a:rPr dirty="0" sz="1800" spc="-85" b="1" u="heavy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1800" spc="-5" b="1" u="heavy">
                <a:solidFill>
                  <a:srgbClr val="44536A"/>
                </a:solidFill>
                <a:latin typeface="Arial"/>
                <a:cs typeface="Arial"/>
              </a:rPr>
              <a:t>Effect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91561" y="1660500"/>
            <a:ext cx="3886835" cy="3217545"/>
          </a:xfrm>
          <a:custGeom>
            <a:avLst/>
            <a:gdLst/>
            <a:ahLst/>
            <a:cxnLst/>
            <a:rect l="l" t="t" r="r" b="b"/>
            <a:pathLst>
              <a:path w="3886835" h="3217545">
                <a:moveTo>
                  <a:pt x="0" y="3217061"/>
                </a:moveTo>
                <a:lnTo>
                  <a:pt x="40640" y="3197961"/>
                </a:lnTo>
                <a:lnTo>
                  <a:pt x="81280" y="3178555"/>
                </a:lnTo>
                <a:lnTo>
                  <a:pt x="121921" y="3158540"/>
                </a:lnTo>
                <a:lnTo>
                  <a:pt x="162562" y="3137610"/>
                </a:lnTo>
                <a:lnTo>
                  <a:pt x="203204" y="3115461"/>
                </a:lnTo>
                <a:lnTo>
                  <a:pt x="243848" y="3091789"/>
                </a:lnTo>
                <a:lnTo>
                  <a:pt x="284492" y="3066287"/>
                </a:lnTo>
                <a:lnTo>
                  <a:pt x="325139" y="3038652"/>
                </a:lnTo>
                <a:lnTo>
                  <a:pt x="365787" y="3008578"/>
                </a:lnTo>
                <a:lnTo>
                  <a:pt x="406437" y="2975761"/>
                </a:lnTo>
                <a:lnTo>
                  <a:pt x="447090" y="2939897"/>
                </a:lnTo>
                <a:lnTo>
                  <a:pt x="487745" y="2900679"/>
                </a:lnTo>
                <a:lnTo>
                  <a:pt x="528402" y="2857804"/>
                </a:lnTo>
                <a:lnTo>
                  <a:pt x="569063" y="2810966"/>
                </a:lnTo>
                <a:lnTo>
                  <a:pt x="609726" y="2759861"/>
                </a:lnTo>
                <a:lnTo>
                  <a:pt x="633227" y="2727931"/>
                </a:lnTo>
                <a:lnTo>
                  <a:pt x="656827" y="2693789"/>
                </a:lnTo>
                <a:lnTo>
                  <a:pt x="680514" y="2657592"/>
                </a:lnTo>
                <a:lnTo>
                  <a:pt x="704274" y="2619497"/>
                </a:lnTo>
                <a:lnTo>
                  <a:pt x="728095" y="2579658"/>
                </a:lnTo>
                <a:lnTo>
                  <a:pt x="751964" y="2538233"/>
                </a:lnTo>
                <a:lnTo>
                  <a:pt x="775868" y="2495377"/>
                </a:lnTo>
                <a:lnTo>
                  <a:pt x="799793" y="2451246"/>
                </a:lnTo>
                <a:lnTo>
                  <a:pt x="823727" y="2405997"/>
                </a:lnTo>
                <a:lnTo>
                  <a:pt x="847656" y="2359785"/>
                </a:lnTo>
                <a:lnTo>
                  <a:pt x="871569" y="2312767"/>
                </a:lnTo>
                <a:lnTo>
                  <a:pt x="895450" y="2265099"/>
                </a:lnTo>
                <a:lnTo>
                  <a:pt x="919289" y="2216936"/>
                </a:lnTo>
                <a:lnTo>
                  <a:pt x="943071" y="2168436"/>
                </a:lnTo>
                <a:lnTo>
                  <a:pt x="966784" y="2119753"/>
                </a:lnTo>
                <a:lnTo>
                  <a:pt x="990414" y="2071044"/>
                </a:lnTo>
                <a:lnTo>
                  <a:pt x="1013949" y="2022465"/>
                </a:lnTo>
                <a:lnTo>
                  <a:pt x="1037376" y="1974172"/>
                </a:lnTo>
                <a:lnTo>
                  <a:pt x="1060681" y="1926322"/>
                </a:lnTo>
                <a:lnTo>
                  <a:pt x="1083852" y="1879070"/>
                </a:lnTo>
                <a:lnTo>
                  <a:pt x="1106876" y="1832572"/>
                </a:lnTo>
                <a:lnTo>
                  <a:pt x="1129739" y="1786985"/>
                </a:lnTo>
                <a:lnTo>
                  <a:pt x="1152428" y="1742464"/>
                </a:lnTo>
                <a:lnTo>
                  <a:pt x="1174931" y="1699166"/>
                </a:lnTo>
                <a:lnTo>
                  <a:pt x="1197235" y="1657246"/>
                </a:lnTo>
                <a:lnTo>
                  <a:pt x="1219327" y="1616861"/>
                </a:lnTo>
                <a:lnTo>
                  <a:pt x="1246291" y="1567888"/>
                </a:lnTo>
                <a:lnTo>
                  <a:pt x="1272787" y="1518989"/>
                </a:lnTo>
                <a:lnTo>
                  <a:pt x="1298866" y="1470237"/>
                </a:lnTo>
                <a:lnTo>
                  <a:pt x="1324575" y="1421708"/>
                </a:lnTo>
                <a:lnTo>
                  <a:pt x="1349965" y="1373475"/>
                </a:lnTo>
                <a:lnTo>
                  <a:pt x="1375084" y="1325613"/>
                </a:lnTo>
                <a:lnTo>
                  <a:pt x="1399982" y="1278195"/>
                </a:lnTo>
                <a:lnTo>
                  <a:pt x="1424707" y="1231295"/>
                </a:lnTo>
                <a:lnTo>
                  <a:pt x="1449309" y="1184987"/>
                </a:lnTo>
                <a:lnTo>
                  <a:pt x="1473838" y="1139346"/>
                </a:lnTo>
                <a:lnTo>
                  <a:pt x="1498342" y="1094446"/>
                </a:lnTo>
                <a:lnTo>
                  <a:pt x="1522871" y="1050360"/>
                </a:lnTo>
                <a:lnTo>
                  <a:pt x="1547473" y="1007163"/>
                </a:lnTo>
                <a:lnTo>
                  <a:pt x="1572198" y="964928"/>
                </a:lnTo>
                <a:lnTo>
                  <a:pt x="1597096" y="923730"/>
                </a:lnTo>
                <a:lnTo>
                  <a:pt x="1622215" y="883643"/>
                </a:lnTo>
                <a:lnTo>
                  <a:pt x="1647605" y="844741"/>
                </a:lnTo>
                <a:lnTo>
                  <a:pt x="1673314" y="807097"/>
                </a:lnTo>
                <a:lnTo>
                  <a:pt x="1699393" y="770787"/>
                </a:lnTo>
                <a:lnTo>
                  <a:pt x="1725889" y="735884"/>
                </a:lnTo>
                <a:lnTo>
                  <a:pt x="1752853" y="702461"/>
                </a:lnTo>
                <a:lnTo>
                  <a:pt x="1787605" y="660910"/>
                </a:lnTo>
                <a:lnTo>
                  <a:pt x="1820719" y="621871"/>
                </a:lnTo>
                <a:lnTo>
                  <a:pt x="1852643" y="585175"/>
                </a:lnTo>
                <a:lnTo>
                  <a:pt x="1883822" y="550657"/>
                </a:lnTo>
                <a:lnTo>
                  <a:pt x="1914704" y="518147"/>
                </a:lnTo>
                <a:lnTo>
                  <a:pt x="1945735" y="487479"/>
                </a:lnTo>
                <a:lnTo>
                  <a:pt x="1977361" y="458486"/>
                </a:lnTo>
                <a:lnTo>
                  <a:pt x="2010028" y="430999"/>
                </a:lnTo>
                <a:lnTo>
                  <a:pt x="2044185" y="404852"/>
                </a:lnTo>
                <a:lnTo>
                  <a:pt x="2080275" y="379876"/>
                </a:lnTo>
                <a:lnTo>
                  <a:pt x="2118747" y="355906"/>
                </a:lnTo>
                <a:lnTo>
                  <a:pt x="2160047" y="332772"/>
                </a:lnTo>
                <a:lnTo>
                  <a:pt x="2204621" y="310308"/>
                </a:lnTo>
                <a:lnTo>
                  <a:pt x="2252916" y="288347"/>
                </a:lnTo>
                <a:lnTo>
                  <a:pt x="2305378" y="266720"/>
                </a:lnTo>
                <a:lnTo>
                  <a:pt x="2362454" y="245261"/>
                </a:lnTo>
                <a:lnTo>
                  <a:pt x="2400856" y="232242"/>
                </a:lnTo>
                <a:lnTo>
                  <a:pt x="2442565" y="219561"/>
                </a:lnTo>
                <a:lnTo>
                  <a:pt x="2487282" y="207218"/>
                </a:lnTo>
                <a:lnTo>
                  <a:pt x="2534708" y="195213"/>
                </a:lnTo>
                <a:lnTo>
                  <a:pt x="2584544" y="183546"/>
                </a:lnTo>
                <a:lnTo>
                  <a:pt x="2636490" y="172218"/>
                </a:lnTo>
                <a:lnTo>
                  <a:pt x="2690248" y="161227"/>
                </a:lnTo>
                <a:lnTo>
                  <a:pt x="2745519" y="150575"/>
                </a:lnTo>
                <a:lnTo>
                  <a:pt x="2802003" y="140261"/>
                </a:lnTo>
                <a:lnTo>
                  <a:pt x="2859402" y="130285"/>
                </a:lnTo>
                <a:lnTo>
                  <a:pt x="2917415" y="120647"/>
                </a:lnTo>
                <a:lnTo>
                  <a:pt x="2975746" y="111348"/>
                </a:lnTo>
                <a:lnTo>
                  <a:pt x="3034093" y="102386"/>
                </a:lnTo>
                <a:lnTo>
                  <a:pt x="3092159" y="93763"/>
                </a:lnTo>
                <a:lnTo>
                  <a:pt x="3149643" y="85478"/>
                </a:lnTo>
                <a:lnTo>
                  <a:pt x="3206248" y="77531"/>
                </a:lnTo>
                <a:lnTo>
                  <a:pt x="3261674" y="69922"/>
                </a:lnTo>
                <a:lnTo>
                  <a:pt x="3315622" y="62652"/>
                </a:lnTo>
                <a:lnTo>
                  <a:pt x="3367793" y="55719"/>
                </a:lnTo>
                <a:lnTo>
                  <a:pt x="3417887" y="49125"/>
                </a:lnTo>
                <a:lnTo>
                  <a:pt x="3465606" y="42869"/>
                </a:lnTo>
                <a:lnTo>
                  <a:pt x="3510651" y="36951"/>
                </a:lnTo>
                <a:lnTo>
                  <a:pt x="3552723" y="31372"/>
                </a:lnTo>
                <a:lnTo>
                  <a:pt x="3591522" y="26130"/>
                </a:lnTo>
                <a:lnTo>
                  <a:pt x="3626750" y="21227"/>
                </a:lnTo>
                <a:lnTo>
                  <a:pt x="3658108" y="16661"/>
                </a:lnTo>
                <a:lnTo>
                  <a:pt x="3748748" y="4665"/>
                </a:lnTo>
                <a:lnTo>
                  <a:pt x="3807842" y="0"/>
                </a:lnTo>
                <a:lnTo>
                  <a:pt x="3842720" y="666"/>
                </a:lnTo>
                <a:lnTo>
                  <a:pt x="3860715" y="4665"/>
                </a:lnTo>
                <a:lnTo>
                  <a:pt x="3869157" y="9997"/>
                </a:lnTo>
                <a:lnTo>
                  <a:pt x="3875377" y="14662"/>
                </a:lnTo>
                <a:lnTo>
                  <a:pt x="3886708" y="16661"/>
                </a:lnTo>
              </a:path>
            </a:pathLst>
          </a:custGeom>
          <a:ln w="3810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86961" y="2439161"/>
            <a:ext cx="0" cy="2438400"/>
          </a:xfrm>
          <a:custGeom>
            <a:avLst/>
            <a:gdLst/>
            <a:ahLst/>
            <a:cxnLst/>
            <a:rect l="l" t="t" r="r" b="b"/>
            <a:pathLst>
              <a:path w="0" h="2438400">
                <a:moveTo>
                  <a:pt x="0" y="2438400"/>
                </a:moveTo>
                <a:lnTo>
                  <a:pt x="0" y="0"/>
                </a:lnTo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91561" y="2439161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 h="0">
                <a:moveTo>
                  <a:pt x="1295400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91561" y="3124961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 h="0">
                <a:moveTo>
                  <a:pt x="1295400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7084"/>
            <a:ext cx="3687445" cy="3937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E. </a:t>
            </a:r>
            <a:r>
              <a:rPr dirty="0" spc="-15" u="heavy"/>
              <a:t>Carbon </a:t>
            </a:r>
            <a:r>
              <a:rPr dirty="0" spc="-25" u="heavy"/>
              <a:t>monoxide</a:t>
            </a:r>
            <a:r>
              <a:rPr dirty="0" spc="-185" u="heavy"/>
              <a:t> </a:t>
            </a:r>
            <a:r>
              <a:rPr dirty="0" spc="-20" u="heavy"/>
              <a:t>poisoning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4141"/>
            <a:ext cx="7985125" cy="2661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4785" marR="220979" indent="-172085">
              <a:lnSpc>
                <a:spcPct val="70000"/>
              </a:lnSpc>
              <a:buFont typeface="Arial"/>
              <a:buChar char="•"/>
              <a:tabLst>
                <a:tab pos="185420" algn="l"/>
              </a:tabLst>
            </a:pPr>
            <a:r>
              <a:rPr dirty="0" sz="1900" spc="-15">
                <a:latin typeface="Calibri"/>
                <a:cs typeface="Calibri"/>
              </a:rPr>
              <a:t>CO </a:t>
            </a:r>
            <a:r>
              <a:rPr dirty="0" sz="1900" spc="-10">
                <a:latin typeface="Calibri"/>
                <a:cs typeface="Calibri"/>
              </a:rPr>
              <a:t>has </a:t>
            </a:r>
            <a:r>
              <a:rPr dirty="0" sz="1900" spc="-5">
                <a:latin typeface="Calibri"/>
                <a:cs typeface="Calibri"/>
              </a:rPr>
              <a:t>an </a:t>
            </a:r>
            <a:r>
              <a:rPr dirty="0" sz="1900" spc="-10">
                <a:latin typeface="Calibri"/>
                <a:cs typeface="Calibri"/>
              </a:rPr>
              <a:t>extremely high affinity </a:t>
            </a:r>
            <a:r>
              <a:rPr dirty="0" sz="1900" spc="-20">
                <a:latin typeface="Calibri"/>
                <a:cs typeface="Calibri"/>
              </a:rPr>
              <a:t>for </a:t>
            </a:r>
            <a:r>
              <a:rPr dirty="0" sz="1900" spc="-5">
                <a:latin typeface="Calibri"/>
                <a:cs typeface="Calibri"/>
              </a:rPr>
              <a:t>the </a:t>
            </a:r>
            <a:r>
              <a:rPr dirty="0" sz="1900" spc="5">
                <a:latin typeface="Calibri"/>
                <a:cs typeface="Calibri"/>
              </a:rPr>
              <a:t>O</a:t>
            </a:r>
            <a:r>
              <a:rPr dirty="0" sz="1500" spc="5">
                <a:latin typeface="Calibri"/>
                <a:cs typeface="Calibri"/>
              </a:rPr>
              <a:t>2 </a:t>
            </a:r>
            <a:r>
              <a:rPr dirty="0" sz="1900" spc="-10">
                <a:latin typeface="Calibri"/>
                <a:cs typeface="Calibri"/>
              </a:rPr>
              <a:t>binding sites </a:t>
            </a:r>
            <a:r>
              <a:rPr dirty="0" sz="1900" spc="-5">
                <a:latin typeface="Calibri"/>
                <a:cs typeface="Calibri"/>
              </a:rPr>
              <a:t>in </a:t>
            </a:r>
            <a:r>
              <a:rPr dirty="0" sz="1900" spc="-10">
                <a:latin typeface="Calibri"/>
                <a:cs typeface="Calibri"/>
              </a:rPr>
              <a:t>hemoglobin </a:t>
            </a:r>
            <a:r>
              <a:rPr dirty="0" sz="1900" spc="-5">
                <a:latin typeface="Calibri"/>
                <a:cs typeface="Calibri"/>
              </a:rPr>
              <a:t>(210-  </a:t>
            </a:r>
            <a:r>
              <a:rPr dirty="0" sz="1900" spc="-15">
                <a:latin typeface="Calibri"/>
                <a:cs typeface="Calibri"/>
              </a:rPr>
              <a:t>fold).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15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dirty="0" sz="1900" spc="-20">
                <a:latin typeface="Calibri"/>
                <a:cs typeface="Calibri"/>
              </a:rPr>
              <a:t>Therefore </a:t>
            </a:r>
            <a:r>
              <a:rPr dirty="0" sz="1900" spc="-5">
                <a:latin typeface="Calibri"/>
                <a:cs typeface="Calibri"/>
              </a:rPr>
              <a:t>it </a:t>
            </a:r>
            <a:r>
              <a:rPr dirty="0" sz="1900" spc="-10">
                <a:latin typeface="Calibri"/>
                <a:cs typeface="Calibri"/>
              </a:rPr>
              <a:t>reduces </a:t>
            </a:r>
            <a:r>
              <a:rPr dirty="0" sz="1900" spc="-5">
                <a:latin typeface="Calibri"/>
                <a:cs typeface="Calibri"/>
              </a:rPr>
              <a:t>the </a:t>
            </a:r>
            <a:r>
              <a:rPr dirty="0" sz="1900" spc="-10">
                <a:latin typeface="Calibri"/>
                <a:cs typeface="Calibri"/>
              </a:rPr>
              <a:t>amount </a:t>
            </a:r>
            <a:r>
              <a:rPr dirty="0" sz="1900" spc="-5">
                <a:latin typeface="Calibri"/>
                <a:cs typeface="Calibri"/>
              </a:rPr>
              <a:t>of </a:t>
            </a:r>
            <a:r>
              <a:rPr dirty="0" sz="1900" spc="5">
                <a:latin typeface="Calibri"/>
                <a:cs typeface="Calibri"/>
              </a:rPr>
              <a:t>O</a:t>
            </a:r>
            <a:r>
              <a:rPr dirty="0" sz="1500" spc="5">
                <a:latin typeface="Calibri"/>
                <a:cs typeface="Calibri"/>
              </a:rPr>
              <a:t>2 </a:t>
            </a:r>
            <a:r>
              <a:rPr dirty="0" sz="1900" spc="-10">
                <a:latin typeface="Calibri"/>
                <a:cs typeface="Calibri"/>
              </a:rPr>
              <a:t>bound </a:t>
            </a:r>
            <a:r>
              <a:rPr dirty="0" sz="1900" spc="-15">
                <a:latin typeface="Calibri"/>
                <a:cs typeface="Calibri"/>
              </a:rPr>
              <a:t>to</a:t>
            </a:r>
            <a:r>
              <a:rPr dirty="0" sz="1900" spc="22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hemoglobin.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750">
              <a:latin typeface="Times New Roman"/>
              <a:cs typeface="Times New Roman"/>
            </a:endParaRPr>
          </a:p>
          <a:p>
            <a:pPr marL="184785" marR="5080" indent="-172085">
              <a:lnSpc>
                <a:spcPct val="70000"/>
              </a:lnSpc>
              <a:spcBef>
                <a:spcPts val="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900" spc="-5">
                <a:latin typeface="Calibri"/>
                <a:cs typeface="Calibri"/>
              </a:rPr>
              <a:t>It also shifts the O</a:t>
            </a:r>
            <a:r>
              <a:rPr dirty="0" sz="1500" spc="-5">
                <a:latin typeface="Calibri"/>
                <a:cs typeface="Calibri"/>
              </a:rPr>
              <a:t>2</a:t>
            </a:r>
            <a:r>
              <a:rPr dirty="0" sz="1900" spc="-5">
                <a:latin typeface="Calibri"/>
                <a:cs typeface="Calibri"/>
              </a:rPr>
              <a:t>-hemoglobin </a:t>
            </a:r>
            <a:r>
              <a:rPr dirty="0" sz="1900" spc="-10">
                <a:latin typeface="Calibri"/>
                <a:cs typeface="Calibri"/>
              </a:rPr>
              <a:t>curve </a:t>
            </a:r>
            <a:r>
              <a:rPr dirty="0" sz="1900" spc="-15">
                <a:latin typeface="Calibri"/>
                <a:cs typeface="Calibri"/>
              </a:rPr>
              <a:t>to </a:t>
            </a:r>
            <a:r>
              <a:rPr dirty="0" sz="1900" spc="-5">
                <a:latin typeface="Calibri"/>
                <a:cs typeface="Calibri"/>
              </a:rPr>
              <a:t>the </a:t>
            </a:r>
            <a:r>
              <a:rPr dirty="0" sz="1900" spc="-10">
                <a:latin typeface="Calibri"/>
                <a:cs typeface="Calibri"/>
              </a:rPr>
              <a:t>left, </a:t>
            </a:r>
            <a:r>
              <a:rPr dirty="0" sz="1900" spc="-5">
                <a:latin typeface="Calibri"/>
                <a:cs typeface="Calibri"/>
              </a:rPr>
              <a:t>thus </a:t>
            </a:r>
            <a:r>
              <a:rPr dirty="0" sz="1900" spc="-10">
                <a:latin typeface="Calibri"/>
                <a:cs typeface="Calibri"/>
              </a:rPr>
              <a:t>decreasing </a:t>
            </a:r>
            <a:r>
              <a:rPr dirty="0" sz="1900" spc="-5">
                <a:latin typeface="Calibri"/>
                <a:cs typeface="Calibri"/>
              </a:rPr>
              <a:t>the unloading  of </a:t>
            </a:r>
            <a:r>
              <a:rPr dirty="0" sz="1900">
                <a:latin typeface="Calibri"/>
                <a:cs typeface="Calibri"/>
              </a:rPr>
              <a:t>O</a:t>
            </a:r>
            <a:r>
              <a:rPr dirty="0" sz="1500">
                <a:latin typeface="Calibri"/>
                <a:cs typeface="Calibri"/>
              </a:rPr>
              <a:t>2 </a:t>
            </a:r>
            <a:r>
              <a:rPr dirty="0" sz="1900" spc="-15">
                <a:latin typeface="Calibri"/>
                <a:cs typeface="Calibri"/>
              </a:rPr>
              <a:t>to </a:t>
            </a:r>
            <a:r>
              <a:rPr dirty="0" sz="1900" spc="-5">
                <a:latin typeface="Calibri"/>
                <a:cs typeface="Calibri"/>
              </a:rPr>
              <a:t>the</a:t>
            </a:r>
            <a:r>
              <a:rPr dirty="0" sz="1900" spc="35">
                <a:latin typeface="Calibri"/>
                <a:cs typeface="Calibri"/>
              </a:rPr>
              <a:t> </a:t>
            </a:r>
            <a:r>
              <a:rPr dirty="0" sz="1900" spc="-5">
                <a:latin typeface="Calibri"/>
                <a:cs typeface="Calibri"/>
              </a:rPr>
              <a:t>tissue.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750">
              <a:latin typeface="Times New Roman"/>
              <a:cs typeface="Times New Roman"/>
            </a:endParaRPr>
          </a:p>
          <a:p>
            <a:pPr marL="184785" marR="53340" indent="-172085">
              <a:lnSpc>
                <a:spcPct val="70000"/>
              </a:lnSpc>
              <a:buFont typeface="Arial"/>
              <a:buChar char="•"/>
              <a:tabLst>
                <a:tab pos="185420" algn="l"/>
              </a:tabLst>
            </a:pPr>
            <a:r>
              <a:rPr dirty="0" sz="1900" spc="-5">
                <a:latin typeface="Calibri"/>
                <a:cs typeface="Calibri"/>
              </a:rPr>
              <a:t>In </a:t>
            </a:r>
            <a:r>
              <a:rPr dirty="0" sz="1900" spc="-15">
                <a:latin typeface="Calibri"/>
                <a:cs typeface="Calibri"/>
              </a:rPr>
              <a:t>CO </a:t>
            </a:r>
            <a:r>
              <a:rPr dirty="0" sz="1900" spc="-10">
                <a:latin typeface="Calibri"/>
                <a:cs typeface="Calibri"/>
              </a:rPr>
              <a:t>poisoning, there </a:t>
            </a:r>
            <a:r>
              <a:rPr dirty="0" sz="1900" spc="-5">
                <a:latin typeface="Calibri"/>
                <a:cs typeface="Calibri"/>
              </a:rPr>
              <a:t>is </a:t>
            </a:r>
            <a:r>
              <a:rPr dirty="0" sz="1900" spc="-10">
                <a:latin typeface="Calibri"/>
                <a:cs typeface="Calibri"/>
              </a:rPr>
              <a:t>little stimulation </a:t>
            </a:r>
            <a:r>
              <a:rPr dirty="0" sz="1900" spc="-15">
                <a:latin typeface="Calibri"/>
                <a:cs typeface="Calibri"/>
              </a:rPr>
              <a:t>to </a:t>
            </a:r>
            <a:r>
              <a:rPr dirty="0" sz="1900" spc="-10">
                <a:latin typeface="Calibri"/>
                <a:cs typeface="Calibri"/>
              </a:rPr>
              <a:t>increase ventilation because </a:t>
            </a:r>
            <a:r>
              <a:rPr dirty="0" sz="1900" spc="-5">
                <a:latin typeface="Calibri"/>
                <a:cs typeface="Calibri"/>
              </a:rPr>
              <a:t>PaO</a:t>
            </a:r>
            <a:r>
              <a:rPr dirty="0" sz="1500" spc="-5">
                <a:latin typeface="Calibri"/>
                <a:cs typeface="Calibri"/>
              </a:rPr>
              <a:t>2  </a:t>
            </a:r>
            <a:r>
              <a:rPr dirty="0" sz="1900" spc="-10">
                <a:latin typeface="Calibri"/>
                <a:cs typeface="Calibri"/>
              </a:rPr>
              <a:t>remains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normal.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97002"/>
            <a:ext cx="1906905" cy="33083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10"/>
              <a:t>F. </a:t>
            </a:r>
            <a:r>
              <a:rPr dirty="0" sz="2000" spc="-35" u="sng"/>
              <a:t>Transport </a:t>
            </a:r>
            <a:r>
              <a:rPr dirty="0" sz="2000" spc="-5" u="sng"/>
              <a:t>of</a:t>
            </a:r>
            <a:r>
              <a:rPr dirty="0" sz="2000" spc="-20" u="sng"/>
              <a:t> </a:t>
            </a:r>
            <a:r>
              <a:rPr dirty="0" sz="2000" spc="-15" u="sng"/>
              <a:t>CO</a:t>
            </a:r>
            <a:r>
              <a:rPr dirty="0" sz="1600" spc="-15" u="sng"/>
              <a:t>2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35940" y="1111249"/>
            <a:ext cx="7748905" cy="24187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3840" marR="5080" indent="-231775">
              <a:lnSpc>
                <a:spcPct val="70000"/>
              </a:lnSpc>
            </a:pPr>
            <a:r>
              <a:rPr dirty="0" sz="1800" spc="-10">
                <a:latin typeface="Calibri"/>
                <a:cs typeface="Calibri"/>
              </a:rPr>
              <a:t>CO</a:t>
            </a:r>
            <a:r>
              <a:rPr dirty="0" sz="1400" spc="-10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is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primary </a:t>
            </a:r>
            <a:r>
              <a:rPr dirty="0" sz="1800" spc="-10">
                <a:latin typeface="Calibri"/>
                <a:cs typeface="Calibri"/>
              </a:rPr>
              <a:t>product </a:t>
            </a:r>
            <a:r>
              <a:rPr dirty="0" sz="1800" spc="-5">
                <a:latin typeface="Calibri"/>
                <a:cs typeface="Calibri"/>
              </a:rPr>
              <a:t>of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oxidative </a:t>
            </a:r>
            <a:r>
              <a:rPr dirty="0" sz="1800" spc="-5">
                <a:latin typeface="Calibri"/>
                <a:cs typeface="Calibri"/>
              </a:rPr>
              <a:t>processes </a:t>
            </a:r>
            <a:r>
              <a:rPr dirty="0" sz="1800" spc="-10">
                <a:latin typeface="Calibri"/>
                <a:cs typeface="Calibri"/>
              </a:rPr>
              <a:t>taking </a:t>
            </a:r>
            <a:r>
              <a:rPr dirty="0" sz="1800" spc="-5">
                <a:latin typeface="Calibri"/>
                <a:cs typeface="Calibri"/>
              </a:rPr>
              <a:t>place in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body cells, 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5">
                <a:latin typeface="Calibri"/>
                <a:cs typeface="Calibri"/>
              </a:rPr>
              <a:t>it is </a:t>
            </a:r>
            <a:r>
              <a:rPr dirty="0" sz="1800" spc="-10">
                <a:latin typeface="Calibri"/>
                <a:cs typeface="Calibri"/>
              </a:rPr>
              <a:t>removed from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tissues by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blood.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Calibri"/>
                <a:cs typeface="Calibri"/>
              </a:rPr>
              <a:t>CO</a:t>
            </a:r>
            <a:r>
              <a:rPr dirty="0" sz="1400" spc="-10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is carried in </a:t>
            </a:r>
            <a:r>
              <a:rPr dirty="0" sz="1800" spc="-10">
                <a:latin typeface="Calibri"/>
                <a:cs typeface="Calibri"/>
              </a:rPr>
              <a:t>three forms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3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blood: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AutoNum type="arabicParenR"/>
              <a:tabLst>
                <a:tab pos="296545" algn="l"/>
              </a:tabLst>
            </a:pPr>
            <a:r>
              <a:rPr dirty="0" sz="1800" spc="-10" b="1">
                <a:latin typeface="Calibri"/>
                <a:cs typeface="Calibri"/>
              </a:rPr>
              <a:t>Physically </a:t>
            </a:r>
            <a:r>
              <a:rPr dirty="0" sz="1800" spc="-5" b="1">
                <a:latin typeface="Calibri"/>
                <a:cs typeface="Calibri"/>
              </a:rPr>
              <a:t>dissolved </a:t>
            </a:r>
            <a:r>
              <a:rPr dirty="0" sz="1800" b="1">
                <a:latin typeface="Calibri"/>
                <a:cs typeface="Calibri"/>
              </a:rPr>
              <a:t>in </a:t>
            </a:r>
            <a:r>
              <a:rPr dirty="0" sz="1800" spc="-5" b="1">
                <a:latin typeface="Calibri"/>
                <a:cs typeface="Calibri"/>
              </a:rPr>
              <a:t>blood</a:t>
            </a:r>
            <a:r>
              <a:rPr dirty="0" sz="1800" spc="-110" b="1">
                <a:latin typeface="Calibri"/>
                <a:cs typeface="Calibri"/>
              </a:rPr>
              <a:t> </a:t>
            </a:r>
            <a:r>
              <a:rPr dirty="0" sz="1800" b="1" u="heavy">
                <a:latin typeface="Calibri"/>
                <a:cs typeface="Calibri"/>
              </a:rPr>
              <a:t>(10%)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Calibri"/>
              <a:buAutoNum type="arabicParenR"/>
            </a:pPr>
            <a:endParaRPr sz="2100">
              <a:latin typeface="Times New Roman"/>
              <a:cs typeface="Times New Roman"/>
            </a:endParaRPr>
          </a:p>
          <a:p>
            <a:pPr marL="251460" indent="-238760">
              <a:lnSpc>
                <a:spcPct val="100000"/>
              </a:lnSpc>
              <a:buAutoNum type="arabicParenR"/>
              <a:tabLst>
                <a:tab pos="252095" algn="l"/>
              </a:tabLst>
            </a:pPr>
            <a:r>
              <a:rPr dirty="0" sz="1800" spc="-5" b="1">
                <a:latin typeface="Calibri"/>
                <a:cs typeface="Calibri"/>
              </a:rPr>
              <a:t>Combined with </a:t>
            </a:r>
            <a:r>
              <a:rPr dirty="0" sz="1800" b="1">
                <a:latin typeface="Calibri"/>
                <a:cs typeface="Calibri"/>
              </a:rPr>
              <a:t>Hb </a:t>
            </a:r>
            <a:r>
              <a:rPr dirty="0" sz="1800" spc="-10" b="1">
                <a:latin typeface="Calibri"/>
                <a:cs typeface="Calibri"/>
              </a:rPr>
              <a:t>to form </a:t>
            </a:r>
            <a:r>
              <a:rPr dirty="0" sz="1800" spc="-5" b="1">
                <a:latin typeface="Calibri"/>
                <a:cs typeface="Calibri"/>
              </a:rPr>
              <a:t>HbCO</a:t>
            </a:r>
            <a:r>
              <a:rPr dirty="0" sz="1400" spc="-5" b="1">
                <a:latin typeface="Calibri"/>
                <a:cs typeface="Calibri"/>
              </a:rPr>
              <a:t>2</a:t>
            </a:r>
            <a:r>
              <a:rPr dirty="0" sz="1400" spc="25" b="1">
                <a:latin typeface="Calibri"/>
                <a:cs typeface="Calibri"/>
              </a:rPr>
              <a:t> </a:t>
            </a:r>
            <a:r>
              <a:rPr dirty="0" sz="1800" b="1" u="heavy">
                <a:latin typeface="Calibri"/>
                <a:cs typeface="Calibri"/>
              </a:rPr>
              <a:t>(11%)</a:t>
            </a:r>
            <a:endParaRPr sz="1800">
              <a:latin typeface="Calibri"/>
              <a:cs typeface="Calibri"/>
            </a:endParaRPr>
          </a:p>
          <a:p>
            <a:pPr marL="210185">
              <a:lnSpc>
                <a:spcPct val="100000"/>
              </a:lnSpc>
              <a:spcBef>
                <a:spcPts val="290"/>
              </a:spcBef>
            </a:pPr>
            <a:r>
              <a:rPr dirty="0" sz="1400" spc="-10">
                <a:latin typeface="Calibri"/>
                <a:cs typeface="Calibri"/>
              </a:rPr>
              <a:t>(CO</a:t>
            </a:r>
            <a:r>
              <a:rPr dirty="0" sz="1000" spc="-10">
                <a:latin typeface="Calibri"/>
                <a:cs typeface="Calibri"/>
              </a:rPr>
              <a:t>2  </a:t>
            </a:r>
            <a:r>
              <a:rPr dirty="0" sz="1400" spc="-5">
                <a:latin typeface="Calibri"/>
                <a:cs typeface="Calibri"/>
              </a:rPr>
              <a:t>combines </a:t>
            </a:r>
            <a:r>
              <a:rPr dirty="0" sz="1400">
                <a:latin typeface="Calibri"/>
                <a:cs typeface="Calibri"/>
              </a:rPr>
              <a:t>with </a:t>
            </a:r>
            <a:r>
              <a:rPr dirty="0" sz="1400" spc="-5">
                <a:latin typeface="Calibri"/>
                <a:cs typeface="Calibri"/>
              </a:rPr>
              <a:t>the </a:t>
            </a:r>
            <a:r>
              <a:rPr dirty="0" sz="1400">
                <a:latin typeface="Calibri"/>
                <a:cs typeface="Calibri"/>
              </a:rPr>
              <a:t>globin </a:t>
            </a:r>
            <a:r>
              <a:rPr dirty="0" sz="1400" spc="-5">
                <a:latin typeface="Calibri"/>
                <a:cs typeface="Calibri"/>
              </a:rPr>
              <a:t>portion not</a:t>
            </a:r>
            <a:r>
              <a:rPr dirty="0" sz="1400" spc="-110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heme.)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8018" y="4114165"/>
            <a:ext cx="541655" cy="298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aided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821557"/>
            <a:ext cx="7146925" cy="25241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3) As </a:t>
            </a:r>
            <a:r>
              <a:rPr dirty="0" sz="1800" spc="-10" b="1">
                <a:latin typeface="Calibri"/>
                <a:cs typeface="Calibri"/>
              </a:rPr>
              <a:t>bicarbonate</a:t>
            </a:r>
            <a:r>
              <a:rPr dirty="0" sz="1800" spc="-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(79%)</a:t>
            </a:r>
            <a:endParaRPr sz="1800">
              <a:latin typeface="Calibri"/>
              <a:cs typeface="Calibri"/>
            </a:endParaRPr>
          </a:p>
          <a:p>
            <a:pPr marL="243840" marR="5080" indent="-22860">
              <a:lnSpc>
                <a:spcPct val="70000"/>
              </a:lnSpc>
              <a:spcBef>
                <a:spcPts val="790"/>
              </a:spcBef>
            </a:pPr>
            <a:r>
              <a:rPr dirty="0" sz="1800" spc="-10">
                <a:latin typeface="Calibri"/>
                <a:cs typeface="Calibri"/>
              </a:rPr>
              <a:t>(CO</a:t>
            </a:r>
            <a:r>
              <a:rPr dirty="0" sz="1400" spc="-10">
                <a:latin typeface="Calibri"/>
                <a:cs typeface="Calibri"/>
              </a:rPr>
              <a:t>2 </a:t>
            </a:r>
            <a:r>
              <a:rPr dirty="0" sz="1800" spc="-10">
                <a:latin typeface="Calibri"/>
                <a:cs typeface="Calibri"/>
              </a:rPr>
              <a:t>combines </a:t>
            </a:r>
            <a:r>
              <a:rPr dirty="0" sz="1800" spc="-5">
                <a:latin typeface="Calibri"/>
                <a:cs typeface="Calibri"/>
              </a:rPr>
              <a:t>with H</a:t>
            </a:r>
            <a:r>
              <a:rPr dirty="0" sz="1400" spc="-5">
                <a:latin typeface="Calibri"/>
                <a:cs typeface="Calibri"/>
              </a:rPr>
              <a:t>2</a:t>
            </a:r>
            <a:r>
              <a:rPr dirty="0" sz="1800" spc="-5">
                <a:latin typeface="Calibri"/>
                <a:cs typeface="Calibri"/>
              </a:rPr>
              <a:t>O </a:t>
            </a:r>
            <a:r>
              <a:rPr dirty="0" sz="1800" spc="-10">
                <a:latin typeface="Calibri"/>
                <a:cs typeface="Calibri"/>
              </a:rPr>
              <a:t>to produce </a:t>
            </a:r>
            <a:r>
              <a:rPr dirty="0" sz="1800" spc="-5">
                <a:latin typeface="Calibri"/>
                <a:cs typeface="Calibri"/>
              </a:rPr>
              <a:t>carbonic acid (H</a:t>
            </a:r>
            <a:r>
              <a:rPr dirty="0" sz="1400" spc="-5">
                <a:latin typeface="Calibri"/>
                <a:cs typeface="Calibri"/>
              </a:rPr>
              <a:t>2</a:t>
            </a:r>
            <a:r>
              <a:rPr dirty="0" sz="1800" spc="-5">
                <a:latin typeface="Calibri"/>
                <a:cs typeface="Calibri"/>
              </a:rPr>
              <a:t>CO</a:t>
            </a:r>
            <a:r>
              <a:rPr dirty="0" sz="1400" spc="-5">
                <a:latin typeface="Calibri"/>
                <a:cs typeface="Calibri"/>
              </a:rPr>
              <a:t>3</a:t>
            </a:r>
            <a:r>
              <a:rPr dirty="0" sz="1800" spc="-5">
                <a:latin typeface="Calibri"/>
                <a:cs typeface="Calibri"/>
              </a:rPr>
              <a:t>). This </a:t>
            </a:r>
            <a:r>
              <a:rPr dirty="0" sz="1800" spc="-10">
                <a:latin typeface="Calibri"/>
                <a:cs typeface="Calibri"/>
              </a:rPr>
              <a:t>reaction </a:t>
            </a:r>
            <a:r>
              <a:rPr dirty="0" sz="1800" spc="-5">
                <a:latin typeface="Calibri"/>
                <a:cs typeface="Calibri"/>
              </a:rPr>
              <a:t>is  in </a:t>
            </a:r>
            <a:r>
              <a:rPr dirty="0" sz="1800" spc="-10">
                <a:latin typeface="Calibri"/>
                <a:cs typeface="Calibri"/>
              </a:rPr>
              <a:t>red </a:t>
            </a:r>
            <a:r>
              <a:rPr dirty="0" sz="1800" spc="-5">
                <a:latin typeface="Calibri"/>
                <a:cs typeface="Calibri"/>
              </a:rPr>
              <a:t>blood cells by carbonic </a:t>
            </a:r>
            <a:r>
              <a:rPr dirty="0" sz="1800" spc="-15">
                <a:latin typeface="Calibri"/>
                <a:cs typeface="Calibri"/>
              </a:rPr>
              <a:t>anhydrase </a:t>
            </a:r>
            <a:r>
              <a:rPr dirty="0" sz="1800" spc="-5">
                <a:latin typeface="Calibri"/>
                <a:cs typeface="Calibri"/>
              </a:rPr>
              <a:t>(CA), </a:t>
            </a:r>
            <a:r>
              <a:rPr dirty="0" sz="1800" spc="-10">
                <a:latin typeface="Calibri"/>
                <a:cs typeface="Calibri"/>
              </a:rPr>
              <a:t>according</a:t>
            </a:r>
            <a:r>
              <a:rPr dirty="0" sz="1800" spc="1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to:</a:t>
            </a:r>
            <a:endParaRPr sz="1800">
              <a:latin typeface="Calibri"/>
              <a:cs typeface="Calibri"/>
            </a:endParaRPr>
          </a:p>
          <a:p>
            <a:pPr algn="ctr" marR="3971290">
              <a:lnSpc>
                <a:spcPct val="100000"/>
              </a:lnSpc>
              <a:spcBef>
                <a:spcPts val="254"/>
              </a:spcBef>
            </a:pPr>
            <a:r>
              <a:rPr dirty="0" sz="1400" spc="-10">
                <a:latin typeface="Arial"/>
                <a:cs typeface="Arial"/>
              </a:rPr>
              <a:t>CA</a:t>
            </a:r>
            <a:endParaRPr sz="14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365"/>
              </a:spcBef>
              <a:tabLst>
                <a:tab pos="2755900" algn="l"/>
              </a:tabLst>
            </a:pPr>
            <a:r>
              <a:rPr dirty="0" sz="1800" spc="-10" b="1">
                <a:latin typeface="Calibri"/>
                <a:cs typeface="Calibri"/>
              </a:rPr>
              <a:t>CO</a:t>
            </a:r>
            <a:r>
              <a:rPr dirty="0" sz="1400" spc="-10" b="1">
                <a:latin typeface="Calibri"/>
                <a:cs typeface="Calibri"/>
              </a:rPr>
              <a:t>2 </a:t>
            </a:r>
            <a:r>
              <a:rPr dirty="0" sz="1800" b="1">
                <a:latin typeface="Calibri"/>
                <a:cs typeface="Calibri"/>
              </a:rPr>
              <a:t>+ H</a:t>
            </a:r>
            <a:r>
              <a:rPr dirty="0" sz="1400" b="1">
                <a:latin typeface="Calibri"/>
                <a:cs typeface="Calibri"/>
              </a:rPr>
              <a:t>2</a:t>
            </a:r>
            <a:r>
              <a:rPr dirty="0" sz="1800" b="1">
                <a:latin typeface="Calibri"/>
                <a:cs typeface="Calibri"/>
              </a:rPr>
              <a:t>O</a:t>
            </a:r>
            <a:r>
              <a:rPr dirty="0" sz="1800" spc="120" b="1">
                <a:latin typeface="Calibri"/>
                <a:cs typeface="Calibri"/>
              </a:rPr>
              <a:t> </a:t>
            </a:r>
            <a:r>
              <a:rPr dirty="0" sz="1800" spc="-5" b="1">
                <a:latin typeface="Calibri"/>
                <a:cs typeface="Calibri"/>
              </a:rPr>
              <a:t>→</a:t>
            </a:r>
            <a:r>
              <a:rPr dirty="0" sz="180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H</a:t>
            </a:r>
            <a:r>
              <a:rPr dirty="0" sz="1400" spc="-10" b="1">
                <a:latin typeface="Calibri"/>
                <a:cs typeface="Calibri"/>
              </a:rPr>
              <a:t>2</a:t>
            </a:r>
            <a:r>
              <a:rPr dirty="0" sz="1800" spc="-10" b="1">
                <a:latin typeface="Calibri"/>
                <a:cs typeface="Calibri"/>
              </a:rPr>
              <a:t>CO</a:t>
            </a:r>
            <a:r>
              <a:rPr dirty="0" sz="1400" spc="-10" b="1">
                <a:latin typeface="Calibri"/>
                <a:cs typeface="Calibri"/>
              </a:rPr>
              <a:t>3	</a:t>
            </a:r>
            <a:r>
              <a:rPr dirty="0" sz="1800" b="1">
                <a:latin typeface="Calibri"/>
                <a:cs typeface="Calibri"/>
              </a:rPr>
              <a:t>(1)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Times New Roman"/>
              <a:cs typeface="Times New Roman"/>
            </a:endParaRPr>
          </a:p>
          <a:p>
            <a:pPr marL="243840">
              <a:lnSpc>
                <a:spcPct val="100000"/>
              </a:lnSpc>
            </a:pPr>
            <a:r>
              <a:rPr dirty="0" sz="1800" spc="-10">
                <a:latin typeface="Calibri"/>
                <a:cs typeface="Calibri"/>
              </a:rPr>
              <a:t>H</a:t>
            </a:r>
            <a:r>
              <a:rPr dirty="0" sz="1400" spc="-10">
                <a:latin typeface="Calibri"/>
                <a:cs typeface="Calibri"/>
              </a:rPr>
              <a:t>2</a:t>
            </a:r>
            <a:r>
              <a:rPr dirty="0" sz="1800" spc="-10">
                <a:latin typeface="Calibri"/>
                <a:cs typeface="Calibri"/>
              </a:rPr>
              <a:t>CO</a:t>
            </a:r>
            <a:r>
              <a:rPr dirty="0" sz="1400" spc="-10">
                <a:latin typeface="Calibri"/>
                <a:cs typeface="Calibri"/>
              </a:rPr>
              <a:t>3 </a:t>
            </a:r>
            <a:r>
              <a:rPr dirty="0" sz="1800">
                <a:latin typeface="Calibri"/>
                <a:cs typeface="Calibri"/>
              </a:rPr>
              <a:t>then </a:t>
            </a:r>
            <a:r>
              <a:rPr dirty="0" sz="1800" spc="-10">
                <a:latin typeface="Calibri"/>
                <a:cs typeface="Calibri"/>
              </a:rPr>
              <a:t>ionizes into bicarbonate (HCO</a:t>
            </a:r>
            <a:r>
              <a:rPr dirty="0" sz="1400" spc="-10">
                <a:latin typeface="Calibri"/>
                <a:cs typeface="Calibri"/>
              </a:rPr>
              <a:t>3</a:t>
            </a:r>
            <a:r>
              <a:rPr dirty="0" baseline="25462" sz="1800" spc="-15">
                <a:latin typeface="Calibri"/>
                <a:cs typeface="Calibri"/>
              </a:rPr>
              <a:t>-</a:t>
            </a:r>
            <a:r>
              <a:rPr dirty="0" sz="1800" spc="-10">
                <a:latin typeface="Calibri"/>
                <a:cs typeface="Calibri"/>
              </a:rPr>
              <a:t>) </a:t>
            </a:r>
            <a:r>
              <a:rPr dirty="0" sz="1800">
                <a:latin typeface="Calibri"/>
                <a:cs typeface="Calibri"/>
              </a:rPr>
              <a:t>and H</a:t>
            </a:r>
            <a:r>
              <a:rPr dirty="0" baseline="25462" sz="1800">
                <a:latin typeface="Calibri"/>
                <a:cs typeface="Calibri"/>
              </a:rPr>
              <a:t>+  </a:t>
            </a:r>
            <a:r>
              <a:rPr dirty="0" sz="1800" spc="-5">
                <a:latin typeface="Calibri"/>
                <a:cs typeface="Calibri"/>
              </a:rPr>
              <a:t>ions</a:t>
            </a:r>
            <a:r>
              <a:rPr dirty="0" sz="1800" spc="1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00">
              <a:latin typeface="Times New Roman"/>
              <a:cs typeface="Times New Roman"/>
            </a:endParaRPr>
          </a:p>
          <a:p>
            <a:pPr marL="243840">
              <a:lnSpc>
                <a:spcPct val="100000"/>
              </a:lnSpc>
              <a:tabLst>
                <a:tab pos="2755900" algn="l"/>
              </a:tabLst>
            </a:pPr>
            <a:r>
              <a:rPr dirty="0" sz="1800" spc="-10" b="1">
                <a:latin typeface="Calibri"/>
                <a:cs typeface="Calibri"/>
              </a:rPr>
              <a:t>H</a:t>
            </a:r>
            <a:r>
              <a:rPr dirty="0" sz="1400" spc="-10" b="1">
                <a:latin typeface="Calibri"/>
                <a:cs typeface="Calibri"/>
              </a:rPr>
              <a:t>2</a:t>
            </a:r>
            <a:r>
              <a:rPr dirty="0" sz="1800" spc="-10" b="1">
                <a:latin typeface="Calibri"/>
                <a:cs typeface="Calibri"/>
              </a:rPr>
              <a:t>CO</a:t>
            </a:r>
            <a:r>
              <a:rPr dirty="0" sz="1400" spc="-10" b="1">
                <a:latin typeface="Calibri"/>
                <a:cs typeface="Calibri"/>
              </a:rPr>
              <a:t>3 </a:t>
            </a:r>
            <a:r>
              <a:rPr dirty="0" sz="1800" spc="-5" b="1">
                <a:latin typeface="Calibri"/>
                <a:cs typeface="Calibri"/>
              </a:rPr>
              <a:t>→ HCO</a:t>
            </a:r>
            <a:r>
              <a:rPr dirty="0" sz="1400" spc="-5" b="1">
                <a:latin typeface="Calibri"/>
                <a:cs typeface="Calibri"/>
              </a:rPr>
              <a:t>3</a:t>
            </a:r>
            <a:r>
              <a:rPr dirty="0" baseline="25462" sz="1800" spc="-7" b="1">
                <a:latin typeface="Calibri"/>
                <a:cs typeface="Calibri"/>
              </a:rPr>
              <a:t>-</a:t>
            </a:r>
            <a:r>
              <a:rPr dirty="0" baseline="25462" sz="1800" spc="382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+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</a:t>
            </a:r>
            <a:r>
              <a:rPr dirty="0" baseline="25462" sz="1800" b="1">
                <a:latin typeface="Calibri"/>
                <a:cs typeface="Calibri"/>
              </a:rPr>
              <a:t>+	</a:t>
            </a:r>
            <a:r>
              <a:rPr dirty="0" sz="1800" b="1">
                <a:latin typeface="Calibri"/>
                <a:cs typeface="Calibri"/>
              </a:rPr>
              <a:t>(2)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1143000"/>
            <a:ext cx="6477000" cy="53461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9775" y="420623"/>
            <a:ext cx="1865630" cy="28511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15" b="1" u="heavy">
                <a:solidFill>
                  <a:srgbClr val="44536A"/>
                </a:solidFill>
                <a:latin typeface="Arial"/>
                <a:cs typeface="Arial"/>
              </a:rPr>
              <a:t>Transport </a:t>
            </a:r>
            <a:r>
              <a:rPr dirty="0" sz="1800" b="1" u="heavy">
                <a:solidFill>
                  <a:srgbClr val="44536A"/>
                </a:solidFill>
                <a:latin typeface="Arial"/>
                <a:cs typeface="Arial"/>
              </a:rPr>
              <a:t>of</a:t>
            </a:r>
            <a:r>
              <a:rPr dirty="0" sz="1800" spc="-65" b="1" u="heavy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1800" b="1" u="heavy">
                <a:solidFill>
                  <a:srgbClr val="44536A"/>
                </a:solidFill>
                <a:latin typeface="Arial"/>
                <a:cs typeface="Arial"/>
              </a:rPr>
              <a:t>CO</a:t>
            </a:r>
            <a:r>
              <a:rPr dirty="0" sz="1400" b="1" u="heavy">
                <a:solidFill>
                  <a:srgbClr val="44536A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352" y="676655"/>
            <a:ext cx="8854193" cy="4302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907794" y="5148960"/>
            <a:ext cx="4610100" cy="1492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900" spc="-5">
                <a:latin typeface="Arial"/>
                <a:cs typeface="Arial"/>
              </a:rPr>
              <a:t>Copyrigth</a:t>
            </a:r>
            <a:r>
              <a:rPr dirty="0" sz="900" spc="-5">
                <a:latin typeface="Symbol"/>
                <a:cs typeface="Symbol"/>
              </a:rPr>
              <a:t>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 spc="-5">
                <a:latin typeface="Arial"/>
                <a:cs typeface="Arial"/>
              </a:rPr>
              <a:t>The McGraw-Hill </a:t>
            </a:r>
            <a:r>
              <a:rPr dirty="0" sz="900">
                <a:latin typeface="Arial"/>
                <a:cs typeface="Arial"/>
              </a:rPr>
              <a:t>Companies, Inc. Permission requires to reproduce or</a:t>
            </a:r>
            <a:r>
              <a:rPr dirty="0" sz="900" spc="-65">
                <a:latin typeface="Arial"/>
                <a:cs typeface="Arial"/>
              </a:rPr>
              <a:t> </a:t>
            </a:r>
            <a:r>
              <a:rPr dirty="0" sz="900" spc="-5">
                <a:latin typeface="Arial"/>
                <a:cs typeface="Arial"/>
              </a:rPr>
              <a:t>display.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7394" y="402844"/>
            <a:ext cx="1701800" cy="33083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35" u="sng"/>
              <a:t>Transport </a:t>
            </a:r>
            <a:r>
              <a:rPr dirty="0" sz="2000" spc="-5" u="sng"/>
              <a:t>of</a:t>
            </a:r>
            <a:r>
              <a:rPr dirty="0" sz="2000" spc="-110" u="sng"/>
              <a:t> </a:t>
            </a:r>
            <a:r>
              <a:rPr dirty="0" sz="2000" spc="-15" u="sng"/>
              <a:t>CO</a:t>
            </a:r>
            <a:r>
              <a:rPr dirty="0" sz="1600" spc="-15" u="sng"/>
              <a:t>2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535940" y="1024381"/>
            <a:ext cx="8020684" cy="2629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81635">
              <a:lnSpc>
                <a:spcPts val="192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All </a:t>
            </a:r>
            <a:r>
              <a:rPr dirty="0" sz="2000">
                <a:latin typeface="Calibri"/>
                <a:cs typeface="Calibri"/>
              </a:rPr>
              <a:t>these </a:t>
            </a:r>
            <a:r>
              <a:rPr dirty="0" sz="2000" spc="-5">
                <a:latin typeface="Calibri"/>
                <a:cs typeface="Calibri"/>
              </a:rPr>
              <a:t>reactions </a:t>
            </a:r>
            <a:r>
              <a:rPr dirty="0" sz="2000" spc="-10">
                <a:latin typeface="Calibri"/>
                <a:cs typeface="Calibri"/>
              </a:rPr>
              <a:t>are </a:t>
            </a:r>
            <a:r>
              <a:rPr dirty="0" sz="2000" spc="-15">
                <a:latin typeface="Calibri"/>
                <a:cs typeface="Calibri"/>
              </a:rPr>
              <a:t>reversible, </a:t>
            </a:r>
            <a:r>
              <a:rPr dirty="0" sz="2000" spc="-5">
                <a:latin typeface="Calibri"/>
                <a:cs typeface="Calibri"/>
              </a:rPr>
              <a:t>so they can </a:t>
            </a:r>
            <a:r>
              <a:rPr dirty="0" sz="2000" spc="-10">
                <a:latin typeface="Calibri"/>
                <a:cs typeface="Calibri"/>
              </a:rPr>
              <a:t>proceed </a:t>
            </a:r>
            <a:r>
              <a:rPr dirty="0" sz="2000" spc="-5">
                <a:latin typeface="Calibri"/>
                <a:cs typeface="Calibri"/>
              </a:rPr>
              <a:t>in </a:t>
            </a:r>
            <a:r>
              <a:rPr dirty="0" sz="2000">
                <a:latin typeface="Calibri"/>
                <a:cs typeface="Calibri"/>
              </a:rPr>
              <a:t>either </a:t>
            </a:r>
            <a:r>
              <a:rPr dirty="0" sz="2000" spc="-5">
                <a:latin typeface="Calibri"/>
                <a:cs typeface="Calibri"/>
              </a:rPr>
              <a:t>direction,  depending </a:t>
            </a:r>
            <a:r>
              <a:rPr dirty="0" sz="2000">
                <a:latin typeface="Calibri"/>
                <a:cs typeface="Calibri"/>
              </a:rPr>
              <a:t>upon the </a:t>
            </a:r>
            <a:r>
              <a:rPr dirty="0" sz="2000" spc="-10">
                <a:latin typeface="Calibri"/>
                <a:cs typeface="Calibri"/>
              </a:rPr>
              <a:t>prevailing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conditions.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  <a:spcBef>
                <a:spcPts val="5"/>
              </a:spcBef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If CO</a:t>
            </a:r>
            <a:r>
              <a:rPr dirty="0" sz="1600" spc="-5">
                <a:latin typeface="Calibri"/>
                <a:cs typeface="Calibri"/>
              </a:rPr>
              <a:t>2 </a:t>
            </a:r>
            <a:r>
              <a:rPr dirty="0" sz="2000" spc="-5">
                <a:latin typeface="Calibri"/>
                <a:cs typeface="Calibri"/>
              </a:rPr>
              <a:t>production increases,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production </a:t>
            </a:r>
            <a:r>
              <a:rPr dirty="0" sz="2000">
                <a:latin typeface="Calibri"/>
                <a:cs typeface="Calibri"/>
              </a:rPr>
              <a:t>of </a:t>
            </a:r>
            <a:r>
              <a:rPr dirty="0" sz="2000" spc="-5">
                <a:latin typeface="Calibri"/>
                <a:cs typeface="Calibri"/>
              </a:rPr>
              <a:t>HbCO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, HCO</a:t>
            </a:r>
            <a:r>
              <a:rPr dirty="0" sz="1600" spc="-5">
                <a:latin typeface="Calibri"/>
                <a:cs typeface="Calibri"/>
              </a:rPr>
              <a:t>3</a:t>
            </a:r>
            <a:r>
              <a:rPr dirty="0" baseline="25641" sz="1950" spc="-7">
                <a:latin typeface="Calibri"/>
                <a:cs typeface="Calibri"/>
              </a:rPr>
              <a:t>-</a:t>
            </a:r>
            <a:r>
              <a:rPr dirty="0" sz="2000" spc="-5">
                <a:latin typeface="Calibri"/>
                <a:cs typeface="Calibri"/>
              </a:rPr>
              <a:t>,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spc="5">
                <a:latin typeface="Calibri"/>
                <a:cs typeface="Calibri"/>
              </a:rPr>
              <a:t>H</a:t>
            </a:r>
            <a:r>
              <a:rPr dirty="0" baseline="25641" sz="1950" spc="7">
                <a:latin typeface="Calibri"/>
                <a:cs typeface="Calibri"/>
              </a:rPr>
              <a:t>+</a:t>
            </a:r>
            <a:endParaRPr baseline="25641" sz="195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dirty="0" sz="2000" spc="-5">
                <a:latin typeface="Calibri"/>
                <a:cs typeface="Calibri"/>
              </a:rPr>
              <a:t>increases, </a:t>
            </a:r>
            <a:r>
              <a:rPr dirty="0" sz="2000">
                <a:latin typeface="Calibri"/>
                <a:cs typeface="Calibri"/>
              </a:rPr>
              <a:t>as in </a:t>
            </a:r>
            <a:r>
              <a:rPr dirty="0" sz="2000" spc="-5">
                <a:latin typeface="Calibri"/>
                <a:cs typeface="Calibri"/>
              </a:rPr>
              <a:t>equations </a:t>
            </a:r>
            <a:r>
              <a:rPr dirty="0" sz="2000">
                <a:latin typeface="Calibri"/>
                <a:cs typeface="Calibri"/>
              </a:rPr>
              <a:t>1 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2.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  <a:spcBef>
                <a:spcPts val="1225"/>
              </a:spcBef>
            </a:pPr>
            <a:r>
              <a:rPr dirty="0" sz="2000" spc="-10">
                <a:latin typeface="Arial"/>
                <a:cs typeface="Arial"/>
              </a:rPr>
              <a:t>•</a:t>
            </a:r>
            <a:r>
              <a:rPr dirty="0" sz="2000" spc="-10">
                <a:latin typeface="Calibri"/>
                <a:cs typeface="Calibri"/>
              </a:rPr>
              <a:t>Lowering </a:t>
            </a:r>
            <a:r>
              <a:rPr dirty="0" sz="2000" spc="-5">
                <a:latin typeface="Calibri"/>
                <a:cs typeface="Calibri"/>
              </a:rPr>
              <a:t>of blood PCO</a:t>
            </a:r>
            <a:r>
              <a:rPr dirty="0" sz="1600" spc="-5">
                <a:latin typeface="Calibri"/>
                <a:cs typeface="Calibri"/>
              </a:rPr>
              <a:t>2 </a:t>
            </a:r>
            <a:r>
              <a:rPr dirty="0" sz="2000" spc="-5">
                <a:latin typeface="Calibri"/>
                <a:cs typeface="Calibri"/>
              </a:rPr>
              <a:t>results </a:t>
            </a:r>
            <a:r>
              <a:rPr dirty="0" sz="2000">
                <a:latin typeface="Calibri"/>
                <a:cs typeface="Calibri"/>
              </a:rPr>
              <a:t>in HCO</a:t>
            </a:r>
            <a:r>
              <a:rPr dirty="0" sz="1600">
                <a:latin typeface="Calibri"/>
                <a:cs typeface="Calibri"/>
              </a:rPr>
              <a:t>3</a:t>
            </a:r>
            <a:r>
              <a:rPr dirty="0" baseline="25641" sz="1950">
                <a:latin typeface="Calibri"/>
                <a:cs typeface="Calibri"/>
              </a:rPr>
              <a:t>- </a:t>
            </a:r>
            <a:r>
              <a:rPr dirty="0" sz="2000" spc="-5">
                <a:latin typeface="Calibri"/>
                <a:cs typeface="Calibri"/>
              </a:rPr>
              <a:t>going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 spc="-5">
                <a:latin typeface="Calibri"/>
                <a:cs typeface="Calibri"/>
              </a:rPr>
              <a:t>H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CO</a:t>
            </a:r>
            <a:r>
              <a:rPr dirty="0" sz="1600" spc="-5">
                <a:latin typeface="Calibri"/>
                <a:cs typeface="Calibri"/>
              </a:rPr>
              <a:t>3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further </a:t>
            </a:r>
            <a:r>
              <a:rPr dirty="0" sz="2000" spc="-15">
                <a:latin typeface="Calibri"/>
                <a:cs typeface="Calibri"/>
              </a:rPr>
              <a:t>into </a:t>
            </a:r>
            <a:r>
              <a:rPr dirty="0" sz="2000" spc="-5">
                <a:latin typeface="Calibri"/>
                <a:cs typeface="Calibri"/>
              </a:rPr>
              <a:t>CO</a:t>
            </a:r>
            <a:r>
              <a:rPr dirty="0" sz="1600" spc="-5">
                <a:latin typeface="Calibri"/>
                <a:cs typeface="Calibri"/>
              </a:rPr>
              <a:t>2 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15">
                <a:latin typeface="Calibri"/>
                <a:cs typeface="Calibri"/>
              </a:rPr>
              <a:t>H</a:t>
            </a:r>
            <a:r>
              <a:rPr dirty="0" sz="1600" spc="-15">
                <a:latin typeface="Calibri"/>
                <a:cs typeface="Calibri"/>
              </a:rPr>
              <a:t>2</a:t>
            </a:r>
            <a:r>
              <a:rPr dirty="0" sz="2000" spc="-15">
                <a:latin typeface="Calibri"/>
                <a:cs typeface="Calibri"/>
              </a:rPr>
              <a:t>O,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HbCO</a:t>
            </a:r>
            <a:r>
              <a:rPr dirty="0" sz="1600" spc="-5">
                <a:latin typeface="Calibri"/>
                <a:cs typeface="Calibri"/>
              </a:rPr>
              <a:t>2 </a:t>
            </a:r>
            <a:r>
              <a:rPr dirty="0" sz="2000" spc="-10">
                <a:latin typeface="Calibri"/>
                <a:cs typeface="Calibri"/>
              </a:rPr>
              <a:t>generating </a:t>
            </a:r>
            <a:r>
              <a:rPr dirty="0" sz="2000" spc="-5">
                <a:latin typeface="Calibri"/>
                <a:cs typeface="Calibri"/>
              </a:rPr>
              <a:t>Hb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CO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. This situation </a:t>
            </a:r>
            <a:r>
              <a:rPr dirty="0" sz="2000" spc="-10">
                <a:latin typeface="Calibri"/>
                <a:cs typeface="Calibri"/>
              </a:rPr>
              <a:t>occurs </a:t>
            </a:r>
            <a:r>
              <a:rPr dirty="0" sz="2000">
                <a:latin typeface="Calibri"/>
                <a:cs typeface="Calibri"/>
              </a:rPr>
              <a:t>when  </a:t>
            </a:r>
            <a:r>
              <a:rPr dirty="0" sz="2000" spc="-5">
                <a:latin typeface="Calibri"/>
                <a:cs typeface="Calibri"/>
              </a:rPr>
              <a:t>venous blood </a:t>
            </a:r>
            <a:r>
              <a:rPr dirty="0" sz="2000" spc="-10">
                <a:latin typeface="Calibri"/>
                <a:cs typeface="Calibri"/>
              </a:rPr>
              <a:t>flows </a:t>
            </a:r>
            <a:r>
              <a:rPr dirty="0" sz="2000" spc="-5">
                <a:latin typeface="Calibri"/>
                <a:cs typeface="Calibri"/>
              </a:rPr>
              <a:t>through </a:t>
            </a:r>
            <a:r>
              <a:rPr dirty="0" sz="2000">
                <a:latin typeface="Calibri"/>
                <a:cs typeface="Calibri"/>
              </a:rPr>
              <a:t>the lung </a:t>
            </a:r>
            <a:r>
              <a:rPr dirty="0" sz="2000" spc="-5">
                <a:latin typeface="Calibri"/>
                <a:cs typeface="Calibri"/>
              </a:rPr>
              <a:t>capillaries, </a:t>
            </a:r>
            <a:r>
              <a:rPr dirty="0" sz="2000">
                <a:latin typeface="Calibri"/>
                <a:cs typeface="Calibri"/>
              </a:rPr>
              <a:t>as in </a:t>
            </a:r>
            <a:r>
              <a:rPr dirty="0" sz="2000" spc="-5">
                <a:latin typeface="Calibri"/>
                <a:cs typeface="Calibri"/>
              </a:rPr>
              <a:t>equations </a:t>
            </a:r>
            <a:r>
              <a:rPr dirty="0" sz="2000">
                <a:latin typeface="Calibri"/>
                <a:cs typeface="Calibri"/>
              </a:rPr>
              <a:t>3 and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4: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014089"/>
            <a:ext cx="5112385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813935" algn="l"/>
              </a:tabLst>
            </a:pPr>
            <a:r>
              <a:rPr dirty="0" sz="2000" spc="-5">
                <a:latin typeface="Calibri"/>
                <a:cs typeface="Calibri"/>
              </a:rPr>
              <a:t>H</a:t>
            </a:r>
            <a:r>
              <a:rPr dirty="0" baseline="25641" sz="1950" spc="22">
                <a:latin typeface="Calibri"/>
                <a:cs typeface="Calibri"/>
              </a:rPr>
              <a:t>+</a:t>
            </a:r>
            <a:r>
              <a:rPr dirty="0" baseline="25641" sz="1950">
                <a:latin typeface="Calibri"/>
                <a:cs typeface="Calibri"/>
              </a:rPr>
              <a:t> </a:t>
            </a:r>
            <a:r>
              <a:rPr dirty="0" baseline="25641" sz="1950" spc="-2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</a:t>
            </a:r>
            <a:r>
              <a:rPr dirty="0" sz="2000" spc="-10">
                <a:latin typeface="Calibri"/>
                <a:cs typeface="Calibri"/>
              </a:rPr>
              <a:t>C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 spc="-10">
                <a:latin typeface="Calibri"/>
                <a:cs typeface="Calibri"/>
              </a:rPr>
              <a:t>3</a:t>
            </a:r>
            <a:r>
              <a:rPr dirty="0" baseline="25641" sz="1950" spc="7">
                <a:latin typeface="Calibri"/>
                <a:cs typeface="Calibri"/>
              </a:rPr>
              <a:t>-</a:t>
            </a:r>
            <a:r>
              <a:rPr dirty="0" baseline="25641" sz="1950">
                <a:latin typeface="Calibri"/>
                <a:cs typeface="Calibri"/>
              </a:rPr>
              <a:t> </a:t>
            </a:r>
            <a:r>
              <a:rPr dirty="0" baseline="25641" sz="1950" spc="-217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H</a:t>
            </a:r>
            <a:r>
              <a:rPr dirty="0" sz="1600" spc="-10">
                <a:latin typeface="Calibri"/>
                <a:cs typeface="Calibri"/>
              </a:rPr>
              <a:t>2</a:t>
            </a:r>
            <a:r>
              <a:rPr dirty="0" sz="2000" spc="-15">
                <a:latin typeface="Calibri"/>
                <a:cs typeface="Calibri"/>
              </a:rPr>
              <a:t>C</a:t>
            </a:r>
            <a:r>
              <a:rPr dirty="0" sz="2000" spc="5">
                <a:latin typeface="Calibri"/>
                <a:cs typeface="Calibri"/>
              </a:rPr>
              <a:t>O</a:t>
            </a:r>
            <a:r>
              <a:rPr dirty="0" sz="1600" spc="-5">
                <a:latin typeface="Calibri"/>
                <a:cs typeface="Calibri"/>
              </a:rPr>
              <a:t>3</a:t>
            </a:r>
            <a:r>
              <a:rPr dirty="0" sz="16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</a:t>
            </a:r>
            <a:r>
              <a:rPr dirty="0" sz="1600" spc="-10">
                <a:latin typeface="Calibri"/>
                <a:cs typeface="Calibri"/>
              </a:rPr>
              <a:t>2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 spc="-15">
                <a:latin typeface="Calibri"/>
                <a:cs typeface="Calibri"/>
              </a:rPr>
              <a:t>C</a:t>
            </a:r>
            <a:r>
              <a:rPr dirty="0" sz="2000">
                <a:latin typeface="Calibri"/>
                <a:cs typeface="Calibri"/>
              </a:rPr>
              <a:t>O</a:t>
            </a:r>
            <a:r>
              <a:rPr dirty="0" sz="1600" spc="-10">
                <a:latin typeface="Calibri"/>
                <a:cs typeface="Calibri"/>
              </a:rPr>
              <a:t>2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(3)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704460"/>
            <a:ext cx="8028940" cy="15106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4127500" algn="l"/>
              </a:tabLst>
            </a:pPr>
            <a:r>
              <a:rPr dirty="0" sz="2000">
                <a:latin typeface="Calibri"/>
                <a:cs typeface="Calibri"/>
              </a:rPr>
              <a:t>HbCO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→ Hb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CO</a:t>
            </a:r>
            <a:r>
              <a:rPr dirty="0" sz="1600" spc="-5">
                <a:latin typeface="Calibri"/>
                <a:cs typeface="Calibri"/>
              </a:rPr>
              <a:t>2	</a:t>
            </a:r>
            <a:r>
              <a:rPr dirty="0" sz="2000">
                <a:latin typeface="Calibri"/>
                <a:cs typeface="Calibri"/>
              </a:rPr>
              <a:t>(4)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1920"/>
              </a:lnSpc>
              <a:spcBef>
                <a:spcPts val="1215"/>
              </a:spcBef>
            </a:pPr>
            <a:r>
              <a:rPr dirty="0" sz="2000">
                <a:latin typeface="Calibri"/>
                <a:cs typeface="Calibri"/>
              </a:rPr>
              <a:t>Because the </a:t>
            </a:r>
            <a:r>
              <a:rPr dirty="0" sz="2000" spc="-5">
                <a:latin typeface="Calibri"/>
                <a:cs typeface="Calibri"/>
              </a:rPr>
              <a:t>blood PCO</a:t>
            </a:r>
            <a:r>
              <a:rPr dirty="0" sz="1600" spc="-5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is higher than </a:t>
            </a:r>
            <a:r>
              <a:rPr dirty="0" sz="2000" spc="-5">
                <a:latin typeface="Calibri"/>
                <a:cs typeface="Calibri"/>
              </a:rPr>
              <a:t>alveolar PCO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, </a:t>
            </a:r>
            <a:r>
              <a:rPr dirty="0" sz="2000">
                <a:latin typeface="Calibri"/>
                <a:cs typeface="Calibri"/>
              </a:rPr>
              <a:t>a </a:t>
            </a:r>
            <a:r>
              <a:rPr dirty="0" sz="2000" spc="-5">
                <a:latin typeface="Calibri"/>
                <a:cs typeface="Calibri"/>
              </a:rPr>
              <a:t>net diffusion </a:t>
            </a:r>
            <a:r>
              <a:rPr dirty="0" sz="2000" spc="-15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the  </a:t>
            </a:r>
            <a:r>
              <a:rPr dirty="0" sz="2000" spc="-5">
                <a:latin typeface="Calibri"/>
                <a:cs typeface="Calibri"/>
              </a:rPr>
              <a:t>blood </a:t>
            </a:r>
            <a:r>
              <a:rPr dirty="0" sz="2000" spc="-15">
                <a:latin typeface="Calibri"/>
                <a:cs typeface="Calibri"/>
              </a:rPr>
              <a:t>into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alveoli </a:t>
            </a:r>
            <a:r>
              <a:rPr dirty="0" sz="2000" spc="-15">
                <a:latin typeface="Calibri"/>
                <a:cs typeface="Calibri"/>
              </a:rPr>
              <a:t>lowers </a:t>
            </a:r>
            <a:r>
              <a:rPr dirty="0" sz="2000">
                <a:latin typeface="Calibri"/>
                <a:cs typeface="Calibri"/>
              </a:rPr>
              <a:t>the blood </a:t>
            </a:r>
            <a:r>
              <a:rPr dirty="0" sz="2000" spc="-5">
                <a:latin typeface="Calibri"/>
                <a:cs typeface="Calibri"/>
              </a:rPr>
              <a:t>PCO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. </a:t>
            </a:r>
            <a:r>
              <a:rPr dirty="0" sz="2000" spc="-20">
                <a:latin typeface="Calibri"/>
                <a:cs typeface="Calibri"/>
              </a:rPr>
              <a:t>Normally, </a:t>
            </a:r>
            <a:r>
              <a:rPr dirty="0" sz="2000">
                <a:latin typeface="Calibri"/>
                <a:cs typeface="Calibri"/>
              </a:rPr>
              <a:t>as </a:t>
            </a:r>
            <a:r>
              <a:rPr dirty="0" sz="2000" spc="-20">
                <a:latin typeface="Calibri"/>
                <a:cs typeface="Calibri"/>
              </a:rPr>
              <a:t>fast </a:t>
            </a:r>
            <a:r>
              <a:rPr dirty="0" sz="2000">
                <a:latin typeface="Calibri"/>
                <a:cs typeface="Calibri"/>
              </a:rPr>
              <a:t>as </a:t>
            </a:r>
            <a:r>
              <a:rPr dirty="0" sz="2000" spc="-5">
                <a:latin typeface="Calibri"/>
                <a:cs typeface="Calibri"/>
              </a:rPr>
              <a:t>CO</a:t>
            </a:r>
            <a:r>
              <a:rPr dirty="0" sz="1600" spc="-5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is  </a:t>
            </a:r>
            <a:r>
              <a:rPr dirty="0" sz="2000" spc="-10">
                <a:latin typeface="Calibri"/>
                <a:cs typeface="Calibri"/>
              </a:rPr>
              <a:t>generated </a:t>
            </a:r>
            <a:r>
              <a:rPr dirty="0" sz="2000" spc="-15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HCO</a:t>
            </a:r>
            <a:r>
              <a:rPr dirty="0" sz="1600">
                <a:latin typeface="Calibri"/>
                <a:cs typeface="Calibri"/>
              </a:rPr>
              <a:t>3</a:t>
            </a:r>
            <a:r>
              <a:rPr dirty="0" baseline="25641" sz="1950">
                <a:latin typeface="Calibri"/>
                <a:cs typeface="Calibri"/>
              </a:rPr>
              <a:t>-  </a:t>
            </a:r>
            <a:r>
              <a:rPr dirty="0" sz="2000">
                <a:latin typeface="Calibri"/>
                <a:cs typeface="Calibri"/>
              </a:rPr>
              <a:t>and  </a:t>
            </a:r>
            <a:r>
              <a:rPr dirty="0" sz="2000" spc="-5">
                <a:latin typeface="Calibri"/>
                <a:cs typeface="Calibri"/>
              </a:rPr>
              <a:t>HbCO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, </a:t>
            </a:r>
            <a:r>
              <a:rPr dirty="0" sz="2000">
                <a:latin typeface="Calibri"/>
                <a:cs typeface="Calibri"/>
              </a:rPr>
              <a:t>it </a:t>
            </a:r>
            <a:r>
              <a:rPr dirty="0" sz="2000" spc="-10">
                <a:latin typeface="Calibri"/>
                <a:cs typeface="Calibri"/>
              </a:rPr>
              <a:t>diffuses </a:t>
            </a:r>
            <a:r>
              <a:rPr dirty="0" sz="2000" spc="-15">
                <a:latin typeface="Calibri"/>
                <a:cs typeface="Calibri"/>
              </a:rPr>
              <a:t>into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alveoli.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1175" y="3927220"/>
            <a:ext cx="271780" cy="224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400" spc="-10">
                <a:latin typeface="Arial"/>
                <a:cs typeface="Arial"/>
              </a:rPr>
              <a:t>CA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6800" y="1523999"/>
            <a:ext cx="7315200" cy="3386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99132" y="1912604"/>
            <a:ext cx="1447800" cy="1288415"/>
          </a:xfrm>
          <a:custGeom>
            <a:avLst/>
            <a:gdLst/>
            <a:ahLst/>
            <a:cxnLst/>
            <a:rect l="l" t="t" r="r" b="b"/>
            <a:pathLst>
              <a:path w="1447800" h="1288414">
                <a:moveTo>
                  <a:pt x="0" y="1287795"/>
                </a:moveTo>
                <a:lnTo>
                  <a:pt x="30653" y="1243163"/>
                </a:lnTo>
                <a:lnTo>
                  <a:pt x="61283" y="1198657"/>
                </a:lnTo>
                <a:lnTo>
                  <a:pt x="91864" y="1154403"/>
                </a:lnTo>
                <a:lnTo>
                  <a:pt x="122373" y="1110526"/>
                </a:lnTo>
                <a:lnTo>
                  <a:pt x="152785" y="1067154"/>
                </a:lnTo>
                <a:lnTo>
                  <a:pt x="183077" y="1024412"/>
                </a:lnTo>
                <a:lnTo>
                  <a:pt x="213223" y="982425"/>
                </a:lnTo>
                <a:lnTo>
                  <a:pt x="243200" y="941320"/>
                </a:lnTo>
                <a:lnTo>
                  <a:pt x="272984" y="901224"/>
                </a:lnTo>
                <a:lnTo>
                  <a:pt x="302551" y="862261"/>
                </a:lnTo>
                <a:lnTo>
                  <a:pt x="331876" y="824558"/>
                </a:lnTo>
                <a:lnTo>
                  <a:pt x="360936" y="788240"/>
                </a:lnTo>
                <a:lnTo>
                  <a:pt x="389705" y="753435"/>
                </a:lnTo>
                <a:lnTo>
                  <a:pt x="418160" y="720267"/>
                </a:lnTo>
                <a:lnTo>
                  <a:pt x="446278" y="688863"/>
                </a:lnTo>
                <a:lnTo>
                  <a:pt x="487526" y="645455"/>
                </a:lnTo>
                <a:lnTo>
                  <a:pt x="527625" y="606333"/>
                </a:lnTo>
                <a:lnTo>
                  <a:pt x="566833" y="570874"/>
                </a:lnTo>
                <a:lnTo>
                  <a:pt x="605412" y="538457"/>
                </a:lnTo>
                <a:lnTo>
                  <a:pt x="643620" y="508460"/>
                </a:lnTo>
                <a:lnTo>
                  <a:pt x="681717" y="480261"/>
                </a:lnTo>
                <a:lnTo>
                  <a:pt x="719964" y="453239"/>
                </a:lnTo>
                <a:lnTo>
                  <a:pt x="758620" y="426772"/>
                </a:lnTo>
                <a:lnTo>
                  <a:pt x="797945" y="400238"/>
                </a:lnTo>
                <a:lnTo>
                  <a:pt x="838200" y="373014"/>
                </a:lnTo>
                <a:lnTo>
                  <a:pt x="880544" y="345425"/>
                </a:lnTo>
                <a:lnTo>
                  <a:pt x="925355" y="318294"/>
                </a:lnTo>
                <a:lnTo>
                  <a:pt x="971718" y="291751"/>
                </a:lnTo>
                <a:lnTo>
                  <a:pt x="1018716" y="265926"/>
                </a:lnTo>
                <a:lnTo>
                  <a:pt x="1065434" y="240950"/>
                </a:lnTo>
                <a:lnTo>
                  <a:pt x="1110956" y="216954"/>
                </a:lnTo>
                <a:lnTo>
                  <a:pt x="1154365" y="194067"/>
                </a:lnTo>
                <a:lnTo>
                  <a:pt x="1194746" y="172419"/>
                </a:lnTo>
                <a:lnTo>
                  <a:pt x="1231183" y="152142"/>
                </a:lnTo>
                <a:lnTo>
                  <a:pt x="1322792" y="92489"/>
                </a:lnTo>
                <a:lnTo>
                  <a:pt x="1363440" y="59245"/>
                </a:lnTo>
                <a:lnTo>
                  <a:pt x="1391848" y="33121"/>
                </a:lnTo>
                <a:lnTo>
                  <a:pt x="1415160" y="13604"/>
                </a:lnTo>
                <a:lnTo>
                  <a:pt x="1433280" y="2736"/>
                </a:lnTo>
                <a:lnTo>
                  <a:pt x="1443053" y="0"/>
                </a:lnTo>
                <a:lnTo>
                  <a:pt x="1447039" y="1335"/>
                </a:lnTo>
                <a:lnTo>
                  <a:pt x="1447800" y="2682"/>
                </a:lnTo>
                <a:lnTo>
                  <a:pt x="1441932" y="3968"/>
                </a:lnTo>
                <a:lnTo>
                  <a:pt x="1433528" y="6111"/>
                </a:lnTo>
                <a:lnTo>
                  <a:pt x="1424100" y="6540"/>
                </a:lnTo>
                <a:lnTo>
                  <a:pt x="1415160" y="2682"/>
                </a:lnTo>
              </a:path>
            </a:pathLst>
          </a:custGeom>
          <a:ln w="76199">
            <a:solidFill>
              <a:srgbClr val="212A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24400" y="3200400"/>
            <a:ext cx="424180" cy="0"/>
          </a:xfrm>
          <a:custGeom>
            <a:avLst/>
            <a:gdLst/>
            <a:ahLst/>
            <a:cxnLst/>
            <a:rect l="l" t="t" r="r" b="b"/>
            <a:pathLst>
              <a:path w="424179" h="0">
                <a:moveTo>
                  <a:pt x="0" y="0"/>
                </a:moveTo>
                <a:lnTo>
                  <a:pt x="423925" y="0"/>
                </a:lnTo>
              </a:path>
            </a:pathLst>
          </a:custGeom>
          <a:ln w="76200">
            <a:solidFill>
              <a:srgbClr val="212A3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24332"/>
            <a:ext cx="2395855" cy="36195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00" spc="-10"/>
              <a:t>G. </a:t>
            </a:r>
            <a:r>
              <a:rPr dirty="0" sz="2200" spc="-10" u="heavy"/>
              <a:t>The </a:t>
            </a:r>
            <a:r>
              <a:rPr dirty="0" sz="2200" spc="-15" u="heavy"/>
              <a:t>Haldane</a:t>
            </a:r>
            <a:r>
              <a:rPr dirty="0" sz="2200" spc="-200" u="heavy"/>
              <a:t> </a:t>
            </a:r>
            <a:r>
              <a:rPr dirty="0" sz="2200" spc="-40" u="heavy"/>
              <a:t>Effect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59740" y="1383538"/>
            <a:ext cx="7755890" cy="3140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900" spc="-5">
                <a:latin typeface="Arial"/>
                <a:cs typeface="Arial"/>
              </a:rPr>
              <a:t>•</a:t>
            </a:r>
            <a:r>
              <a:rPr dirty="0" sz="1900" spc="-5">
                <a:latin typeface="Calibri"/>
                <a:cs typeface="Calibri"/>
              </a:rPr>
              <a:t>In the tissue capillaries, Hb </a:t>
            </a:r>
            <a:r>
              <a:rPr dirty="0" sz="1900" spc="-15">
                <a:latin typeface="Calibri"/>
                <a:cs typeface="Calibri"/>
              </a:rPr>
              <a:t>free </a:t>
            </a:r>
            <a:r>
              <a:rPr dirty="0" sz="1900" spc="-5">
                <a:latin typeface="Calibri"/>
                <a:cs typeface="Calibri"/>
              </a:rPr>
              <a:t>of </a:t>
            </a:r>
            <a:r>
              <a:rPr dirty="0" sz="1900" spc="5">
                <a:latin typeface="Calibri"/>
                <a:cs typeface="Calibri"/>
              </a:rPr>
              <a:t>O</a:t>
            </a:r>
            <a:r>
              <a:rPr dirty="0" sz="1500" spc="5">
                <a:latin typeface="Calibri"/>
                <a:cs typeface="Calibri"/>
              </a:rPr>
              <a:t>2 </a:t>
            </a:r>
            <a:r>
              <a:rPr dirty="0" sz="1900" spc="-20">
                <a:latin typeface="Calibri"/>
                <a:cs typeface="Calibri"/>
              </a:rPr>
              <a:t>may </a:t>
            </a:r>
            <a:r>
              <a:rPr dirty="0" sz="1900" spc="-10">
                <a:latin typeface="Calibri"/>
                <a:cs typeface="Calibri"/>
              </a:rPr>
              <a:t>combine </a:t>
            </a:r>
            <a:r>
              <a:rPr dirty="0" sz="1900" spc="-5">
                <a:latin typeface="Calibri"/>
                <a:cs typeface="Calibri"/>
              </a:rPr>
              <a:t>with </a:t>
            </a:r>
            <a:r>
              <a:rPr dirty="0" sz="1900">
                <a:latin typeface="Calibri"/>
                <a:cs typeface="Calibri"/>
              </a:rPr>
              <a:t>H</a:t>
            </a:r>
            <a:r>
              <a:rPr dirty="0" baseline="26666" sz="1875">
                <a:latin typeface="Calibri"/>
                <a:cs typeface="Calibri"/>
              </a:rPr>
              <a:t>+</a:t>
            </a:r>
            <a:r>
              <a:rPr dirty="0" sz="1900">
                <a:latin typeface="Calibri"/>
                <a:cs typeface="Calibri"/>
              </a:rPr>
              <a:t>, </a:t>
            </a:r>
            <a:r>
              <a:rPr dirty="0" sz="1900" spc="-5">
                <a:latin typeface="Calibri"/>
                <a:cs typeface="Calibri"/>
              </a:rPr>
              <a:t>in the</a:t>
            </a:r>
            <a:r>
              <a:rPr dirty="0" sz="1900" spc="229">
                <a:latin typeface="Calibri"/>
                <a:cs typeface="Calibri"/>
              </a:rPr>
              <a:t> </a:t>
            </a:r>
            <a:r>
              <a:rPr dirty="0" sz="1900" spc="-5">
                <a:latin typeface="Calibri"/>
                <a:cs typeface="Calibri"/>
              </a:rPr>
              <a:t>reaction: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dirty="0" sz="1900">
                <a:latin typeface="Calibri"/>
                <a:cs typeface="Calibri"/>
              </a:rPr>
              <a:t>H</a:t>
            </a:r>
            <a:r>
              <a:rPr dirty="0" baseline="26666" sz="1875">
                <a:latin typeface="Calibri"/>
                <a:cs typeface="Calibri"/>
              </a:rPr>
              <a:t>+ </a:t>
            </a:r>
            <a:r>
              <a:rPr dirty="0" sz="1900" spc="-5">
                <a:latin typeface="Calibri"/>
                <a:cs typeface="Calibri"/>
              </a:rPr>
              <a:t>+ HbO</a:t>
            </a:r>
            <a:r>
              <a:rPr dirty="0" sz="1500" spc="-5">
                <a:latin typeface="Calibri"/>
                <a:cs typeface="Calibri"/>
              </a:rPr>
              <a:t>2 </a:t>
            </a:r>
            <a:r>
              <a:rPr dirty="0" sz="1900" spc="-5">
                <a:latin typeface="Cambria Math"/>
                <a:cs typeface="Cambria Math"/>
              </a:rPr>
              <a:t>⇌  </a:t>
            </a:r>
            <a:r>
              <a:rPr dirty="0" sz="1900" spc="-10">
                <a:latin typeface="Calibri"/>
                <a:cs typeface="Calibri"/>
              </a:rPr>
              <a:t>HHb </a:t>
            </a:r>
            <a:r>
              <a:rPr dirty="0" sz="1900" spc="-5">
                <a:latin typeface="Calibri"/>
                <a:cs typeface="Calibri"/>
              </a:rPr>
              <a:t>+</a:t>
            </a:r>
            <a:r>
              <a:rPr dirty="0" sz="1900" spc="229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</a:t>
            </a:r>
            <a:r>
              <a:rPr dirty="0" sz="1500">
                <a:latin typeface="Calibri"/>
                <a:cs typeface="Calibri"/>
              </a:rPr>
              <a:t>2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-10">
                <a:latin typeface="Arial"/>
                <a:cs typeface="Arial"/>
              </a:rPr>
              <a:t>•</a:t>
            </a:r>
            <a:r>
              <a:rPr dirty="0" sz="1900" spc="-10">
                <a:latin typeface="Calibri"/>
                <a:cs typeface="Calibri"/>
              </a:rPr>
              <a:t>This occurs because reduced </a:t>
            </a:r>
            <a:r>
              <a:rPr dirty="0" sz="1900" spc="-5">
                <a:latin typeface="Calibri"/>
                <a:cs typeface="Calibri"/>
              </a:rPr>
              <a:t>Hb is less acidic than </a:t>
            </a:r>
            <a:r>
              <a:rPr dirty="0" sz="1900">
                <a:latin typeface="Calibri"/>
                <a:cs typeface="Calibri"/>
              </a:rPr>
              <a:t>HbO</a:t>
            </a:r>
            <a:r>
              <a:rPr dirty="0" sz="1500">
                <a:latin typeface="Calibri"/>
                <a:cs typeface="Calibri"/>
              </a:rPr>
              <a:t>2</a:t>
            </a:r>
            <a:r>
              <a:rPr dirty="0" sz="1900">
                <a:latin typeface="Calibri"/>
                <a:cs typeface="Calibri"/>
              </a:rPr>
              <a:t>. </a:t>
            </a:r>
            <a:r>
              <a:rPr dirty="0" sz="1900" spc="-5">
                <a:latin typeface="Calibri"/>
                <a:cs typeface="Calibri"/>
              </a:rPr>
              <a:t>Hb acts as a</a:t>
            </a:r>
            <a:r>
              <a:rPr dirty="0" sz="1900" spc="125">
                <a:latin typeface="Calibri"/>
                <a:cs typeface="Calibri"/>
              </a:rPr>
              <a:t> </a:t>
            </a:r>
            <a:r>
              <a:rPr dirty="0" sz="1900" spc="-45">
                <a:latin typeface="Calibri"/>
                <a:cs typeface="Calibri"/>
              </a:rPr>
              <a:t>buffer.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ct val="60000"/>
              </a:lnSpc>
            </a:pPr>
            <a:r>
              <a:rPr dirty="0" sz="1900" spc="-15">
                <a:latin typeface="Arial"/>
                <a:cs typeface="Arial"/>
              </a:rPr>
              <a:t>•</a:t>
            </a:r>
            <a:r>
              <a:rPr dirty="0" sz="1900" spc="-15">
                <a:latin typeface="Calibri"/>
                <a:cs typeface="Calibri"/>
              </a:rPr>
              <a:t>So, </a:t>
            </a:r>
            <a:r>
              <a:rPr dirty="0" sz="1900" spc="-10">
                <a:latin typeface="Calibri"/>
                <a:cs typeface="Calibri"/>
              </a:rPr>
              <a:t>reduced </a:t>
            </a:r>
            <a:r>
              <a:rPr dirty="0" sz="1900" spc="-5">
                <a:latin typeface="Calibri"/>
                <a:cs typeface="Calibri"/>
              </a:rPr>
              <a:t>Hb in the tissue capillaries </a:t>
            </a:r>
            <a:r>
              <a:rPr dirty="0" sz="1900" spc="-10">
                <a:latin typeface="Calibri"/>
                <a:cs typeface="Calibri"/>
              </a:rPr>
              <a:t>helps </a:t>
            </a:r>
            <a:r>
              <a:rPr dirty="0" sz="1900" spc="-5">
                <a:latin typeface="Calibri"/>
                <a:cs typeface="Calibri"/>
              </a:rPr>
              <a:t>with the </a:t>
            </a:r>
            <a:r>
              <a:rPr dirty="0" sz="1900" spc="-10">
                <a:latin typeface="Calibri"/>
                <a:cs typeface="Calibri"/>
              </a:rPr>
              <a:t>blood </a:t>
            </a:r>
            <a:r>
              <a:rPr dirty="0" sz="1900" spc="-5">
                <a:latin typeface="Calibri"/>
                <a:cs typeface="Calibri"/>
              </a:rPr>
              <a:t>loading of CO</a:t>
            </a:r>
            <a:r>
              <a:rPr dirty="0" sz="1500" spc="-5">
                <a:latin typeface="Calibri"/>
                <a:cs typeface="Calibri"/>
              </a:rPr>
              <a:t>2</a:t>
            </a:r>
            <a:r>
              <a:rPr dirty="0" sz="1900" spc="-5">
                <a:latin typeface="Calibri"/>
                <a:cs typeface="Calibri"/>
              </a:rPr>
              <a:t>, </a:t>
            </a:r>
            <a:r>
              <a:rPr dirty="0" sz="1900" spc="-10">
                <a:latin typeface="Calibri"/>
                <a:cs typeface="Calibri"/>
              </a:rPr>
              <a:t>by  pushing </a:t>
            </a:r>
            <a:r>
              <a:rPr dirty="0" sz="1900" spc="-5">
                <a:latin typeface="Calibri"/>
                <a:cs typeface="Calibri"/>
              </a:rPr>
              <a:t>equations 1 and 2 </a:t>
            </a:r>
            <a:r>
              <a:rPr dirty="0" sz="1900" spc="-15">
                <a:latin typeface="Calibri"/>
                <a:cs typeface="Calibri"/>
              </a:rPr>
              <a:t>to </a:t>
            </a:r>
            <a:r>
              <a:rPr dirty="0" sz="1900" spc="-5">
                <a:latin typeface="Calibri"/>
                <a:cs typeface="Calibri"/>
              </a:rPr>
              <a:t>the </a:t>
            </a:r>
            <a:r>
              <a:rPr dirty="0" sz="1900" spc="-10">
                <a:latin typeface="Calibri"/>
                <a:cs typeface="Calibri"/>
              </a:rPr>
              <a:t>right. This </a:t>
            </a:r>
            <a:r>
              <a:rPr dirty="0" sz="1900" spc="-5">
                <a:latin typeface="Calibri"/>
                <a:cs typeface="Calibri"/>
              </a:rPr>
              <a:t>is </a:t>
            </a:r>
            <a:r>
              <a:rPr dirty="0" sz="1900" spc="-10">
                <a:latin typeface="Calibri"/>
                <a:cs typeface="Calibri"/>
              </a:rPr>
              <a:t>known </a:t>
            </a:r>
            <a:r>
              <a:rPr dirty="0" sz="1900" spc="-5">
                <a:latin typeface="Calibri"/>
                <a:cs typeface="Calibri"/>
              </a:rPr>
              <a:t>as the </a:t>
            </a:r>
            <a:r>
              <a:rPr dirty="0" sz="1900" spc="-10" u="heavy">
                <a:latin typeface="Calibri"/>
                <a:cs typeface="Calibri"/>
              </a:rPr>
              <a:t>Haldane</a:t>
            </a:r>
            <a:r>
              <a:rPr dirty="0" sz="1900" spc="254" u="heavy">
                <a:latin typeface="Calibri"/>
                <a:cs typeface="Calibri"/>
              </a:rPr>
              <a:t> </a:t>
            </a:r>
            <a:r>
              <a:rPr dirty="0" sz="1900" spc="-15" u="heavy">
                <a:latin typeface="Calibri"/>
                <a:cs typeface="Calibri"/>
              </a:rPr>
              <a:t>effect</a:t>
            </a:r>
            <a:r>
              <a:rPr dirty="0" sz="1900" spc="-15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 marR="797560">
              <a:lnSpc>
                <a:spcPct val="60000"/>
              </a:lnSpc>
            </a:pPr>
            <a:r>
              <a:rPr dirty="0" sz="1900" spc="-5">
                <a:latin typeface="Symbol"/>
                <a:cs typeface="Symbol"/>
              </a:rPr>
              <a:t></a:t>
            </a:r>
            <a:r>
              <a:rPr dirty="0" sz="1900" spc="-5">
                <a:latin typeface="Times New Roman"/>
                <a:cs typeface="Times New Roman"/>
              </a:rPr>
              <a:t> </a:t>
            </a:r>
            <a:r>
              <a:rPr dirty="0" sz="1900" spc="-15">
                <a:latin typeface="Calibri"/>
                <a:cs typeface="Calibri"/>
              </a:rPr>
              <a:t>For </a:t>
            </a:r>
            <a:r>
              <a:rPr dirty="0" sz="1900" spc="-5">
                <a:latin typeface="Calibri"/>
                <a:cs typeface="Calibri"/>
              </a:rPr>
              <a:t>a </a:t>
            </a:r>
            <a:r>
              <a:rPr dirty="0" sz="1900" spc="-10">
                <a:latin typeface="Calibri"/>
                <a:cs typeface="Calibri"/>
              </a:rPr>
              <a:t>given </a:t>
            </a:r>
            <a:r>
              <a:rPr dirty="0" sz="1900" spc="-5">
                <a:latin typeface="Calibri"/>
                <a:cs typeface="Calibri"/>
              </a:rPr>
              <a:t>PCO</a:t>
            </a:r>
            <a:r>
              <a:rPr dirty="0" sz="1500" spc="-5">
                <a:latin typeface="Calibri"/>
                <a:cs typeface="Calibri"/>
              </a:rPr>
              <a:t>2</a:t>
            </a:r>
            <a:r>
              <a:rPr dirty="0" sz="1900" spc="-5">
                <a:latin typeface="Calibri"/>
                <a:cs typeface="Calibri"/>
              </a:rPr>
              <a:t>, </a:t>
            </a:r>
            <a:r>
              <a:rPr dirty="0" sz="1900" spc="-15">
                <a:latin typeface="Calibri"/>
                <a:cs typeface="Calibri"/>
              </a:rPr>
              <a:t>more </a:t>
            </a:r>
            <a:r>
              <a:rPr dirty="0" sz="1900" spc="-5">
                <a:latin typeface="Calibri"/>
                <a:cs typeface="Calibri"/>
              </a:rPr>
              <a:t>CO</a:t>
            </a:r>
            <a:r>
              <a:rPr dirty="0" sz="1500" spc="-5">
                <a:latin typeface="Calibri"/>
                <a:cs typeface="Calibri"/>
              </a:rPr>
              <a:t>2 </a:t>
            </a:r>
            <a:r>
              <a:rPr dirty="0" sz="1900" spc="-5">
                <a:latin typeface="Calibri"/>
                <a:cs typeface="Calibri"/>
              </a:rPr>
              <a:t>is carried in </a:t>
            </a:r>
            <a:r>
              <a:rPr dirty="0" sz="1900" spc="-15">
                <a:latin typeface="Calibri"/>
                <a:cs typeface="Calibri"/>
              </a:rPr>
              <a:t>deoxygenated </a:t>
            </a:r>
            <a:r>
              <a:rPr dirty="0" sz="1900" spc="-10">
                <a:latin typeface="Calibri"/>
                <a:cs typeface="Calibri"/>
              </a:rPr>
              <a:t>blood </a:t>
            </a:r>
            <a:r>
              <a:rPr dirty="0" sz="1900" spc="-5">
                <a:latin typeface="Calibri"/>
                <a:cs typeface="Calibri"/>
              </a:rPr>
              <a:t>than in  </a:t>
            </a:r>
            <a:r>
              <a:rPr dirty="0" sz="1900" spc="-15">
                <a:latin typeface="Calibri"/>
                <a:cs typeface="Calibri"/>
              </a:rPr>
              <a:t>oxygenated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blood.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97002"/>
            <a:ext cx="1701164" cy="33083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35" u="sng"/>
              <a:t>Transport </a:t>
            </a:r>
            <a:r>
              <a:rPr dirty="0" sz="2000" spc="-5" u="sng"/>
              <a:t>of</a:t>
            </a:r>
            <a:r>
              <a:rPr dirty="0" sz="2000" spc="-110" u="sng"/>
              <a:t> </a:t>
            </a:r>
            <a:r>
              <a:rPr dirty="0" sz="2000" spc="-15" u="sng"/>
              <a:t>CO</a:t>
            </a:r>
            <a:r>
              <a:rPr dirty="0" sz="1600" spc="-15" u="sng"/>
              <a:t>2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767587" y="1345946"/>
            <a:ext cx="5541645" cy="1582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524760" algn="l"/>
              </a:tabLst>
            </a:pPr>
            <a:r>
              <a:rPr dirty="0" sz="1800" spc="-10" b="1">
                <a:latin typeface="Calibri"/>
                <a:cs typeface="Calibri"/>
              </a:rPr>
              <a:t>CO</a:t>
            </a:r>
            <a:r>
              <a:rPr dirty="0" sz="1400" spc="-10" b="1">
                <a:latin typeface="Calibri"/>
                <a:cs typeface="Calibri"/>
              </a:rPr>
              <a:t>2 </a:t>
            </a:r>
            <a:r>
              <a:rPr dirty="0" sz="1800" b="1">
                <a:latin typeface="Calibri"/>
                <a:cs typeface="Calibri"/>
              </a:rPr>
              <a:t>+ H</a:t>
            </a:r>
            <a:r>
              <a:rPr dirty="0" sz="1400" b="1">
                <a:latin typeface="Calibri"/>
                <a:cs typeface="Calibri"/>
              </a:rPr>
              <a:t>2</a:t>
            </a:r>
            <a:r>
              <a:rPr dirty="0" sz="1800" b="1">
                <a:latin typeface="Calibri"/>
                <a:cs typeface="Calibri"/>
              </a:rPr>
              <a:t>O</a:t>
            </a:r>
            <a:r>
              <a:rPr dirty="0" sz="1800" spc="120" b="1">
                <a:latin typeface="Calibri"/>
                <a:cs typeface="Calibri"/>
              </a:rPr>
              <a:t> </a:t>
            </a:r>
            <a:r>
              <a:rPr dirty="0" sz="1800" spc="-5" b="1">
                <a:latin typeface="Calibri"/>
                <a:cs typeface="Calibri"/>
              </a:rPr>
              <a:t>→</a:t>
            </a:r>
            <a:r>
              <a:rPr dirty="0" sz="180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H</a:t>
            </a:r>
            <a:r>
              <a:rPr dirty="0" sz="1400" spc="-10" b="1">
                <a:latin typeface="Calibri"/>
                <a:cs typeface="Calibri"/>
              </a:rPr>
              <a:t>2</a:t>
            </a:r>
            <a:r>
              <a:rPr dirty="0" sz="1800" spc="-10" b="1">
                <a:latin typeface="Calibri"/>
                <a:cs typeface="Calibri"/>
              </a:rPr>
              <a:t>CO</a:t>
            </a:r>
            <a:r>
              <a:rPr dirty="0" sz="1400" spc="-10" b="1">
                <a:latin typeface="Calibri"/>
                <a:cs typeface="Calibri"/>
              </a:rPr>
              <a:t>3	</a:t>
            </a:r>
            <a:r>
              <a:rPr dirty="0" sz="1800" b="1">
                <a:latin typeface="Calibri"/>
                <a:cs typeface="Calibri"/>
              </a:rPr>
              <a:t>(1)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Calibri"/>
                <a:cs typeface="Calibri"/>
              </a:rPr>
              <a:t>H</a:t>
            </a:r>
            <a:r>
              <a:rPr dirty="0" sz="1400" spc="-10">
                <a:latin typeface="Calibri"/>
                <a:cs typeface="Calibri"/>
              </a:rPr>
              <a:t>2</a:t>
            </a:r>
            <a:r>
              <a:rPr dirty="0" sz="1800" spc="-10">
                <a:latin typeface="Calibri"/>
                <a:cs typeface="Calibri"/>
              </a:rPr>
              <a:t>CO</a:t>
            </a:r>
            <a:r>
              <a:rPr dirty="0" sz="1400" spc="-10">
                <a:latin typeface="Calibri"/>
                <a:cs typeface="Calibri"/>
              </a:rPr>
              <a:t>3 </a:t>
            </a:r>
            <a:r>
              <a:rPr dirty="0" sz="1800">
                <a:latin typeface="Calibri"/>
                <a:cs typeface="Calibri"/>
              </a:rPr>
              <a:t>then </a:t>
            </a:r>
            <a:r>
              <a:rPr dirty="0" sz="1800" spc="-10">
                <a:latin typeface="Calibri"/>
                <a:cs typeface="Calibri"/>
              </a:rPr>
              <a:t>ionizes </a:t>
            </a:r>
            <a:r>
              <a:rPr dirty="0" sz="1800" spc="-15">
                <a:latin typeface="Calibri"/>
                <a:cs typeface="Calibri"/>
              </a:rPr>
              <a:t>into </a:t>
            </a:r>
            <a:r>
              <a:rPr dirty="0" sz="1800" spc="-10">
                <a:latin typeface="Calibri"/>
                <a:cs typeface="Calibri"/>
              </a:rPr>
              <a:t>bicarbonate </a:t>
            </a:r>
            <a:r>
              <a:rPr dirty="0" sz="1800" spc="-5">
                <a:latin typeface="Calibri"/>
                <a:cs typeface="Calibri"/>
              </a:rPr>
              <a:t>(HCO</a:t>
            </a:r>
            <a:r>
              <a:rPr dirty="0" sz="1400" spc="-5">
                <a:latin typeface="Calibri"/>
                <a:cs typeface="Calibri"/>
              </a:rPr>
              <a:t>3</a:t>
            </a:r>
            <a:r>
              <a:rPr dirty="0" baseline="25462" sz="1800" spc="-7">
                <a:latin typeface="Calibri"/>
                <a:cs typeface="Calibri"/>
              </a:rPr>
              <a:t>-</a:t>
            </a:r>
            <a:r>
              <a:rPr dirty="0" sz="1800" spc="-5">
                <a:latin typeface="Calibri"/>
                <a:cs typeface="Calibri"/>
              </a:rPr>
              <a:t>)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5">
                <a:latin typeface="Calibri"/>
                <a:cs typeface="Calibri"/>
              </a:rPr>
              <a:t>H</a:t>
            </a:r>
            <a:r>
              <a:rPr dirty="0" baseline="25462" sz="1800" spc="-7">
                <a:latin typeface="Calibri"/>
                <a:cs typeface="Calibri"/>
              </a:rPr>
              <a:t>+  </a:t>
            </a:r>
            <a:r>
              <a:rPr dirty="0" sz="1800" spc="-5">
                <a:latin typeface="Calibri"/>
                <a:cs typeface="Calibri"/>
              </a:rPr>
              <a:t>ions</a:t>
            </a:r>
            <a:r>
              <a:rPr dirty="0" sz="1800" spc="11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524760" algn="l"/>
              </a:tabLst>
            </a:pPr>
            <a:r>
              <a:rPr dirty="0" sz="1800" spc="-10" b="1">
                <a:latin typeface="Calibri"/>
                <a:cs typeface="Calibri"/>
              </a:rPr>
              <a:t>H</a:t>
            </a:r>
            <a:r>
              <a:rPr dirty="0" sz="1400" spc="-10" b="1">
                <a:latin typeface="Calibri"/>
                <a:cs typeface="Calibri"/>
              </a:rPr>
              <a:t>2</a:t>
            </a:r>
            <a:r>
              <a:rPr dirty="0" sz="1800" spc="-10" b="1">
                <a:latin typeface="Calibri"/>
                <a:cs typeface="Calibri"/>
              </a:rPr>
              <a:t>CO</a:t>
            </a:r>
            <a:r>
              <a:rPr dirty="0" sz="1400" spc="-10" b="1">
                <a:latin typeface="Calibri"/>
                <a:cs typeface="Calibri"/>
              </a:rPr>
              <a:t>3 </a:t>
            </a:r>
            <a:r>
              <a:rPr dirty="0" sz="1800" spc="-5" b="1">
                <a:latin typeface="Calibri"/>
                <a:cs typeface="Calibri"/>
              </a:rPr>
              <a:t>→ HCO</a:t>
            </a:r>
            <a:r>
              <a:rPr dirty="0" sz="1400" spc="-5" b="1">
                <a:latin typeface="Calibri"/>
                <a:cs typeface="Calibri"/>
              </a:rPr>
              <a:t>3</a:t>
            </a:r>
            <a:r>
              <a:rPr dirty="0" baseline="25462" sz="1800" spc="-7" b="1">
                <a:latin typeface="Calibri"/>
                <a:cs typeface="Calibri"/>
              </a:rPr>
              <a:t>-</a:t>
            </a:r>
            <a:r>
              <a:rPr dirty="0" baseline="25462" sz="1800" spc="382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+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</a:t>
            </a:r>
            <a:r>
              <a:rPr dirty="0" baseline="25462" sz="1800" b="1">
                <a:latin typeface="Calibri"/>
                <a:cs typeface="Calibri"/>
              </a:rPr>
              <a:t>+	</a:t>
            </a:r>
            <a:r>
              <a:rPr dirty="0" sz="1800" b="1">
                <a:latin typeface="Calibri"/>
                <a:cs typeface="Calibri"/>
              </a:rPr>
              <a:t>(2)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5451043"/>
            <a:ext cx="8298180" cy="12179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14935">
              <a:lnSpc>
                <a:spcPct val="80000"/>
              </a:lnSpc>
            </a:pPr>
            <a:r>
              <a:rPr dirty="0" sz="1800">
                <a:latin typeface="Symbol"/>
                <a:cs typeface="Symbol"/>
              </a:rPr>
              <a:t></a:t>
            </a:r>
            <a:r>
              <a:rPr dirty="0" sz="1800">
                <a:latin typeface="Arial"/>
                <a:cs typeface="Arial"/>
              </a:rPr>
              <a:t>The O</a:t>
            </a:r>
            <a:r>
              <a:rPr dirty="0" sz="1400">
                <a:latin typeface="Arial"/>
                <a:cs typeface="Arial"/>
              </a:rPr>
              <a:t>2 </a:t>
            </a:r>
            <a:r>
              <a:rPr dirty="0" sz="1800" spc="-5">
                <a:latin typeface="Arial"/>
                <a:cs typeface="Arial"/>
              </a:rPr>
              <a:t>saturation </a:t>
            </a:r>
            <a:r>
              <a:rPr dirty="0" sz="1800">
                <a:latin typeface="Arial"/>
                <a:cs typeface="Arial"/>
              </a:rPr>
              <a:t>of </a:t>
            </a:r>
            <a:r>
              <a:rPr dirty="0" sz="1800" spc="-5">
                <a:latin typeface="Arial"/>
                <a:cs typeface="Arial"/>
              </a:rPr>
              <a:t>blood influences </a:t>
            </a:r>
            <a:r>
              <a:rPr dirty="0" sz="1800">
                <a:latin typeface="Arial"/>
                <a:cs typeface="Arial"/>
              </a:rPr>
              <a:t>the CO</a:t>
            </a:r>
            <a:r>
              <a:rPr dirty="0" sz="1400">
                <a:latin typeface="Arial"/>
                <a:cs typeface="Arial"/>
              </a:rPr>
              <a:t>2 </a:t>
            </a:r>
            <a:r>
              <a:rPr dirty="0" sz="1800" spc="-5">
                <a:latin typeface="Arial"/>
                <a:cs typeface="Arial"/>
              </a:rPr>
              <a:t>dissociation curve by shifting </a:t>
            </a:r>
            <a:r>
              <a:rPr dirty="0" sz="1800">
                <a:latin typeface="Arial"/>
                <a:cs typeface="Arial"/>
              </a:rPr>
              <a:t>it to  the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right.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ts val="1730"/>
              </a:lnSpc>
              <a:buFont typeface="Symbol"/>
              <a:buChar char=""/>
              <a:tabLst>
                <a:tab pos="177800" algn="l"/>
              </a:tabLst>
            </a:pP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Haldane </a:t>
            </a:r>
            <a:r>
              <a:rPr dirty="0" sz="1800" spc="-10">
                <a:latin typeface="Arial"/>
                <a:cs typeface="Arial"/>
              </a:rPr>
              <a:t>effect </a:t>
            </a:r>
            <a:r>
              <a:rPr dirty="0" sz="1800" spc="-5">
                <a:latin typeface="Arial"/>
                <a:cs typeface="Arial"/>
              </a:rPr>
              <a:t>is </a:t>
            </a:r>
            <a:r>
              <a:rPr dirty="0" sz="1800">
                <a:latin typeface="Arial"/>
                <a:cs typeface="Arial"/>
              </a:rPr>
              <a:t>the fact </a:t>
            </a:r>
            <a:r>
              <a:rPr dirty="0" sz="1800" spc="-5">
                <a:latin typeface="Arial"/>
                <a:cs typeface="Arial"/>
              </a:rPr>
              <a:t>that </a:t>
            </a:r>
            <a:r>
              <a:rPr dirty="0" sz="1800" spc="-10">
                <a:latin typeface="Arial"/>
                <a:cs typeface="Arial"/>
              </a:rPr>
              <a:t>mixed </a:t>
            </a:r>
            <a:r>
              <a:rPr dirty="0" sz="1800" spc="-5">
                <a:latin typeface="Arial"/>
                <a:cs typeface="Arial"/>
              </a:rPr>
              <a:t>venous blood can </a:t>
            </a:r>
            <a:r>
              <a:rPr dirty="0" sz="1800">
                <a:latin typeface="Arial"/>
                <a:cs typeface="Arial"/>
              </a:rPr>
              <a:t>carry </a:t>
            </a:r>
            <a:r>
              <a:rPr dirty="0" sz="1800" spc="-5">
                <a:latin typeface="Arial"/>
                <a:cs typeface="Arial"/>
              </a:rPr>
              <a:t>more </a:t>
            </a:r>
            <a:r>
              <a:rPr dirty="0" sz="1800" spc="5">
                <a:latin typeface="Arial"/>
                <a:cs typeface="Arial"/>
              </a:rPr>
              <a:t>CO</a:t>
            </a:r>
            <a:r>
              <a:rPr dirty="0" sz="1400" spc="5">
                <a:latin typeface="Arial"/>
                <a:cs typeface="Arial"/>
              </a:rPr>
              <a:t>2 </a:t>
            </a:r>
            <a:r>
              <a:rPr dirty="0" sz="1800" spc="-5">
                <a:latin typeface="Arial"/>
                <a:cs typeface="Arial"/>
              </a:rPr>
              <a:t>than  can arterial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blood.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800" y="1066800"/>
            <a:ext cx="7391400" cy="34000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79775" y="344423"/>
            <a:ext cx="2081530" cy="28511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b="1" u="heavy">
                <a:solidFill>
                  <a:srgbClr val="44536A"/>
                </a:solidFill>
                <a:latin typeface="Arial"/>
                <a:cs typeface="Arial"/>
              </a:rPr>
              <a:t>The </a:t>
            </a:r>
            <a:r>
              <a:rPr dirty="0" sz="1800" spc="-5" b="1" u="heavy">
                <a:solidFill>
                  <a:srgbClr val="44536A"/>
                </a:solidFill>
                <a:latin typeface="Arial"/>
                <a:cs typeface="Arial"/>
              </a:rPr>
              <a:t>Haldane</a:t>
            </a:r>
            <a:r>
              <a:rPr dirty="0" sz="1800" spc="-80" b="1" u="heavy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z="1800" spc="-5" b="1" u="heavy">
                <a:solidFill>
                  <a:srgbClr val="44536A"/>
                </a:solidFill>
                <a:latin typeface="Arial"/>
                <a:cs typeface="Arial"/>
              </a:rPr>
              <a:t>Effect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4687696"/>
            <a:ext cx="8337550" cy="1473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buSzPct val="90000"/>
              <a:buChar char="•"/>
              <a:tabLst>
                <a:tab pos="156210" algn="l"/>
              </a:tabLst>
            </a:pPr>
            <a:r>
              <a:rPr dirty="0" sz="2000">
                <a:latin typeface="Arial"/>
                <a:cs typeface="Arial"/>
              </a:rPr>
              <a:t>Unlike the HbO</a:t>
            </a:r>
            <a:r>
              <a:rPr dirty="0" sz="1600">
                <a:latin typeface="Arial"/>
                <a:cs typeface="Arial"/>
              </a:rPr>
              <a:t>2 </a:t>
            </a:r>
            <a:r>
              <a:rPr dirty="0" sz="2000">
                <a:latin typeface="Arial"/>
                <a:cs typeface="Arial"/>
              </a:rPr>
              <a:t>curve, the CO</a:t>
            </a:r>
            <a:r>
              <a:rPr dirty="0" sz="1600">
                <a:latin typeface="Arial"/>
                <a:cs typeface="Arial"/>
              </a:rPr>
              <a:t>2 </a:t>
            </a:r>
            <a:r>
              <a:rPr dirty="0" sz="2000">
                <a:latin typeface="Arial"/>
                <a:cs typeface="Arial"/>
              </a:rPr>
              <a:t>dissociation curve has no steep or flat  portions; the relationship between </a:t>
            </a:r>
            <a:r>
              <a:rPr dirty="0" sz="2000" spc="5">
                <a:latin typeface="Arial"/>
                <a:cs typeface="Arial"/>
              </a:rPr>
              <a:t>CO</a:t>
            </a:r>
            <a:r>
              <a:rPr dirty="0" sz="1600" spc="5">
                <a:latin typeface="Arial"/>
                <a:cs typeface="Arial"/>
              </a:rPr>
              <a:t>2 </a:t>
            </a:r>
            <a:r>
              <a:rPr dirty="0" sz="2000">
                <a:latin typeface="Arial"/>
                <a:cs typeface="Arial"/>
              </a:rPr>
              <a:t>content and PCO</a:t>
            </a:r>
            <a:r>
              <a:rPr dirty="0" sz="1600">
                <a:latin typeface="Arial"/>
                <a:cs typeface="Arial"/>
              </a:rPr>
              <a:t>2 </a:t>
            </a:r>
            <a:r>
              <a:rPr dirty="0" sz="2000">
                <a:latin typeface="Arial"/>
                <a:cs typeface="Arial"/>
              </a:rPr>
              <a:t>is almost </a:t>
            </a:r>
            <a:r>
              <a:rPr dirty="0" sz="2000" spc="-15">
                <a:latin typeface="Arial"/>
                <a:cs typeface="Arial"/>
              </a:rPr>
              <a:t>linear.  </a:t>
            </a:r>
            <a:r>
              <a:rPr dirty="0" sz="2000">
                <a:latin typeface="Arial"/>
                <a:cs typeface="Arial"/>
              </a:rPr>
              <a:t>This means that if we </a:t>
            </a:r>
            <a:r>
              <a:rPr dirty="0" sz="2000" spc="-5">
                <a:latin typeface="Arial"/>
                <a:cs typeface="Arial"/>
              </a:rPr>
              <a:t>hypoventilate </a:t>
            </a:r>
            <a:r>
              <a:rPr dirty="0" sz="2000">
                <a:latin typeface="Arial"/>
                <a:cs typeface="Arial"/>
              </a:rPr>
              <a:t>and alveolar PCO</a:t>
            </a:r>
            <a:r>
              <a:rPr dirty="0" sz="1600">
                <a:latin typeface="Arial"/>
                <a:cs typeface="Arial"/>
              </a:rPr>
              <a:t>2 </a:t>
            </a:r>
            <a:r>
              <a:rPr dirty="0" sz="2000">
                <a:latin typeface="Arial"/>
                <a:cs typeface="Arial"/>
              </a:rPr>
              <a:t>rises, then arterial,  </a:t>
            </a:r>
            <a:r>
              <a:rPr dirty="0" sz="2000" spc="-15">
                <a:latin typeface="Arial"/>
                <a:cs typeface="Arial"/>
              </a:rPr>
              <a:t>capillary, </a:t>
            </a:r>
            <a:r>
              <a:rPr dirty="0" sz="2000">
                <a:latin typeface="Arial"/>
                <a:cs typeface="Arial"/>
              </a:rPr>
              <a:t>tissue and venous </a:t>
            </a:r>
            <a:r>
              <a:rPr dirty="0" sz="2000" spc="5">
                <a:latin typeface="Arial"/>
                <a:cs typeface="Arial"/>
              </a:rPr>
              <a:t>CO</a:t>
            </a:r>
            <a:r>
              <a:rPr dirty="0" sz="1600" spc="5">
                <a:latin typeface="Arial"/>
                <a:cs typeface="Arial"/>
              </a:rPr>
              <a:t>2 </a:t>
            </a:r>
            <a:r>
              <a:rPr dirty="0" sz="2000">
                <a:latin typeface="Arial"/>
                <a:cs typeface="Arial"/>
              </a:rPr>
              <a:t>also rise. Doubling alveolar ventilation  halves alveolar PCO</a:t>
            </a:r>
            <a:r>
              <a:rPr dirty="0" sz="1600">
                <a:latin typeface="Arial"/>
                <a:cs typeface="Arial"/>
              </a:rPr>
              <a:t>2</a:t>
            </a:r>
            <a:r>
              <a:rPr dirty="0" sz="2000">
                <a:latin typeface="Arial"/>
                <a:cs typeface="Arial"/>
              </a:rPr>
              <a:t>; it therefore follows that an increase in alveolar  ventilation proportionally increases </a:t>
            </a:r>
            <a:r>
              <a:rPr dirty="0" sz="2000" spc="5">
                <a:latin typeface="Arial"/>
                <a:cs typeface="Arial"/>
              </a:rPr>
              <a:t>CO</a:t>
            </a:r>
            <a:r>
              <a:rPr dirty="0" sz="1600" spc="5">
                <a:latin typeface="Arial"/>
                <a:cs typeface="Arial"/>
              </a:rPr>
              <a:t>2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removal.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6800" y="533400"/>
            <a:ext cx="7315200" cy="3386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99132" y="922004"/>
            <a:ext cx="1447800" cy="1288415"/>
          </a:xfrm>
          <a:custGeom>
            <a:avLst/>
            <a:gdLst/>
            <a:ahLst/>
            <a:cxnLst/>
            <a:rect l="l" t="t" r="r" b="b"/>
            <a:pathLst>
              <a:path w="1447800" h="1288414">
                <a:moveTo>
                  <a:pt x="0" y="1287795"/>
                </a:moveTo>
                <a:lnTo>
                  <a:pt x="30653" y="1243163"/>
                </a:lnTo>
                <a:lnTo>
                  <a:pt x="61283" y="1198657"/>
                </a:lnTo>
                <a:lnTo>
                  <a:pt x="91864" y="1154403"/>
                </a:lnTo>
                <a:lnTo>
                  <a:pt x="122373" y="1110526"/>
                </a:lnTo>
                <a:lnTo>
                  <a:pt x="152785" y="1067154"/>
                </a:lnTo>
                <a:lnTo>
                  <a:pt x="183077" y="1024412"/>
                </a:lnTo>
                <a:lnTo>
                  <a:pt x="213223" y="982425"/>
                </a:lnTo>
                <a:lnTo>
                  <a:pt x="243200" y="941320"/>
                </a:lnTo>
                <a:lnTo>
                  <a:pt x="272984" y="901224"/>
                </a:lnTo>
                <a:lnTo>
                  <a:pt x="302551" y="862261"/>
                </a:lnTo>
                <a:lnTo>
                  <a:pt x="331876" y="824558"/>
                </a:lnTo>
                <a:lnTo>
                  <a:pt x="360936" y="788240"/>
                </a:lnTo>
                <a:lnTo>
                  <a:pt x="389705" y="753435"/>
                </a:lnTo>
                <a:lnTo>
                  <a:pt x="418160" y="720267"/>
                </a:lnTo>
                <a:lnTo>
                  <a:pt x="446278" y="688863"/>
                </a:lnTo>
                <a:lnTo>
                  <a:pt x="487526" y="645455"/>
                </a:lnTo>
                <a:lnTo>
                  <a:pt x="527625" y="606333"/>
                </a:lnTo>
                <a:lnTo>
                  <a:pt x="566833" y="570874"/>
                </a:lnTo>
                <a:lnTo>
                  <a:pt x="605412" y="538457"/>
                </a:lnTo>
                <a:lnTo>
                  <a:pt x="643620" y="508460"/>
                </a:lnTo>
                <a:lnTo>
                  <a:pt x="681717" y="480261"/>
                </a:lnTo>
                <a:lnTo>
                  <a:pt x="719964" y="453239"/>
                </a:lnTo>
                <a:lnTo>
                  <a:pt x="758620" y="426772"/>
                </a:lnTo>
                <a:lnTo>
                  <a:pt x="797945" y="400238"/>
                </a:lnTo>
                <a:lnTo>
                  <a:pt x="838200" y="373014"/>
                </a:lnTo>
                <a:lnTo>
                  <a:pt x="880544" y="345425"/>
                </a:lnTo>
                <a:lnTo>
                  <a:pt x="925355" y="318294"/>
                </a:lnTo>
                <a:lnTo>
                  <a:pt x="971718" y="291751"/>
                </a:lnTo>
                <a:lnTo>
                  <a:pt x="1018716" y="265926"/>
                </a:lnTo>
                <a:lnTo>
                  <a:pt x="1065434" y="240950"/>
                </a:lnTo>
                <a:lnTo>
                  <a:pt x="1110956" y="216954"/>
                </a:lnTo>
                <a:lnTo>
                  <a:pt x="1154365" y="194067"/>
                </a:lnTo>
                <a:lnTo>
                  <a:pt x="1194746" y="172419"/>
                </a:lnTo>
                <a:lnTo>
                  <a:pt x="1231183" y="152142"/>
                </a:lnTo>
                <a:lnTo>
                  <a:pt x="1322792" y="92489"/>
                </a:lnTo>
                <a:lnTo>
                  <a:pt x="1363440" y="59245"/>
                </a:lnTo>
                <a:lnTo>
                  <a:pt x="1391848" y="33121"/>
                </a:lnTo>
                <a:lnTo>
                  <a:pt x="1415160" y="13604"/>
                </a:lnTo>
                <a:lnTo>
                  <a:pt x="1433280" y="2736"/>
                </a:lnTo>
                <a:lnTo>
                  <a:pt x="1443053" y="0"/>
                </a:lnTo>
                <a:lnTo>
                  <a:pt x="1447039" y="1335"/>
                </a:lnTo>
                <a:lnTo>
                  <a:pt x="1447800" y="2682"/>
                </a:lnTo>
                <a:lnTo>
                  <a:pt x="1441932" y="3968"/>
                </a:lnTo>
                <a:lnTo>
                  <a:pt x="1433528" y="6111"/>
                </a:lnTo>
                <a:lnTo>
                  <a:pt x="1424100" y="6540"/>
                </a:lnTo>
                <a:lnTo>
                  <a:pt x="1415160" y="2682"/>
                </a:lnTo>
              </a:path>
            </a:pathLst>
          </a:custGeom>
          <a:ln w="76199">
            <a:solidFill>
              <a:srgbClr val="212A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24400" y="2209800"/>
            <a:ext cx="424180" cy="0"/>
          </a:xfrm>
          <a:custGeom>
            <a:avLst/>
            <a:gdLst/>
            <a:ahLst/>
            <a:cxnLst/>
            <a:rect l="l" t="t" r="r" b="b"/>
            <a:pathLst>
              <a:path w="424179" h="0">
                <a:moveTo>
                  <a:pt x="0" y="0"/>
                </a:moveTo>
                <a:lnTo>
                  <a:pt x="423925" y="0"/>
                </a:lnTo>
              </a:path>
            </a:pathLst>
          </a:custGeom>
          <a:ln w="76200">
            <a:solidFill>
              <a:srgbClr val="212A35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2535173"/>
            <a:ext cx="5691505" cy="1153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20" b="0">
                <a:latin typeface="Calibri Light"/>
                <a:cs typeface="Calibri Light"/>
              </a:rPr>
              <a:t>Tutorials: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</a:pPr>
            <a:r>
              <a:rPr dirty="0" sz="2000" spc="-5" b="0">
                <a:latin typeface="Calibri Light"/>
                <a:cs typeface="Calibri Light"/>
              </a:rPr>
              <a:t>March </a:t>
            </a:r>
            <a:r>
              <a:rPr dirty="0" sz="2000" b="0">
                <a:latin typeface="Calibri Light"/>
                <a:cs typeface="Calibri Light"/>
              </a:rPr>
              <a:t>29</a:t>
            </a:r>
            <a:r>
              <a:rPr dirty="0" baseline="25641" sz="1950" b="0">
                <a:latin typeface="Calibri Light"/>
                <a:cs typeface="Calibri Light"/>
              </a:rPr>
              <a:t>th</a:t>
            </a:r>
            <a:r>
              <a:rPr dirty="0" sz="2000" b="0">
                <a:latin typeface="Calibri Light"/>
                <a:cs typeface="Calibri Light"/>
              </a:rPr>
              <a:t>, 5:30-6:30PM, </a:t>
            </a:r>
            <a:r>
              <a:rPr dirty="0" sz="2000" spc="-5" b="0">
                <a:latin typeface="Calibri Light"/>
                <a:cs typeface="Calibri Light"/>
              </a:rPr>
              <a:t>McIntyre </a:t>
            </a:r>
            <a:r>
              <a:rPr dirty="0" sz="2000" spc="-10" b="0">
                <a:latin typeface="Calibri Light"/>
                <a:cs typeface="Calibri Light"/>
              </a:rPr>
              <a:t>Palmer Howard</a:t>
            </a:r>
            <a:r>
              <a:rPr dirty="0" sz="2000" spc="-170" b="0">
                <a:latin typeface="Calibri Light"/>
                <a:cs typeface="Calibri Light"/>
              </a:rPr>
              <a:t> </a:t>
            </a:r>
            <a:r>
              <a:rPr dirty="0" sz="2000" b="0">
                <a:latin typeface="Calibri Light"/>
                <a:cs typeface="Calibri Light"/>
              </a:rPr>
              <a:t>522  April </a:t>
            </a:r>
            <a:r>
              <a:rPr dirty="0" sz="2000" spc="5" b="0">
                <a:latin typeface="Calibri Light"/>
                <a:cs typeface="Calibri Light"/>
              </a:rPr>
              <a:t>19</a:t>
            </a:r>
            <a:r>
              <a:rPr dirty="0" baseline="25641" sz="1950" spc="7" b="0">
                <a:latin typeface="Calibri Light"/>
                <a:cs typeface="Calibri Light"/>
              </a:rPr>
              <a:t>th</a:t>
            </a:r>
            <a:r>
              <a:rPr dirty="0" sz="2000" spc="5" b="0">
                <a:latin typeface="Calibri Light"/>
                <a:cs typeface="Calibri Light"/>
              </a:rPr>
              <a:t>, </a:t>
            </a:r>
            <a:r>
              <a:rPr dirty="0" sz="2000" b="0">
                <a:latin typeface="Calibri Light"/>
                <a:cs typeface="Calibri Light"/>
              </a:rPr>
              <a:t>5:30-6:30pm, </a:t>
            </a:r>
            <a:r>
              <a:rPr dirty="0" sz="2000" spc="-5" b="0">
                <a:latin typeface="Calibri Light"/>
                <a:cs typeface="Calibri Light"/>
              </a:rPr>
              <a:t>McIntyre</a:t>
            </a:r>
            <a:r>
              <a:rPr dirty="0" sz="2000" spc="-190" b="0">
                <a:latin typeface="Calibri Light"/>
                <a:cs typeface="Calibri Light"/>
              </a:rPr>
              <a:t> </a:t>
            </a:r>
            <a:r>
              <a:rPr dirty="0" sz="2000" b="0">
                <a:latin typeface="Calibri Light"/>
                <a:cs typeface="Calibri Light"/>
              </a:rPr>
              <a:t>521</a:t>
            </a:r>
            <a:endParaRPr sz="2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392048"/>
            <a:ext cx="2329815" cy="62738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000" spc="-10" b="0">
                <a:latin typeface="Comic Sans MS"/>
                <a:cs typeface="Comic Sans MS"/>
              </a:rPr>
              <a:t>Lecture</a:t>
            </a:r>
            <a:r>
              <a:rPr dirty="0" sz="4000" spc="-65" b="0">
                <a:latin typeface="Comic Sans MS"/>
                <a:cs typeface="Comic Sans MS"/>
              </a:rPr>
              <a:t> </a:t>
            </a:r>
            <a:r>
              <a:rPr dirty="0" sz="4000" spc="-5" b="0">
                <a:latin typeface="Comic Sans MS"/>
                <a:cs typeface="Comic Sans MS"/>
              </a:rPr>
              <a:t>5</a:t>
            </a:r>
            <a:endParaRPr sz="4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11657"/>
            <a:ext cx="3479800" cy="38163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Comic Sans MS"/>
                <a:cs typeface="Comic Sans MS"/>
              </a:rPr>
              <a:t>H.  </a:t>
            </a:r>
            <a:r>
              <a:rPr dirty="0" spc="-5" b="1" u="heavy">
                <a:latin typeface="Comic Sans MS"/>
                <a:cs typeface="Comic Sans MS"/>
              </a:rPr>
              <a:t>Respiratory</a:t>
            </a:r>
            <a:r>
              <a:rPr dirty="0" spc="-135" b="1" u="heavy">
                <a:latin typeface="Comic Sans MS"/>
                <a:cs typeface="Comic Sans MS"/>
              </a:rPr>
              <a:t> </a:t>
            </a:r>
            <a:r>
              <a:rPr dirty="0" b="1" u="heavy">
                <a:latin typeface="Comic Sans MS"/>
                <a:cs typeface="Comic Sans MS"/>
              </a:rPr>
              <a:t>Failure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862582"/>
            <a:ext cx="7724775" cy="30905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46100" marR="5080" indent="-533400">
              <a:lnSpc>
                <a:spcPts val="2160"/>
              </a:lnSpc>
            </a:pPr>
            <a:r>
              <a:rPr dirty="0" sz="2000" spc="-5" u="heavy">
                <a:latin typeface="Comic Sans MS"/>
                <a:cs typeface="Comic Sans MS"/>
              </a:rPr>
              <a:t>Respiratory failure </a:t>
            </a:r>
            <a:r>
              <a:rPr dirty="0" sz="2000">
                <a:latin typeface="Comic Sans MS"/>
                <a:cs typeface="Comic Sans MS"/>
              </a:rPr>
              <a:t>occurs </a:t>
            </a:r>
            <a:r>
              <a:rPr dirty="0" sz="2000" spc="-5">
                <a:latin typeface="Comic Sans MS"/>
                <a:cs typeface="Comic Sans MS"/>
              </a:rPr>
              <a:t>when the respiratory system is unable  to do </a:t>
            </a:r>
            <a:r>
              <a:rPr dirty="0" sz="2000">
                <a:latin typeface="Comic Sans MS"/>
                <a:cs typeface="Comic Sans MS"/>
              </a:rPr>
              <a:t>its </a:t>
            </a:r>
            <a:r>
              <a:rPr dirty="0" sz="2000" spc="-5">
                <a:latin typeface="Comic Sans MS"/>
                <a:cs typeface="Comic Sans MS"/>
              </a:rPr>
              <a:t>job properly, due to failure</a:t>
            </a:r>
            <a:r>
              <a:rPr dirty="0" sz="2000" spc="5">
                <a:latin typeface="Comic Sans MS"/>
                <a:cs typeface="Comic Sans MS"/>
              </a:rPr>
              <a:t> </a:t>
            </a:r>
            <a:r>
              <a:rPr dirty="0" sz="2000">
                <a:latin typeface="Comic Sans MS"/>
                <a:cs typeface="Comic Sans MS"/>
              </a:rPr>
              <a:t>of: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546100" indent="-533400">
              <a:lnSpc>
                <a:spcPct val="100000"/>
              </a:lnSpc>
              <a:spcBef>
                <a:spcPts val="1200"/>
              </a:spcBef>
              <a:buAutoNum type="arabicParenR"/>
              <a:tabLst>
                <a:tab pos="545465" algn="l"/>
                <a:tab pos="546100" algn="l"/>
              </a:tabLst>
            </a:pPr>
            <a:r>
              <a:rPr dirty="0" sz="2000" spc="-5">
                <a:latin typeface="Comic Sans MS"/>
                <a:cs typeface="Comic Sans MS"/>
              </a:rPr>
              <a:t>the </a:t>
            </a:r>
            <a:r>
              <a:rPr dirty="0" sz="2000" u="heavy">
                <a:latin typeface="Comic Sans MS"/>
                <a:cs typeface="Comic Sans MS"/>
              </a:rPr>
              <a:t>gas </a:t>
            </a:r>
            <a:r>
              <a:rPr dirty="0" sz="2000" spc="-5" u="heavy">
                <a:latin typeface="Comic Sans MS"/>
                <a:cs typeface="Comic Sans MS"/>
              </a:rPr>
              <a:t>exchanging </a:t>
            </a:r>
            <a:r>
              <a:rPr dirty="0" sz="2000" spc="-5">
                <a:latin typeface="Comic Sans MS"/>
                <a:cs typeface="Comic Sans MS"/>
              </a:rPr>
              <a:t>capabilities </a:t>
            </a:r>
            <a:r>
              <a:rPr dirty="0" sz="2000">
                <a:latin typeface="Comic Sans MS"/>
                <a:cs typeface="Comic Sans MS"/>
              </a:rPr>
              <a:t>of </a:t>
            </a:r>
            <a:r>
              <a:rPr dirty="0" sz="2000" spc="-5">
                <a:latin typeface="Comic Sans MS"/>
                <a:cs typeface="Comic Sans MS"/>
              </a:rPr>
              <a:t>the</a:t>
            </a:r>
            <a:r>
              <a:rPr dirty="0" sz="2000" spc="5">
                <a:latin typeface="Comic Sans MS"/>
                <a:cs typeface="Comic Sans MS"/>
              </a:rPr>
              <a:t> </a:t>
            </a:r>
            <a:r>
              <a:rPr dirty="0" sz="2000">
                <a:latin typeface="Comic Sans MS"/>
                <a:cs typeface="Comic Sans MS"/>
              </a:rPr>
              <a:t>lungs;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buFont typeface="Comic Sans MS"/>
              <a:buAutoNum type="arabicParenR"/>
            </a:pPr>
            <a:endParaRPr sz="2000">
              <a:latin typeface="Times New Roman"/>
              <a:cs typeface="Times New Roman"/>
            </a:endParaRPr>
          </a:p>
          <a:p>
            <a:pPr marL="642620" indent="-629920">
              <a:lnSpc>
                <a:spcPct val="100000"/>
              </a:lnSpc>
              <a:spcBef>
                <a:spcPts val="1215"/>
              </a:spcBef>
              <a:buAutoNum type="arabicParenR"/>
              <a:tabLst>
                <a:tab pos="642620" algn="l"/>
                <a:tab pos="643255" algn="l"/>
              </a:tabLst>
            </a:pPr>
            <a:r>
              <a:rPr dirty="0" sz="2000">
                <a:latin typeface="Comic Sans MS"/>
                <a:cs typeface="Comic Sans MS"/>
              </a:rPr>
              <a:t>the </a:t>
            </a:r>
            <a:r>
              <a:rPr dirty="0" sz="2000" spc="-5" u="heavy">
                <a:latin typeface="Comic Sans MS"/>
                <a:cs typeface="Comic Sans MS"/>
              </a:rPr>
              <a:t>neural </a:t>
            </a:r>
            <a:r>
              <a:rPr dirty="0" sz="2000" u="heavy">
                <a:latin typeface="Comic Sans MS"/>
                <a:cs typeface="Comic Sans MS"/>
              </a:rPr>
              <a:t>control of </a:t>
            </a:r>
            <a:r>
              <a:rPr dirty="0" sz="2000" spc="-5" u="heavy">
                <a:latin typeface="Comic Sans MS"/>
                <a:cs typeface="Comic Sans MS"/>
              </a:rPr>
              <a:t>ventilation </a:t>
            </a:r>
            <a:r>
              <a:rPr dirty="0" sz="2000" spc="-5">
                <a:latin typeface="Comic Sans MS"/>
                <a:cs typeface="Comic Sans MS"/>
              </a:rPr>
              <a:t>(i.e. </a:t>
            </a:r>
            <a:r>
              <a:rPr dirty="0" sz="2000">
                <a:latin typeface="Comic Sans MS"/>
                <a:cs typeface="Comic Sans MS"/>
              </a:rPr>
              <a:t>the </a:t>
            </a:r>
            <a:r>
              <a:rPr dirty="0" sz="2000" spc="-5">
                <a:latin typeface="Comic Sans MS"/>
                <a:cs typeface="Comic Sans MS"/>
              </a:rPr>
              <a:t>drive to</a:t>
            </a:r>
            <a:r>
              <a:rPr dirty="0" sz="2000" spc="-3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breathe);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buFont typeface="Comic Sans MS"/>
              <a:buAutoNum type="arabicParenR"/>
            </a:pPr>
            <a:endParaRPr sz="2000">
              <a:latin typeface="Times New Roman"/>
              <a:cs typeface="Times New Roman"/>
            </a:endParaRPr>
          </a:p>
          <a:p>
            <a:pPr marL="546100" marR="15240" indent="-533400">
              <a:lnSpc>
                <a:spcPts val="2160"/>
              </a:lnSpc>
              <a:spcBef>
                <a:spcPts val="1490"/>
              </a:spcBef>
              <a:buAutoNum type="arabicParenR"/>
              <a:tabLst>
                <a:tab pos="642620" algn="l"/>
                <a:tab pos="643255" algn="l"/>
              </a:tabLst>
            </a:pPr>
            <a:r>
              <a:rPr dirty="0" sz="2000">
                <a:latin typeface="Comic Sans MS"/>
                <a:cs typeface="Comic Sans MS"/>
              </a:rPr>
              <a:t>the </a:t>
            </a:r>
            <a:r>
              <a:rPr dirty="0" sz="2000" u="heavy">
                <a:latin typeface="Comic Sans MS"/>
                <a:cs typeface="Comic Sans MS"/>
              </a:rPr>
              <a:t>neuromuscular </a:t>
            </a:r>
            <a:r>
              <a:rPr dirty="0" sz="2000" spc="-5" u="heavy">
                <a:latin typeface="Comic Sans MS"/>
                <a:cs typeface="Comic Sans MS"/>
              </a:rPr>
              <a:t>breathing apparatus </a:t>
            </a:r>
            <a:r>
              <a:rPr dirty="0" sz="2000" spc="-5">
                <a:latin typeface="Comic Sans MS"/>
                <a:cs typeface="Comic Sans MS"/>
              </a:rPr>
              <a:t>(i.e. the </a:t>
            </a:r>
            <a:r>
              <a:rPr dirty="0" sz="2000">
                <a:latin typeface="Comic Sans MS"/>
                <a:cs typeface="Comic Sans MS"/>
              </a:rPr>
              <a:t>respiratory  muscles </a:t>
            </a:r>
            <a:r>
              <a:rPr dirty="0" sz="2000" spc="-5">
                <a:latin typeface="Comic Sans MS"/>
                <a:cs typeface="Comic Sans MS"/>
              </a:rPr>
              <a:t>and their</a:t>
            </a:r>
            <a:r>
              <a:rPr dirty="0" sz="2000" spc="-5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innervation).</a:t>
            </a:r>
            <a:endParaRPr sz="20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02691"/>
            <a:ext cx="4838065" cy="36576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 b="1">
                <a:latin typeface="Comic Sans MS"/>
                <a:cs typeface="Comic Sans MS"/>
              </a:rPr>
              <a:t>I. </a:t>
            </a:r>
            <a:r>
              <a:rPr dirty="0" spc="-5" b="1" u="heavy">
                <a:latin typeface="Comic Sans MS"/>
                <a:cs typeface="Comic Sans MS"/>
              </a:rPr>
              <a:t>Arterial Hypoxia</a:t>
            </a:r>
            <a:r>
              <a:rPr dirty="0" spc="-90" b="1" u="heavy">
                <a:latin typeface="Comic Sans MS"/>
                <a:cs typeface="Comic Sans MS"/>
              </a:rPr>
              <a:t> </a:t>
            </a:r>
            <a:r>
              <a:rPr dirty="0" spc="-5" b="1" u="heavy">
                <a:latin typeface="Comic Sans MS"/>
                <a:cs typeface="Comic Sans MS"/>
              </a:rPr>
              <a:t>(Hypoxemia)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882142"/>
            <a:ext cx="7379970" cy="469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35050" marR="5080" indent="-1022985">
              <a:lnSpc>
                <a:spcPct val="70000"/>
              </a:lnSpc>
            </a:pPr>
            <a:r>
              <a:rPr dirty="0" sz="2200" spc="-10" u="heavy">
                <a:latin typeface="Comic Sans MS"/>
                <a:cs typeface="Comic Sans MS"/>
              </a:rPr>
              <a:t>Blood </a:t>
            </a:r>
            <a:r>
              <a:rPr dirty="0" sz="2200" spc="-5" u="heavy">
                <a:latin typeface="Comic Sans MS"/>
                <a:cs typeface="Comic Sans MS"/>
              </a:rPr>
              <a:t>hypoxia: </a:t>
            </a:r>
            <a:r>
              <a:rPr dirty="0" sz="2200" spc="-10">
                <a:latin typeface="Comic Sans MS"/>
                <a:cs typeface="Comic Sans MS"/>
              </a:rPr>
              <a:t>deficient blood </a:t>
            </a:r>
            <a:r>
              <a:rPr dirty="0" sz="2200" spc="-5">
                <a:latin typeface="Comic Sans MS"/>
                <a:cs typeface="Comic Sans MS"/>
              </a:rPr>
              <a:t>oxygenation, i.e. low PaO2  and low % Hb</a:t>
            </a:r>
            <a:r>
              <a:rPr dirty="0" sz="2200" spc="-65">
                <a:latin typeface="Comic Sans MS"/>
                <a:cs typeface="Comic Sans MS"/>
              </a:rPr>
              <a:t> </a:t>
            </a:r>
            <a:r>
              <a:rPr dirty="0" sz="2200" spc="-5">
                <a:latin typeface="Comic Sans MS"/>
                <a:cs typeface="Comic Sans MS"/>
              </a:rPr>
              <a:t>saturation.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658873"/>
            <a:ext cx="8335009" cy="45916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700">
                <a:latin typeface="Comic Sans MS"/>
                <a:cs typeface="Comic Sans MS"/>
              </a:rPr>
              <a:t>5 general causes of</a:t>
            </a:r>
            <a:r>
              <a:rPr dirty="0" sz="1700" spc="-70">
                <a:latin typeface="Comic Sans MS"/>
                <a:cs typeface="Comic Sans MS"/>
              </a:rPr>
              <a:t> </a:t>
            </a:r>
            <a:r>
              <a:rPr dirty="0" sz="1700">
                <a:latin typeface="Comic Sans MS"/>
                <a:cs typeface="Comic Sans MS"/>
              </a:rPr>
              <a:t>hypoxia:</a:t>
            </a:r>
            <a:endParaRPr sz="17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622300" algn="l"/>
                <a:tab pos="622935" algn="l"/>
              </a:tabLst>
            </a:pPr>
            <a:r>
              <a:rPr dirty="0" sz="1900" spc="-10" b="1">
                <a:latin typeface="Comic Sans MS"/>
                <a:cs typeface="Comic Sans MS"/>
              </a:rPr>
              <a:t>Inhalation </a:t>
            </a:r>
            <a:r>
              <a:rPr dirty="0" sz="1900" spc="-5" b="1">
                <a:latin typeface="Comic Sans MS"/>
                <a:cs typeface="Comic Sans MS"/>
              </a:rPr>
              <a:t>of low PO2 </a:t>
            </a:r>
            <a:r>
              <a:rPr dirty="0" sz="1900" spc="-5">
                <a:latin typeface="Comic Sans MS"/>
                <a:cs typeface="Comic Sans MS"/>
              </a:rPr>
              <a:t>(e.g. at high</a:t>
            </a:r>
            <a:r>
              <a:rPr dirty="0" sz="1900" spc="-125">
                <a:latin typeface="Comic Sans MS"/>
                <a:cs typeface="Comic Sans MS"/>
              </a:rPr>
              <a:t> </a:t>
            </a:r>
            <a:r>
              <a:rPr dirty="0" sz="1900" spc="-10">
                <a:latin typeface="Comic Sans MS"/>
                <a:cs typeface="Comic Sans MS"/>
              </a:rPr>
              <a:t>altitude).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omic Sans MS"/>
              <a:buAutoNum type="arabicParenR"/>
            </a:pPr>
            <a:endParaRPr sz="2750">
              <a:latin typeface="Times New Roman"/>
              <a:cs typeface="Times New Roman"/>
            </a:endParaRPr>
          </a:p>
          <a:p>
            <a:pPr marL="622300" marR="5080" indent="-609600">
              <a:lnSpc>
                <a:spcPct val="70000"/>
              </a:lnSpc>
              <a:spcBef>
                <a:spcPts val="5"/>
              </a:spcBef>
              <a:buAutoNum type="arabicParenR"/>
              <a:tabLst>
                <a:tab pos="622300" algn="l"/>
                <a:tab pos="622935" algn="l"/>
              </a:tabLst>
            </a:pPr>
            <a:r>
              <a:rPr dirty="0" sz="1900" spc="-5" b="1">
                <a:latin typeface="Comic Sans MS"/>
                <a:cs typeface="Comic Sans MS"/>
              </a:rPr>
              <a:t>Hypoventilation: </a:t>
            </a:r>
            <a:r>
              <a:rPr dirty="0" sz="1900" spc="-5">
                <a:latin typeface="Comic Sans MS"/>
                <a:cs typeface="Comic Sans MS"/>
              </a:rPr>
              <a:t>It means that alveolar ventilation in relation to </a:t>
            </a:r>
            <a:r>
              <a:rPr dirty="0" sz="1900" spc="-10">
                <a:latin typeface="Comic Sans MS"/>
                <a:cs typeface="Comic Sans MS"/>
              </a:rPr>
              <a:t>the  metabolic </a:t>
            </a:r>
            <a:r>
              <a:rPr dirty="0" sz="1900" spc="-5">
                <a:latin typeface="Comic Sans MS"/>
                <a:cs typeface="Comic Sans MS"/>
              </a:rPr>
              <a:t>CO2 </a:t>
            </a:r>
            <a:r>
              <a:rPr dirty="0" sz="1900" spc="-10">
                <a:latin typeface="Comic Sans MS"/>
                <a:cs typeface="Comic Sans MS"/>
              </a:rPr>
              <a:t>production </a:t>
            </a:r>
            <a:r>
              <a:rPr dirty="0" sz="1900" spc="-5">
                <a:latin typeface="Comic Sans MS"/>
                <a:cs typeface="Comic Sans MS"/>
              </a:rPr>
              <a:t>is reduced. PaO2 decreases and </a:t>
            </a:r>
            <a:r>
              <a:rPr dirty="0" sz="1900" spc="-10">
                <a:latin typeface="Comic Sans MS"/>
                <a:cs typeface="Comic Sans MS"/>
              </a:rPr>
              <a:t>PaCO2  increases.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Comic Sans MS"/>
              <a:buAutoNum type="arabicParenR"/>
            </a:pPr>
            <a:endParaRPr sz="2150">
              <a:latin typeface="Times New Roman"/>
              <a:cs typeface="Times New Roman"/>
            </a:endParaRPr>
          </a:p>
          <a:p>
            <a:pPr marL="622300" indent="-609600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622300" algn="l"/>
                <a:tab pos="622935" algn="l"/>
              </a:tabLst>
            </a:pPr>
            <a:r>
              <a:rPr dirty="0" sz="1900" spc="-5" b="1">
                <a:latin typeface="Comic Sans MS"/>
                <a:cs typeface="Comic Sans MS"/>
              </a:rPr>
              <a:t>Ventilation/perfusion imbalance in </a:t>
            </a:r>
            <a:r>
              <a:rPr dirty="0" sz="1900" spc="-10" b="1">
                <a:latin typeface="Comic Sans MS"/>
                <a:cs typeface="Comic Sans MS"/>
              </a:rPr>
              <a:t>the</a:t>
            </a:r>
            <a:r>
              <a:rPr dirty="0" sz="1900" spc="75" b="1">
                <a:latin typeface="Comic Sans MS"/>
                <a:cs typeface="Comic Sans MS"/>
              </a:rPr>
              <a:t> </a:t>
            </a:r>
            <a:r>
              <a:rPr dirty="0" sz="1900" spc="-5" b="1">
                <a:latin typeface="Comic Sans MS"/>
                <a:cs typeface="Comic Sans MS"/>
              </a:rPr>
              <a:t>lungs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omic Sans MS"/>
              <a:buAutoNum type="arabicParenR"/>
            </a:pPr>
            <a:endParaRPr sz="2750">
              <a:latin typeface="Times New Roman"/>
              <a:cs typeface="Times New Roman"/>
            </a:endParaRPr>
          </a:p>
          <a:p>
            <a:pPr marL="622300" marR="274320" indent="-609600">
              <a:lnSpc>
                <a:spcPct val="70000"/>
              </a:lnSpc>
              <a:spcBef>
                <a:spcPts val="5"/>
              </a:spcBef>
              <a:buAutoNum type="arabicParenR"/>
              <a:tabLst>
                <a:tab pos="622300" algn="l"/>
                <a:tab pos="622935" algn="l"/>
              </a:tabLst>
            </a:pPr>
            <a:r>
              <a:rPr dirty="0" sz="1900" spc="-10" b="1">
                <a:latin typeface="Comic Sans MS"/>
                <a:cs typeface="Comic Sans MS"/>
              </a:rPr>
              <a:t>Shunts </a:t>
            </a:r>
            <a:r>
              <a:rPr dirty="0" sz="1900" spc="-5" b="1">
                <a:latin typeface="Comic Sans MS"/>
                <a:cs typeface="Comic Sans MS"/>
              </a:rPr>
              <a:t>of </a:t>
            </a:r>
            <a:r>
              <a:rPr dirty="0" sz="1900" spc="-10" b="1">
                <a:latin typeface="Comic Sans MS"/>
                <a:cs typeface="Comic Sans MS"/>
              </a:rPr>
              <a:t>blood </a:t>
            </a:r>
            <a:r>
              <a:rPr dirty="0" sz="1900" spc="-5" b="1">
                <a:latin typeface="Comic Sans MS"/>
                <a:cs typeface="Comic Sans MS"/>
              </a:rPr>
              <a:t>across </a:t>
            </a:r>
            <a:r>
              <a:rPr dirty="0" sz="1900" spc="-10" b="1">
                <a:latin typeface="Comic Sans MS"/>
                <a:cs typeface="Comic Sans MS"/>
              </a:rPr>
              <a:t>the </a:t>
            </a:r>
            <a:r>
              <a:rPr dirty="0" sz="1900" spc="-5" b="1">
                <a:latin typeface="Comic Sans MS"/>
                <a:cs typeface="Comic Sans MS"/>
              </a:rPr>
              <a:t>lungs: </a:t>
            </a:r>
            <a:r>
              <a:rPr dirty="0" sz="1900" spc="-5">
                <a:latin typeface="Comic Sans MS"/>
                <a:cs typeface="Comic Sans MS"/>
              </a:rPr>
              <a:t>venous </a:t>
            </a:r>
            <a:r>
              <a:rPr dirty="0" sz="1900" spc="-10">
                <a:latin typeface="Comic Sans MS"/>
                <a:cs typeface="Comic Sans MS"/>
              </a:rPr>
              <a:t>blood </a:t>
            </a:r>
            <a:r>
              <a:rPr dirty="0" sz="1900" spc="-5">
                <a:latin typeface="Comic Sans MS"/>
                <a:cs typeface="Comic Sans MS"/>
              </a:rPr>
              <a:t>bypasses </a:t>
            </a:r>
            <a:r>
              <a:rPr dirty="0" sz="1900" spc="-10">
                <a:latin typeface="Comic Sans MS"/>
                <a:cs typeface="Comic Sans MS"/>
              </a:rPr>
              <a:t>the </a:t>
            </a:r>
            <a:r>
              <a:rPr dirty="0" sz="1900" spc="-5">
                <a:latin typeface="Comic Sans MS"/>
                <a:cs typeface="Comic Sans MS"/>
              </a:rPr>
              <a:t>gas  exchanging region of </a:t>
            </a:r>
            <a:r>
              <a:rPr dirty="0" sz="1900" spc="-10">
                <a:latin typeface="Comic Sans MS"/>
                <a:cs typeface="Comic Sans MS"/>
              </a:rPr>
              <a:t>the </a:t>
            </a:r>
            <a:r>
              <a:rPr dirty="0" sz="1900" spc="-5">
                <a:latin typeface="Comic Sans MS"/>
                <a:cs typeface="Comic Sans MS"/>
              </a:rPr>
              <a:t>lungs and </a:t>
            </a:r>
            <a:r>
              <a:rPr dirty="0" sz="1900" spc="-10">
                <a:latin typeface="Comic Sans MS"/>
                <a:cs typeface="Comic Sans MS"/>
              </a:rPr>
              <a:t>returns </a:t>
            </a:r>
            <a:r>
              <a:rPr dirty="0" sz="1900" spc="-5">
                <a:latin typeface="Comic Sans MS"/>
                <a:cs typeface="Comic Sans MS"/>
              </a:rPr>
              <a:t>to </a:t>
            </a:r>
            <a:r>
              <a:rPr dirty="0" sz="1900" spc="-10">
                <a:latin typeface="Comic Sans MS"/>
                <a:cs typeface="Comic Sans MS"/>
              </a:rPr>
              <a:t>the </a:t>
            </a:r>
            <a:r>
              <a:rPr dirty="0" sz="1900" spc="-5">
                <a:latin typeface="Comic Sans MS"/>
                <a:cs typeface="Comic Sans MS"/>
              </a:rPr>
              <a:t>systemic  </a:t>
            </a:r>
            <a:r>
              <a:rPr dirty="0" sz="1900" spc="-10">
                <a:latin typeface="Comic Sans MS"/>
                <a:cs typeface="Comic Sans MS"/>
              </a:rPr>
              <a:t>circulation</a:t>
            </a:r>
            <a:r>
              <a:rPr dirty="0" sz="1900" spc="25">
                <a:latin typeface="Comic Sans MS"/>
                <a:cs typeface="Comic Sans MS"/>
              </a:rPr>
              <a:t> </a:t>
            </a:r>
            <a:r>
              <a:rPr dirty="0" sz="1900" spc="-5">
                <a:latin typeface="Comic Sans MS"/>
                <a:cs typeface="Comic Sans MS"/>
              </a:rPr>
              <a:t>deoxygenated.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omic Sans MS"/>
              <a:buAutoNum type="arabicParenR"/>
            </a:pPr>
            <a:endParaRPr sz="2750">
              <a:latin typeface="Times New Roman"/>
              <a:cs typeface="Times New Roman"/>
            </a:endParaRPr>
          </a:p>
          <a:p>
            <a:pPr marL="622300" marR="340360" indent="-609600">
              <a:lnSpc>
                <a:spcPct val="70000"/>
              </a:lnSpc>
              <a:buAutoNum type="arabicParenR"/>
              <a:tabLst>
                <a:tab pos="622300" algn="l"/>
                <a:tab pos="622935" algn="l"/>
              </a:tabLst>
            </a:pPr>
            <a:r>
              <a:rPr dirty="0" sz="1900" spc="-10" b="1">
                <a:latin typeface="Comic Sans MS"/>
                <a:cs typeface="Comic Sans MS"/>
              </a:rPr>
              <a:t>O2 </a:t>
            </a:r>
            <a:r>
              <a:rPr dirty="0" sz="1900" spc="-5" b="1">
                <a:latin typeface="Comic Sans MS"/>
                <a:cs typeface="Comic Sans MS"/>
              </a:rPr>
              <a:t>diffusion impairment </a:t>
            </a:r>
            <a:r>
              <a:rPr dirty="0" sz="1900" spc="-5">
                <a:latin typeface="Comic Sans MS"/>
                <a:cs typeface="Comic Sans MS"/>
              </a:rPr>
              <a:t>(e.g. </a:t>
            </a:r>
            <a:r>
              <a:rPr dirty="0" sz="1900" spc="-10">
                <a:latin typeface="Comic Sans MS"/>
                <a:cs typeface="Comic Sans MS"/>
              </a:rPr>
              <a:t>thickening </a:t>
            </a:r>
            <a:r>
              <a:rPr dirty="0" sz="1900" spc="-5">
                <a:latin typeface="Comic Sans MS"/>
                <a:cs typeface="Comic Sans MS"/>
              </a:rPr>
              <a:t>of </a:t>
            </a:r>
            <a:r>
              <a:rPr dirty="0" sz="1900" spc="-10">
                <a:latin typeface="Comic Sans MS"/>
                <a:cs typeface="Comic Sans MS"/>
              </a:rPr>
              <a:t>the </a:t>
            </a:r>
            <a:r>
              <a:rPr dirty="0" sz="1900" spc="-5">
                <a:latin typeface="Comic Sans MS"/>
                <a:cs typeface="Comic Sans MS"/>
              </a:rPr>
              <a:t>alveolar-capillary  membrane, or pulmonary</a:t>
            </a:r>
            <a:r>
              <a:rPr dirty="0" sz="1900" spc="-15">
                <a:latin typeface="Comic Sans MS"/>
                <a:cs typeface="Comic Sans MS"/>
              </a:rPr>
              <a:t> </a:t>
            </a:r>
            <a:r>
              <a:rPr dirty="0" sz="1900" spc="-5">
                <a:latin typeface="Comic Sans MS"/>
                <a:cs typeface="Comic Sans MS"/>
              </a:rPr>
              <a:t>edema).</a:t>
            </a:r>
            <a:endParaRPr sz="19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VI </a:t>
            </a:r>
            <a:r>
              <a:rPr dirty="0" spc="-25" u="heavy"/>
              <a:t>Control </a:t>
            </a:r>
            <a:r>
              <a:rPr dirty="0" spc="-5" u="heavy"/>
              <a:t>of</a:t>
            </a:r>
            <a:r>
              <a:rPr dirty="0" spc="-170" u="heavy"/>
              <a:t> </a:t>
            </a:r>
            <a:r>
              <a:rPr dirty="0" spc="-20" u="heavy"/>
              <a:t>Breathing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32585"/>
            <a:ext cx="8212455" cy="4657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20" b="1">
                <a:latin typeface="Calibri"/>
                <a:cs typeface="Calibri"/>
              </a:rPr>
              <a:t>A.</a:t>
            </a:r>
            <a:r>
              <a:rPr dirty="0" sz="2400" spc="-20" b="1" u="heavy">
                <a:latin typeface="Calibri"/>
                <a:cs typeface="Calibri"/>
              </a:rPr>
              <a:t>Voluntary </a:t>
            </a:r>
            <a:r>
              <a:rPr dirty="0" sz="2400" spc="-5" b="1" u="heavy">
                <a:latin typeface="Calibri"/>
                <a:cs typeface="Calibri"/>
              </a:rPr>
              <a:t>vs </a:t>
            </a:r>
            <a:r>
              <a:rPr dirty="0" sz="2400" spc="-10" b="1" u="heavy">
                <a:latin typeface="Calibri"/>
                <a:cs typeface="Calibri"/>
              </a:rPr>
              <a:t>Automatic Breathing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50">
              <a:latin typeface="Times New Roman"/>
              <a:cs typeface="Times New Roman"/>
            </a:endParaRPr>
          </a:p>
          <a:p>
            <a:pPr marL="157480" indent="-144780">
              <a:lnSpc>
                <a:spcPct val="100000"/>
              </a:lnSpc>
              <a:buFont typeface="Arial"/>
              <a:buChar char="•"/>
              <a:tabLst>
                <a:tab pos="157480" algn="l"/>
              </a:tabLst>
            </a:pPr>
            <a:r>
              <a:rPr dirty="0" sz="2000" spc="-5">
                <a:latin typeface="Calibri"/>
                <a:cs typeface="Calibri"/>
              </a:rPr>
              <a:t>Breathing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5">
                <a:latin typeface="Calibri"/>
                <a:cs typeface="Calibri"/>
              </a:rPr>
              <a:t>under both </a:t>
            </a:r>
            <a:r>
              <a:rPr dirty="0" sz="2000" spc="-10" u="heavy">
                <a:latin typeface="Calibri"/>
                <a:cs typeface="Calibri"/>
              </a:rPr>
              <a:t>voluntary </a:t>
            </a:r>
            <a:r>
              <a:rPr dirty="0" sz="2000" u="heavy">
                <a:latin typeface="Calibri"/>
                <a:cs typeface="Calibri"/>
              </a:rPr>
              <a:t>and </a:t>
            </a:r>
            <a:r>
              <a:rPr dirty="0" sz="2000" spc="-10" u="heavy">
                <a:latin typeface="Calibri"/>
                <a:cs typeface="Calibri"/>
              </a:rPr>
              <a:t>involuntary</a:t>
            </a:r>
            <a:r>
              <a:rPr dirty="0" sz="2000" spc="-20" u="heavy">
                <a:latin typeface="Calibri"/>
                <a:cs typeface="Calibri"/>
              </a:rPr>
              <a:t> </a:t>
            </a:r>
            <a:r>
              <a:rPr dirty="0" sz="2000" spc="-10" u="heavy">
                <a:latin typeface="Calibri"/>
                <a:cs typeface="Calibri"/>
              </a:rPr>
              <a:t>control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100">
              <a:latin typeface="Times New Roman"/>
              <a:cs typeface="Times New Roman"/>
            </a:endParaRPr>
          </a:p>
          <a:p>
            <a:pPr marL="12700" marR="64135">
              <a:lnSpc>
                <a:spcPts val="2160"/>
              </a:lnSpc>
              <a:spcBef>
                <a:spcPts val="1385"/>
              </a:spcBef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central </a:t>
            </a:r>
            <a:r>
              <a:rPr dirty="0" sz="2000" spc="-5">
                <a:latin typeface="Calibri"/>
                <a:cs typeface="Calibri"/>
              </a:rPr>
              <a:t>nervous </a:t>
            </a:r>
            <a:r>
              <a:rPr dirty="0" sz="2000" spc="-20">
                <a:latin typeface="Calibri"/>
                <a:cs typeface="Calibri"/>
              </a:rPr>
              <a:t>system </a:t>
            </a:r>
            <a:r>
              <a:rPr dirty="0" sz="2000" spc="-10">
                <a:latin typeface="Calibri"/>
                <a:cs typeface="Calibri"/>
              </a:rPr>
              <a:t>controls gas exchange </a:t>
            </a:r>
            <a:r>
              <a:rPr dirty="0" sz="2000" spc="-5">
                <a:latin typeface="Calibri"/>
                <a:cs typeface="Calibri"/>
              </a:rPr>
              <a:t>by </a:t>
            </a:r>
            <a:r>
              <a:rPr dirty="0" sz="2000" spc="-15" b="1" u="heavy">
                <a:latin typeface="Calibri"/>
                <a:cs typeface="Calibri"/>
              </a:rPr>
              <a:t>integrating </a:t>
            </a:r>
            <a:r>
              <a:rPr dirty="0" sz="2000">
                <a:latin typeface="Calibri"/>
                <a:cs typeface="Calibri"/>
              </a:rPr>
              <a:t>all the  </a:t>
            </a:r>
            <a:r>
              <a:rPr dirty="0" sz="2000" spc="-10">
                <a:latin typeface="Calibri"/>
                <a:cs typeface="Calibri"/>
              </a:rPr>
              <a:t>information </a:t>
            </a:r>
            <a:r>
              <a:rPr dirty="0" sz="2000" spc="-5">
                <a:latin typeface="Calibri"/>
                <a:cs typeface="Calibri"/>
              </a:rPr>
              <a:t>coming </a:t>
            </a:r>
            <a:r>
              <a:rPr dirty="0" sz="2000" spc="-15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periphery which </a:t>
            </a:r>
            <a:r>
              <a:rPr dirty="0" sz="2000">
                <a:latin typeface="Calibri"/>
                <a:cs typeface="Calibri"/>
              </a:rPr>
              <a:t>in turn, </a:t>
            </a:r>
            <a:r>
              <a:rPr dirty="0" sz="2000" spc="-5">
                <a:latin typeface="Calibri"/>
                <a:cs typeface="Calibri"/>
              </a:rPr>
              <a:t>gives </a:t>
            </a:r>
            <a:r>
              <a:rPr dirty="0" sz="2000">
                <a:latin typeface="Calibri"/>
                <a:cs typeface="Calibri"/>
              </a:rPr>
              <a:t>an </a:t>
            </a:r>
            <a:r>
              <a:rPr dirty="0" sz="2000" spc="-5">
                <a:latin typeface="Calibri"/>
                <a:cs typeface="Calibri"/>
              </a:rPr>
              <a:t>adequate depth 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frequency of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breathing.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1455"/>
              </a:spcBef>
            </a:pPr>
            <a:r>
              <a:rPr dirty="0" sz="2000" spc="-10">
                <a:latin typeface="Arial"/>
                <a:cs typeface="Arial"/>
              </a:rPr>
              <a:t>•</a:t>
            </a:r>
            <a:r>
              <a:rPr dirty="0" sz="2000" spc="-10">
                <a:latin typeface="Calibri"/>
                <a:cs typeface="Calibri"/>
              </a:rPr>
              <a:t>There are </a:t>
            </a:r>
            <a:r>
              <a:rPr dirty="0" sz="2000" spc="-15">
                <a:latin typeface="Calibri"/>
                <a:cs typeface="Calibri"/>
              </a:rPr>
              <a:t>separate </a:t>
            </a:r>
            <a:r>
              <a:rPr dirty="0" sz="2000" spc="-10">
                <a:latin typeface="Calibri"/>
                <a:cs typeface="Calibri"/>
              </a:rPr>
              <a:t>neurological </a:t>
            </a:r>
            <a:r>
              <a:rPr dirty="0" sz="2000" spc="-5">
                <a:latin typeface="Calibri"/>
                <a:cs typeface="Calibri"/>
              </a:rPr>
              <a:t>structures </a:t>
            </a:r>
            <a:r>
              <a:rPr dirty="0" sz="2000" spc="-15" u="heavy">
                <a:latin typeface="Calibri"/>
                <a:cs typeface="Calibri"/>
              </a:rPr>
              <a:t>for </a:t>
            </a:r>
            <a:r>
              <a:rPr dirty="0" sz="2000" spc="-5" u="heavy">
                <a:latin typeface="Calibri"/>
                <a:cs typeface="Calibri"/>
              </a:rPr>
              <a:t>automatic </a:t>
            </a:r>
            <a:r>
              <a:rPr dirty="0" sz="2000" u="heavy">
                <a:latin typeface="Calibri"/>
                <a:cs typeface="Calibri"/>
              </a:rPr>
              <a:t>and </a:t>
            </a:r>
            <a:r>
              <a:rPr dirty="0" sz="2000" spc="-10" u="heavy">
                <a:latin typeface="Calibri"/>
                <a:cs typeface="Calibri"/>
              </a:rPr>
              <a:t>voluntary </a:t>
            </a:r>
            <a:r>
              <a:rPr dirty="0" sz="2000" spc="-15">
                <a:latin typeface="Calibri"/>
                <a:cs typeface="Calibri"/>
              </a:rPr>
              <a:t>control  </a:t>
            </a:r>
            <a:r>
              <a:rPr dirty="0" sz="2000">
                <a:latin typeface="Calibri"/>
                <a:cs typeface="Calibri"/>
              </a:rPr>
              <a:t>but the </a:t>
            </a:r>
            <a:r>
              <a:rPr dirty="0" sz="2000" spc="-10">
                <a:latin typeface="Calibri"/>
                <a:cs typeface="Calibri"/>
              </a:rPr>
              <a:t>two </a:t>
            </a:r>
            <a:r>
              <a:rPr dirty="0" sz="2000" spc="-20">
                <a:latin typeface="Calibri"/>
                <a:cs typeface="Calibri"/>
              </a:rPr>
              <a:t>systems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interact: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lvl="1" marL="962025" indent="-263525">
              <a:lnSpc>
                <a:spcPct val="100000"/>
              </a:lnSpc>
              <a:spcBef>
                <a:spcPts val="1185"/>
              </a:spcBef>
              <a:buAutoNum type="arabicParenR"/>
              <a:tabLst>
                <a:tab pos="962660" algn="l"/>
              </a:tabLst>
            </a:pPr>
            <a:r>
              <a:rPr dirty="0" sz="2000" spc="-10" u="heavy">
                <a:latin typeface="Calibri"/>
                <a:cs typeface="Calibri"/>
              </a:rPr>
              <a:t>Cerebral </a:t>
            </a:r>
            <a:r>
              <a:rPr dirty="0" sz="2000" spc="-5" u="heavy">
                <a:latin typeface="Calibri"/>
                <a:cs typeface="Calibri"/>
              </a:rPr>
              <a:t>hemispheres </a:t>
            </a:r>
            <a:r>
              <a:rPr dirty="0" sz="2000" spc="-10" u="heavy">
                <a:latin typeface="Calibri"/>
                <a:cs typeface="Calibri"/>
              </a:rPr>
              <a:t>control voluntary </a:t>
            </a:r>
            <a:r>
              <a:rPr dirty="0" sz="2000" spc="-5" u="heavy">
                <a:latin typeface="Calibri"/>
                <a:cs typeface="Calibri"/>
              </a:rPr>
              <a:t>breathing</a:t>
            </a:r>
            <a:r>
              <a:rPr dirty="0" sz="2000" spc="-5">
                <a:latin typeface="Calibri"/>
                <a:cs typeface="Calibri"/>
              </a:rPr>
              <a:t>;</a:t>
            </a:r>
            <a:endParaRPr sz="2000">
              <a:latin typeface="Calibri"/>
              <a:cs typeface="Calibri"/>
            </a:endParaRPr>
          </a:p>
          <a:p>
            <a:pPr lvl="1" marL="962025" indent="-263525">
              <a:lnSpc>
                <a:spcPct val="100000"/>
              </a:lnSpc>
              <a:spcBef>
                <a:spcPts val="565"/>
              </a:spcBef>
              <a:buAutoNum type="arabicParenR"/>
              <a:tabLst>
                <a:tab pos="962660" algn="l"/>
              </a:tabLst>
            </a:pPr>
            <a:r>
              <a:rPr dirty="0" sz="2000" spc="-10" u="heavy">
                <a:latin typeface="Calibri"/>
                <a:cs typeface="Calibri"/>
              </a:rPr>
              <a:t>Brainstem </a:t>
            </a:r>
            <a:r>
              <a:rPr dirty="0" sz="2000" spc="-5" u="heavy">
                <a:latin typeface="Calibri"/>
                <a:cs typeface="Calibri"/>
              </a:rPr>
              <a:t>(pons </a:t>
            </a:r>
            <a:r>
              <a:rPr dirty="0" sz="2000" u="heavy">
                <a:latin typeface="Calibri"/>
                <a:cs typeface="Calibri"/>
              </a:rPr>
              <a:t>and </a:t>
            </a:r>
            <a:r>
              <a:rPr dirty="0" sz="2000" spc="-5" u="heavy">
                <a:latin typeface="Calibri"/>
                <a:cs typeface="Calibri"/>
              </a:rPr>
              <a:t>medulla) </a:t>
            </a:r>
            <a:r>
              <a:rPr dirty="0" sz="2000" spc="-10" u="heavy">
                <a:latin typeface="Calibri"/>
                <a:cs typeface="Calibri"/>
              </a:rPr>
              <a:t>controls involuntary</a:t>
            </a:r>
            <a:r>
              <a:rPr dirty="0" sz="2000" spc="15" u="heavy">
                <a:latin typeface="Calibri"/>
                <a:cs typeface="Calibri"/>
              </a:rPr>
              <a:t> </a:t>
            </a:r>
            <a:r>
              <a:rPr dirty="0" sz="2000" spc="-5" u="heavy">
                <a:latin typeface="Calibri"/>
                <a:cs typeface="Calibri"/>
              </a:rPr>
              <a:t>breathing</a:t>
            </a:r>
            <a:r>
              <a:rPr dirty="0" sz="2000" spc="-5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30" u="heavy"/>
              <a:t>Voluntary </a:t>
            </a:r>
            <a:r>
              <a:rPr dirty="0" spc="-10" u="heavy"/>
              <a:t>vs </a:t>
            </a:r>
            <a:r>
              <a:rPr dirty="0" spc="-25" u="heavy"/>
              <a:t>Automatic</a:t>
            </a:r>
            <a:r>
              <a:rPr dirty="0" spc="-150" u="heavy"/>
              <a:t> </a:t>
            </a:r>
            <a:r>
              <a:rPr dirty="0" spc="-25" u="heavy"/>
              <a:t>Breathing</a:t>
            </a:r>
          </a:p>
        </p:txBody>
      </p:sp>
      <p:sp>
        <p:nvSpPr>
          <p:cNvPr id="3" name="object 3"/>
          <p:cNvSpPr/>
          <p:nvPr/>
        </p:nvSpPr>
        <p:spPr>
          <a:xfrm>
            <a:off x="2378964" y="1825751"/>
            <a:ext cx="4386071" cy="4351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616584"/>
            <a:ext cx="4042410" cy="3937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30" u="heavy"/>
              <a:t>Voluntary </a:t>
            </a:r>
            <a:r>
              <a:rPr dirty="0" spc="-10" u="heavy"/>
              <a:t>vs </a:t>
            </a:r>
            <a:r>
              <a:rPr dirty="0" spc="-25" u="heavy"/>
              <a:t>Automatic</a:t>
            </a:r>
            <a:r>
              <a:rPr dirty="0" spc="-150" u="heavy"/>
              <a:t> </a:t>
            </a:r>
            <a:r>
              <a:rPr dirty="0" spc="-25" u="heavy"/>
              <a:t>Breathing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8609"/>
            <a:ext cx="8038465" cy="2371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900" spc="-5" b="1" u="heavy">
                <a:latin typeface="Calibri"/>
                <a:cs typeface="Calibri"/>
              </a:rPr>
              <a:t>Breaking</a:t>
            </a:r>
            <a:r>
              <a:rPr dirty="0" sz="1900" spc="-85" b="1" u="heavy">
                <a:latin typeface="Calibri"/>
                <a:cs typeface="Calibri"/>
              </a:rPr>
              <a:t> </a:t>
            </a:r>
            <a:r>
              <a:rPr dirty="0" sz="1900" spc="-5" b="1" u="heavy">
                <a:latin typeface="Calibri"/>
                <a:cs typeface="Calibri"/>
              </a:rPr>
              <a:t>point: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  <a:spcBef>
                <a:spcPts val="1235"/>
              </a:spcBef>
            </a:pPr>
            <a:r>
              <a:rPr dirty="0" sz="1900" spc="-5">
                <a:latin typeface="Calibri"/>
                <a:cs typeface="Calibri"/>
              </a:rPr>
              <a:t>If </a:t>
            </a:r>
            <a:r>
              <a:rPr dirty="0" sz="1900" spc="-15">
                <a:latin typeface="Calibri"/>
                <a:cs typeface="Calibri"/>
              </a:rPr>
              <a:t>you </a:t>
            </a:r>
            <a:r>
              <a:rPr dirty="0" sz="1900" spc="-20">
                <a:latin typeface="Calibri"/>
                <a:cs typeface="Calibri"/>
              </a:rPr>
              <a:t>stop </a:t>
            </a:r>
            <a:r>
              <a:rPr dirty="0" sz="1900" spc="-10">
                <a:latin typeface="Calibri"/>
                <a:cs typeface="Calibri"/>
              </a:rPr>
              <a:t>ventilation </a:t>
            </a:r>
            <a:r>
              <a:rPr dirty="0" sz="1900" spc="-20">
                <a:latin typeface="Calibri"/>
                <a:cs typeface="Calibri"/>
              </a:rPr>
              <a:t>voluntarily, </a:t>
            </a:r>
            <a:r>
              <a:rPr dirty="0" sz="1900" spc="-15">
                <a:latin typeface="Calibri"/>
                <a:cs typeface="Calibri"/>
              </a:rPr>
              <a:t>you </a:t>
            </a:r>
            <a:r>
              <a:rPr dirty="0" sz="1900" spc="-5">
                <a:latin typeface="Calibri"/>
                <a:cs typeface="Calibri"/>
              </a:rPr>
              <a:t>will </a:t>
            </a:r>
            <a:r>
              <a:rPr dirty="0" sz="1900" spc="-10">
                <a:latin typeface="Calibri"/>
                <a:cs typeface="Calibri"/>
              </a:rPr>
              <a:t>find </a:t>
            </a:r>
            <a:r>
              <a:rPr dirty="0" sz="1900" spc="-5">
                <a:latin typeface="Calibri"/>
                <a:cs typeface="Calibri"/>
              </a:rPr>
              <a:t>that in </a:t>
            </a:r>
            <a:r>
              <a:rPr dirty="0" sz="1900" spc="-10">
                <a:latin typeface="Calibri"/>
                <a:cs typeface="Calibri"/>
              </a:rPr>
              <a:t>spite </a:t>
            </a:r>
            <a:r>
              <a:rPr dirty="0" sz="1900" spc="-5">
                <a:latin typeface="Calibri"/>
                <a:cs typeface="Calibri"/>
              </a:rPr>
              <a:t>of </a:t>
            </a:r>
            <a:r>
              <a:rPr dirty="0" sz="1900" spc="-15">
                <a:latin typeface="Calibri"/>
                <a:cs typeface="Calibri"/>
              </a:rPr>
              <a:t>your </a:t>
            </a:r>
            <a:r>
              <a:rPr dirty="0" sz="1900" spc="-20">
                <a:latin typeface="Calibri"/>
                <a:cs typeface="Calibri"/>
              </a:rPr>
              <a:t>efforts </a:t>
            </a:r>
            <a:r>
              <a:rPr dirty="0" sz="1900" spc="-15">
                <a:latin typeface="Calibri"/>
                <a:cs typeface="Calibri"/>
              </a:rPr>
              <a:t>to  prevent </a:t>
            </a:r>
            <a:r>
              <a:rPr dirty="0" sz="1900" spc="-5">
                <a:latin typeface="Calibri"/>
                <a:cs typeface="Calibri"/>
              </a:rPr>
              <a:t>it, </a:t>
            </a:r>
            <a:r>
              <a:rPr dirty="0" sz="1900" spc="-10">
                <a:latin typeface="Calibri"/>
                <a:cs typeface="Calibri"/>
              </a:rPr>
              <a:t>breathing </a:t>
            </a:r>
            <a:r>
              <a:rPr dirty="0" sz="1900" spc="-5">
                <a:latin typeface="Calibri"/>
                <a:cs typeface="Calibri"/>
              </a:rPr>
              <a:t>will </a:t>
            </a:r>
            <a:r>
              <a:rPr dirty="0" sz="1900" spc="-10">
                <a:latin typeface="Calibri"/>
                <a:cs typeface="Calibri"/>
              </a:rPr>
              <a:t>eventually </a:t>
            </a:r>
            <a:r>
              <a:rPr dirty="0" sz="1900" spc="-15">
                <a:latin typeface="Calibri"/>
                <a:cs typeface="Calibri"/>
              </a:rPr>
              <a:t>start </a:t>
            </a:r>
            <a:r>
              <a:rPr dirty="0" sz="1900" spc="-10">
                <a:latin typeface="Calibri"/>
                <a:cs typeface="Calibri"/>
              </a:rPr>
              <a:t>again. This </a:t>
            </a:r>
            <a:r>
              <a:rPr dirty="0" sz="1900" spc="-15">
                <a:latin typeface="Calibri"/>
                <a:cs typeface="Calibri"/>
              </a:rPr>
              <a:t>occurs </a:t>
            </a:r>
            <a:r>
              <a:rPr dirty="0" sz="1900" spc="-10">
                <a:latin typeface="Calibri"/>
                <a:cs typeface="Calibri"/>
              </a:rPr>
              <a:t>because </a:t>
            </a:r>
            <a:r>
              <a:rPr dirty="0" sz="1900" spc="-5">
                <a:latin typeface="Calibri"/>
                <a:cs typeface="Calibri"/>
              </a:rPr>
              <a:t>the arterial  </a:t>
            </a:r>
            <a:r>
              <a:rPr dirty="0" sz="1900" spc="-5" u="heavy">
                <a:latin typeface="Calibri"/>
                <a:cs typeface="Calibri"/>
              </a:rPr>
              <a:t>PCO</a:t>
            </a:r>
            <a:r>
              <a:rPr dirty="0" sz="1500" spc="-5" u="heavy">
                <a:latin typeface="Calibri"/>
                <a:cs typeface="Calibri"/>
              </a:rPr>
              <a:t>2 </a:t>
            </a:r>
            <a:r>
              <a:rPr dirty="0" sz="1900" spc="-10" u="heavy">
                <a:latin typeface="Calibri"/>
                <a:cs typeface="Calibri"/>
              </a:rPr>
              <a:t>has </a:t>
            </a:r>
            <a:r>
              <a:rPr dirty="0" sz="1900" spc="-5" u="heavy">
                <a:latin typeface="Calibri"/>
                <a:cs typeface="Calibri"/>
              </a:rPr>
              <a:t>reached about 50 mm Hg </a:t>
            </a:r>
            <a:r>
              <a:rPr dirty="0" sz="1900" spc="-5">
                <a:latin typeface="Calibri"/>
                <a:cs typeface="Calibri"/>
              </a:rPr>
              <a:t>and arterial </a:t>
            </a:r>
            <a:r>
              <a:rPr dirty="0" sz="1900" spc="-5" u="heavy">
                <a:latin typeface="Calibri"/>
                <a:cs typeface="Calibri"/>
              </a:rPr>
              <a:t>PO</a:t>
            </a:r>
            <a:r>
              <a:rPr dirty="0" sz="1500" spc="-5" u="heavy">
                <a:latin typeface="Calibri"/>
                <a:cs typeface="Calibri"/>
              </a:rPr>
              <a:t>2 </a:t>
            </a:r>
            <a:r>
              <a:rPr dirty="0" sz="1900" spc="-10" u="heavy">
                <a:latin typeface="Calibri"/>
                <a:cs typeface="Calibri"/>
              </a:rPr>
              <a:t>has </a:t>
            </a:r>
            <a:r>
              <a:rPr dirty="0" sz="1900" spc="-5" u="heavy">
                <a:latin typeface="Calibri"/>
                <a:cs typeface="Calibri"/>
              </a:rPr>
              <a:t>reached about 70 mm  </a:t>
            </a:r>
            <a:r>
              <a:rPr dirty="0" sz="1900" spc="-5" u="heavy">
                <a:latin typeface="Calibri"/>
                <a:cs typeface="Calibri"/>
              </a:rPr>
              <a:t>Hg</a:t>
            </a:r>
            <a:r>
              <a:rPr dirty="0" sz="1900" spc="-5">
                <a:latin typeface="Calibri"/>
                <a:cs typeface="Calibri"/>
              </a:rPr>
              <a:t>, </a:t>
            </a:r>
            <a:r>
              <a:rPr dirty="0" sz="1900" spc="-10">
                <a:latin typeface="Calibri"/>
                <a:cs typeface="Calibri"/>
              </a:rPr>
              <a:t>at </a:t>
            </a:r>
            <a:r>
              <a:rPr dirty="0" sz="1900" spc="-5">
                <a:latin typeface="Calibri"/>
                <a:cs typeface="Calibri"/>
              </a:rPr>
              <a:t>which </a:t>
            </a:r>
            <a:r>
              <a:rPr dirty="0" sz="1900" spc="-10">
                <a:latin typeface="Calibri"/>
                <a:cs typeface="Calibri"/>
              </a:rPr>
              <a:t>point voluntary </a:t>
            </a:r>
            <a:r>
              <a:rPr dirty="0" sz="1900" spc="-15">
                <a:latin typeface="Calibri"/>
                <a:cs typeface="Calibri"/>
              </a:rPr>
              <a:t>control </a:t>
            </a:r>
            <a:r>
              <a:rPr dirty="0" sz="1900" spc="-5">
                <a:latin typeface="Calibri"/>
                <a:cs typeface="Calibri"/>
              </a:rPr>
              <a:t>is </a:t>
            </a:r>
            <a:r>
              <a:rPr dirty="0" sz="1900" spc="-10">
                <a:latin typeface="Calibri"/>
                <a:cs typeface="Calibri"/>
              </a:rPr>
              <a:t>over-ridden. This </a:t>
            </a:r>
            <a:r>
              <a:rPr dirty="0" sz="1900" spc="-5">
                <a:latin typeface="Calibri"/>
                <a:cs typeface="Calibri"/>
              </a:rPr>
              <a:t>is called the </a:t>
            </a:r>
            <a:r>
              <a:rPr dirty="0" sz="1900" spc="-5" b="1" u="heavy">
                <a:latin typeface="Calibri"/>
                <a:cs typeface="Calibri"/>
              </a:rPr>
              <a:t>breaking  </a:t>
            </a:r>
            <a:r>
              <a:rPr dirty="0" sz="1900" spc="-5" b="1" u="heavy">
                <a:latin typeface="Calibri"/>
                <a:cs typeface="Calibri"/>
              </a:rPr>
              <a:t>point</a:t>
            </a:r>
            <a:r>
              <a:rPr dirty="0" sz="1900" spc="-5">
                <a:latin typeface="Calibri"/>
                <a:cs typeface="Calibri"/>
              </a:rPr>
              <a:t>. </a:t>
            </a:r>
            <a:r>
              <a:rPr dirty="0" sz="1900" spc="-10">
                <a:latin typeface="Calibri"/>
                <a:cs typeface="Calibri"/>
              </a:rPr>
              <a:t>The over-riding </a:t>
            </a:r>
            <a:r>
              <a:rPr dirty="0" sz="1900" spc="-5">
                <a:latin typeface="Calibri"/>
                <a:cs typeface="Calibri"/>
              </a:rPr>
              <a:t>of the </a:t>
            </a:r>
            <a:r>
              <a:rPr dirty="0" sz="1900" spc="-10">
                <a:latin typeface="Calibri"/>
                <a:cs typeface="Calibri"/>
              </a:rPr>
              <a:t>voluntary </a:t>
            </a:r>
            <a:r>
              <a:rPr dirty="0" sz="1900" spc="-15">
                <a:latin typeface="Calibri"/>
                <a:cs typeface="Calibri"/>
              </a:rPr>
              <a:t>control </a:t>
            </a:r>
            <a:r>
              <a:rPr dirty="0" sz="1900" spc="-10">
                <a:latin typeface="Calibri"/>
                <a:cs typeface="Calibri"/>
              </a:rPr>
              <a:t>by </a:t>
            </a:r>
            <a:r>
              <a:rPr dirty="0" sz="1900" spc="-5">
                <a:latin typeface="Calibri"/>
                <a:cs typeface="Calibri"/>
              </a:rPr>
              <a:t>the </a:t>
            </a:r>
            <a:r>
              <a:rPr dirty="0" sz="1900" spc="-10">
                <a:latin typeface="Calibri"/>
                <a:cs typeface="Calibri"/>
              </a:rPr>
              <a:t>automatic </a:t>
            </a:r>
            <a:r>
              <a:rPr dirty="0" sz="1900" spc="-15">
                <a:latin typeface="Calibri"/>
                <a:cs typeface="Calibri"/>
              </a:rPr>
              <a:t>control </a:t>
            </a:r>
            <a:r>
              <a:rPr dirty="0" sz="1900" spc="-10">
                <a:latin typeface="Calibri"/>
                <a:cs typeface="Calibri"/>
              </a:rPr>
              <a:t>depends  upon </a:t>
            </a:r>
            <a:r>
              <a:rPr dirty="0" sz="1900" spc="-5">
                <a:latin typeface="Calibri"/>
                <a:cs typeface="Calibri"/>
              </a:rPr>
              <a:t>the </a:t>
            </a:r>
            <a:r>
              <a:rPr dirty="0" sz="1900" spc="-15">
                <a:latin typeface="Calibri"/>
                <a:cs typeface="Calibri"/>
              </a:rPr>
              <a:t>information from </a:t>
            </a:r>
            <a:r>
              <a:rPr dirty="0" sz="1900" spc="-5">
                <a:latin typeface="Calibri"/>
                <a:cs typeface="Calibri"/>
              </a:rPr>
              <a:t>the </a:t>
            </a:r>
            <a:r>
              <a:rPr dirty="0" sz="1900" spc="-15">
                <a:latin typeface="Calibri"/>
                <a:cs typeface="Calibri"/>
              </a:rPr>
              <a:t>receptors </a:t>
            </a:r>
            <a:r>
              <a:rPr dirty="0" sz="1900" spc="-10">
                <a:latin typeface="Calibri"/>
                <a:cs typeface="Calibri"/>
              </a:rPr>
              <a:t>sensitive </a:t>
            </a:r>
            <a:r>
              <a:rPr dirty="0" sz="1900" spc="-15">
                <a:latin typeface="Calibri"/>
                <a:cs typeface="Calibri"/>
              </a:rPr>
              <a:t>to </a:t>
            </a:r>
            <a:r>
              <a:rPr dirty="0" sz="1900">
                <a:latin typeface="Calibri"/>
                <a:cs typeface="Calibri"/>
              </a:rPr>
              <a:t>CO</a:t>
            </a:r>
            <a:r>
              <a:rPr dirty="0" sz="1500">
                <a:latin typeface="Calibri"/>
                <a:cs typeface="Calibri"/>
              </a:rPr>
              <a:t>2 </a:t>
            </a:r>
            <a:r>
              <a:rPr dirty="0" sz="1900" spc="-5">
                <a:latin typeface="Calibri"/>
                <a:cs typeface="Calibri"/>
              </a:rPr>
              <a:t>and </a:t>
            </a:r>
            <a:r>
              <a:rPr dirty="0" sz="1900">
                <a:latin typeface="Calibri"/>
                <a:cs typeface="Calibri"/>
              </a:rPr>
              <a:t>O</a:t>
            </a:r>
            <a:r>
              <a:rPr dirty="0" sz="1500">
                <a:latin typeface="Calibri"/>
                <a:cs typeface="Calibri"/>
              </a:rPr>
              <a:t>2 </a:t>
            </a:r>
            <a:r>
              <a:rPr dirty="0" sz="1900" spc="-10">
                <a:latin typeface="Calibri"/>
                <a:cs typeface="Calibri"/>
              </a:rPr>
              <a:t>levels </a:t>
            </a:r>
            <a:r>
              <a:rPr dirty="0" sz="1900" spc="-5">
                <a:latin typeface="Calibri"/>
                <a:cs typeface="Calibri"/>
              </a:rPr>
              <a:t>(in arterial  </a:t>
            </a:r>
            <a:r>
              <a:rPr dirty="0" sz="1900" spc="-10">
                <a:latin typeface="Calibri"/>
                <a:cs typeface="Calibri"/>
              </a:rPr>
              <a:t>blood and/or cerebro-spinal</a:t>
            </a:r>
            <a:r>
              <a:rPr dirty="0" sz="1900" spc="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fluid).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/>
              <a:t>B.</a:t>
            </a:r>
            <a:r>
              <a:rPr dirty="0" sz="1800" spc="-30"/>
              <a:t> </a:t>
            </a:r>
            <a:r>
              <a:rPr dirty="0" sz="1800" spc="-15" u="sng"/>
              <a:t>Structures</a:t>
            </a:r>
            <a:r>
              <a:rPr dirty="0" sz="1800" spc="-65" u="sng"/>
              <a:t> </a:t>
            </a:r>
            <a:r>
              <a:rPr dirty="0" sz="1800" spc="-20" u="sng"/>
              <a:t>Involved</a:t>
            </a:r>
            <a:r>
              <a:rPr dirty="0" sz="1800" spc="-75" u="sng"/>
              <a:t> </a:t>
            </a:r>
            <a:r>
              <a:rPr dirty="0" sz="1800" u="sng"/>
              <a:t>in</a:t>
            </a:r>
            <a:r>
              <a:rPr dirty="0" sz="1800" spc="-55" u="sng"/>
              <a:t> </a:t>
            </a:r>
            <a:r>
              <a:rPr dirty="0" sz="1800" spc="-5" u="sng"/>
              <a:t>the</a:t>
            </a:r>
            <a:r>
              <a:rPr dirty="0" sz="1800" spc="-65" u="sng"/>
              <a:t> </a:t>
            </a:r>
            <a:r>
              <a:rPr dirty="0" sz="1800" spc="-20" u="sng"/>
              <a:t>Control</a:t>
            </a:r>
            <a:r>
              <a:rPr dirty="0" sz="1800" spc="-55" u="sng"/>
              <a:t> </a:t>
            </a:r>
            <a:r>
              <a:rPr dirty="0" sz="1800" spc="-5" u="sng"/>
              <a:t>of</a:t>
            </a:r>
            <a:r>
              <a:rPr dirty="0" sz="1800" spc="-40" u="sng"/>
              <a:t> </a:t>
            </a:r>
            <a:r>
              <a:rPr dirty="0" sz="1800" spc="-20" u="sng"/>
              <a:t>Breathing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459740" y="1117853"/>
            <a:ext cx="626491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There are </a:t>
            </a:r>
            <a:r>
              <a:rPr dirty="0" sz="2000">
                <a:latin typeface="Calibri"/>
                <a:cs typeface="Calibri"/>
              </a:rPr>
              <a:t>3 </a:t>
            </a:r>
            <a:r>
              <a:rPr dirty="0" sz="2000" spc="-5">
                <a:latin typeface="Calibri"/>
                <a:cs typeface="Calibri"/>
              </a:rPr>
              <a:t>basic elements </a:t>
            </a:r>
            <a:r>
              <a:rPr dirty="0" sz="2000">
                <a:latin typeface="Calibri"/>
                <a:cs typeface="Calibri"/>
              </a:rPr>
              <a:t>in the </a:t>
            </a:r>
            <a:r>
              <a:rPr dirty="0" sz="2000" spc="-10">
                <a:latin typeface="Calibri"/>
                <a:cs typeface="Calibri"/>
              </a:rPr>
              <a:t>respiratory </a:t>
            </a:r>
            <a:r>
              <a:rPr dirty="0" sz="2000" spc="-15">
                <a:latin typeface="Calibri"/>
                <a:cs typeface="Calibri"/>
              </a:rPr>
              <a:t>control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system: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1808226"/>
            <a:ext cx="7630795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390525" algn="l"/>
              </a:tabLst>
            </a:pPr>
            <a:r>
              <a:rPr dirty="0" sz="2000">
                <a:latin typeface="Calibri"/>
                <a:cs typeface="Calibri"/>
              </a:rPr>
              <a:t>1)	</a:t>
            </a:r>
            <a:r>
              <a:rPr dirty="0" sz="2000" spc="-5" b="1">
                <a:latin typeface="Calibri"/>
                <a:cs typeface="Calibri"/>
              </a:rPr>
              <a:t>sensors: </a:t>
            </a:r>
            <a:r>
              <a:rPr dirty="0" sz="2000" spc="-10">
                <a:latin typeface="Calibri"/>
                <a:cs typeface="Calibri"/>
              </a:rPr>
              <a:t>gather information </a:t>
            </a:r>
            <a:r>
              <a:rPr dirty="0" sz="2000">
                <a:latin typeface="Calibri"/>
                <a:cs typeface="Calibri"/>
              </a:rPr>
              <a:t>about lung </a:t>
            </a:r>
            <a:r>
              <a:rPr dirty="0" sz="2000" spc="-10">
                <a:latin typeface="Calibri"/>
                <a:cs typeface="Calibri"/>
              </a:rPr>
              <a:t>volume </a:t>
            </a:r>
            <a:r>
              <a:rPr dirty="0" sz="2000" spc="-5">
                <a:latin typeface="Calibri"/>
                <a:cs typeface="Calibri"/>
              </a:rPr>
              <a:t>(pulmonary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spc="-15">
                <a:latin typeface="Calibri"/>
                <a:cs typeface="Calibri"/>
              </a:rPr>
              <a:t>receptors)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0" y="2052446"/>
            <a:ext cx="446913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and O</a:t>
            </a:r>
            <a:r>
              <a:rPr dirty="0" sz="1600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CO</a:t>
            </a:r>
            <a:r>
              <a:rPr dirty="0" sz="1600" spc="-5">
                <a:latin typeface="Calibri"/>
                <a:cs typeface="Calibri"/>
              </a:rPr>
              <a:t>2 </a:t>
            </a:r>
            <a:r>
              <a:rPr dirty="0" sz="2000" spc="-15">
                <a:latin typeface="Calibri"/>
                <a:cs typeface="Calibri"/>
              </a:rPr>
              <a:t>content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(chemoreceptors);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740" y="2803270"/>
            <a:ext cx="7896859" cy="19373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920"/>
              </a:lnSpc>
              <a:buFont typeface="Calibri"/>
              <a:buAutoNum type="arabicParenR" startAt="2"/>
              <a:tabLst>
                <a:tab pos="334645" algn="l"/>
              </a:tabLst>
            </a:pPr>
            <a:r>
              <a:rPr dirty="0" sz="2000" spc="-10" b="1">
                <a:latin typeface="Calibri"/>
                <a:cs typeface="Calibri"/>
              </a:rPr>
              <a:t>controllers: </a:t>
            </a:r>
            <a:r>
              <a:rPr dirty="0" sz="2000" spc="-10">
                <a:latin typeface="Calibri"/>
                <a:cs typeface="Calibri"/>
              </a:rPr>
              <a:t>information </a:t>
            </a:r>
            <a:r>
              <a:rPr dirty="0" sz="2000" spc="-15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sensors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10">
                <a:latin typeface="Calibri"/>
                <a:cs typeface="Calibri"/>
              </a:rPr>
              <a:t>sent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controller, </a:t>
            </a:r>
            <a:r>
              <a:rPr dirty="0" sz="2000">
                <a:latin typeface="Calibri"/>
                <a:cs typeface="Calibri"/>
              </a:rPr>
              <a:t>in the  pons and </a:t>
            </a:r>
            <a:r>
              <a:rPr dirty="0" sz="2000" spc="-5">
                <a:latin typeface="Calibri"/>
                <a:cs typeface="Calibri"/>
              </a:rPr>
              <a:t>medulla, via </a:t>
            </a:r>
            <a:r>
              <a:rPr dirty="0" sz="2000" spc="-20">
                <a:latin typeface="Calibri"/>
                <a:cs typeface="Calibri"/>
              </a:rPr>
              <a:t>afferent </a:t>
            </a:r>
            <a:r>
              <a:rPr dirty="0" sz="2000" spc="-10">
                <a:latin typeface="Calibri"/>
                <a:cs typeface="Calibri"/>
              </a:rPr>
              <a:t>neural fibers. </a:t>
            </a:r>
            <a:r>
              <a:rPr dirty="0" sz="2000" spc="-5">
                <a:latin typeface="Calibri"/>
                <a:cs typeface="Calibri"/>
              </a:rPr>
              <a:t>This peripheral </a:t>
            </a:r>
            <a:r>
              <a:rPr dirty="0" sz="2000" spc="-10">
                <a:latin typeface="Calibri"/>
                <a:cs typeface="Calibri"/>
              </a:rPr>
              <a:t>information </a:t>
            </a:r>
            <a:r>
              <a:rPr dirty="0" sz="2000">
                <a:latin typeface="Calibri"/>
                <a:cs typeface="Calibri"/>
              </a:rPr>
              <a:t>and  inputs </a:t>
            </a:r>
            <a:r>
              <a:rPr dirty="0" sz="2000" spc="-15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the higher </a:t>
            </a:r>
            <a:r>
              <a:rPr dirty="0" sz="2000" spc="-5">
                <a:latin typeface="Calibri"/>
                <a:cs typeface="Calibri"/>
              </a:rPr>
              <a:t>structures of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central </a:t>
            </a:r>
            <a:r>
              <a:rPr dirty="0" sz="2000" spc="-5">
                <a:latin typeface="Calibri"/>
                <a:cs typeface="Calibri"/>
              </a:rPr>
              <a:t>nervous </a:t>
            </a:r>
            <a:r>
              <a:rPr dirty="0" sz="2000" spc="-20">
                <a:latin typeface="Calibri"/>
                <a:cs typeface="Calibri"/>
              </a:rPr>
              <a:t>system </a:t>
            </a:r>
            <a:r>
              <a:rPr dirty="0" sz="2000" spc="-10">
                <a:latin typeface="Calibri"/>
                <a:cs typeface="Calibri"/>
              </a:rPr>
              <a:t>are  </a:t>
            </a:r>
            <a:r>
              <a:rPr dirty="0" sz="2000" spc="-15">
                <a:latin typeface="Calibri"/>
                <a:cs typeface="Calibri"/>
              </a:rPr>
              <a:t>integrated;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rabicParenR" startAt="2"/>
            </a:pPr>
            <a:endParaRPr sz="2000">
              <a:latin typeface="Times New Roman"/>
              <a:cs typeface="Times New Roman"/>
            </a:endParaRPr>
          </a:p>
          <a:p>
            <a:pPr marL="12700" marR="601980">
              <a:lnSpc>
                <a:spcPct val="80000"/>
              </a:lnSpc>
              <a:spcBef>
                <a:spcPts val="1235"/>
              </a:spcBef>
              <a:buFont typeface="Calibri"/>
              <a:buAutoNum type="arabicParenR" startAt="2"/>
              <a:tabLst>
                <a:tab pos="334645" algn="l"/>
              </a:tabLst>
            </a:pPr>
            <a:r>
              <a:rPr dirty="0" sz="2000" spc="-15" b="1">
                <a:latin typeface="Calibri"/>
                <a:cs typeface="Calibri"/>
              </a:rPr>
              <a:t>effectors: </a:t>
            </a:r>
            <a:r>
              <a:rPr dirty="0" sz="2000" spc="-10">
                <a:latin typeface="Calibri"/>
                <a:cs typeface="Calibri"/>
              </a:rPr>
              <a:t>neuronal </a:t>
            </a:r>
            <a:r>
              <a:rPr dirty="0" sz="2000" spc="-5">
                <a:latin typeface="Calibri"/>
                <a:cs typeface="Calibri"/>
              </a:rPr>
              <a:t>impulses </a:t>
            </a:r>
            <a:r>
              <a:rPr dirty="0" sz="2000" spc="-10">
                <a:latin typeface="Calibri"/>
                <a:cs typeface="Calibri"/>
              </a:rPr>
              <a:t>are </a:t>
            </a:r>
            <a:r>
              <a:rPr dirty="0" sz="2000">
                <a:latin typeface="Calibri"/>
                <a:cs typeface="Calibri"/>
              </a:rPr>
              <a:t>then </a:t>
            </a:r>
            <a:r>
              <a:rPr dirty="0" sz="2000" spc="-10">
                <a:latin typeface="Calibri"/>
                <a:cs typeface="Calibri"/>
              </a:rPr>
              <a:t>generated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10">
                <a:latin typeface="Calibri"/>
                <a:cs typeface="Calibri"/>
              </a:rPr>
              <a:t>sent </a:t>
            </a:r>
            <a:r>
              <a:rPr dirty="0" sz="2000" spc="-5">
                <a:latin typeface="Calibri"/>
                <a:cs typeface="Calibri"/>
              </a:rPr>
              <a:t>via spinal  </a:t>
            </a:r>
            <a:r>
              <a:rPr dirty="0" sz="2000" spc="-10">
                <a:latin typeface="Calibri"/>
                <a:cs typeface="Calibri"/>
              </a:rPr>
              <a:t>motoneurons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5">
                <a:latin typeface="Calibri"/>
                <a:cs typeface="Calibri"/>
              </a:rPr>
              <a:t>effectors,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respiratory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muscles.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7084"/>
            <a:ext cx="5600065" cy="3937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0" u="heavy"/>
              <a:t>Structures </a:t>
            </a:r>
            <a:r>
              <a:rPr dirty="0" spc="-25" u="heavy"/>
              <a:t>Involved </a:t>
            </a:r>
            <a:r>
              <a:rPr dirty="0" u="heavy"/>
              <a:t>in </a:t>
            </a:r>
            <a:r>
              <a:rPr dirty="0" spc="-5" u="heavy"/>
              <a:t>the </a:t>
            </a:r>
            <a:r>
              <a:rPr dirty="0" spc="-30" u="heavy"/>
              <a:t>Control </a:t>
            </a:r>
            <a:r>
              <a:rPr dirty="0" spc="-5" u="heavy"/>
              <a:t>of</a:t>
            </a:r>
            <a:r>
              <a:rPr dirty="0" spc="-240" u="heavy"/>
              <a:t> </a:t>
            </a:r>
            <a:r>
              <a:rPr dirty="0" spc="-25" u="heavy"/>
              <a:t>Breathing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2139695"/>
            <a:ext cx="7848600" cy="3285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30" u="heavy"/>
              <a:t>Voluntary </a:t>
            </a:r>
            <a:r>
              <a:rPr dirty="0" spc="-10" u="heavy"/>
              <a:t>vs </a:t>
            </a:r>
            <a:r>
              <a:rPr dirty="0" spc="-25" u="heavy"/>
              <a:t>Automatic</a:t>
            </a:r>
            <a:r>
              <a:rPr dirty="0" spc="-150" u="heavy"/>
              <a:t> </a:t>
            </a:r>
            <a:r>
              <a:rPr dirty="0" spc="-25" u="heavy"/>
              <a:t>Breathing</a:t>
            </a:r>
          </a:p>
        </p:txBody>
      </p:sp>
      <p:sp>
        <p:nvSpPr>
          <p:cNvPr id="3" name="object 3"/>
          <p:cNvSpPr/>
          <p:nvPr/>
        </p:nvSpPr>
        <p:spPr>
          <a:xfrm>
            <a:off x="2378964" y="1825751"/>
            <a:ext cx="4386071" cy="4351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908" y="762000"/>
            <a:ext cx="8330183" cy="533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b="1">
                <a:latin typeface="Comic Sans MS"/>
                <a:cs typeface="Comic Sans MS"/>
              </a:rPr>
              <a:t>C. </a:t>
            </a:r>
            <a:r>
              <a:rPr dirty="0" sz="2000" spc="-5" b="1" u="heavy">
                <a:latin typeface="Comic Sans MS"/>
                <a:cs typeface="Comic Sans MS"/>
              </a:rPr>
              <a:t>Respiratory</a:t>
            </a:r>
            <a:r>
              <a:rPr dirty="0" sz="2000" spc="-90" b="1" u="heavy">
                <a:latin typeface="Comic Sans MS"/>
                <a:cs typeface="Comic Sans MS"/>
              </a:rPr>
              <a:t> </a:t>
            </a:r>
            <a:r>
              <a:rPr dirty="0" sz="2000" b="1" u="heavy">
                <a:latin typeface="Comic Sans MS"/>
                <a:cs typeface="Comic Sans MS"/>
              </a:rPr>
              <a:t>Neurons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305305"/>
            <a:ext cx="8155940" cy="4203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678805">
              <a:lnSpc>
                <a:spcPct val="113500"/>
              </a:lnSpc>
            </a:pPr>
            <a:r>
              <a:rPr dirty="0" sz="2000" spc="-5" u="heavy">
                <a:latin typeface="Comic Sans MS"/>
                <a:cs typeface="Comic Sans MS"/>
              </a:rPr>
              <a:t>Pattern </a:t>
            </a:r>
            <a:r>
              <a:rPr dirty="0" sz="2000" u="heavy">
                <a:latin typeface="Comic Sans MS"/>
                <a:cs typeface="Comic Sans MS"/>
              </a:rPr>
              <a:t>of</a:t>
            </a:r>
            <a:r>
              <a:rPr dirty="0" sz="2000" spc="-85" u="heavy">
                <a:latin typeface="Comic Sans MS"/>
                <a:cs typeface="Comic Sans MS"/>
              </a:rPr>
              <a:t> </a:t>
            </a:r>
            <a:r>
              <a:rPr dirty="0" sz="2000" spc="-5" u="heavy">
                <a:latin typeface="Comic Sans MS"/>
                <a:cs typeface="Comic Sans MS"/>
              </a:rPr>
              <a:t>breathing  </a:t>
            </a:r>
            <a:r>
              <a:rPr dirty="0" sz="2000" spc="-5">
                <a:latin typeface="Comic Sans MS"/>
                <a:cs typeface="Comic Sans MS"/>
              </a:rPr>
              <a:t>Medulla:</a:t>
            </a:r>
            <a:endParaRPr sz="2000">
              <a:latin typeface="Comic Sans MS"/>
              <a:cs typeface="Comic Sans MS"/>
            </a:endParaRPr>
          </a:p>
          <a:p>
            <a:pPr marL="622300">
              <a:lnSpc>
                <a:spcPct val="100000"/>
              </a:lnSpc>
              <a:spcBef>
                <a:spcPts val="315"/>
              </a:spcBef>
            </a:pPr>
            <a:r>
              <a:rPr dirty="0" sz="2000" spc="-5">
                <a:latin typeface="Comic Sans MS"/>
                <a:cs typeface="Comic Sans MS"/>
              </a:rPr>
              <a:t>Medulla: </a:t>
            </a:r>
            <a:r>
              <a:rPr dirty="0" sz="2000">
                <a:latin typeface="Comic Sans MS"/>
                <a:cs typeface="Comic Sans MS"/>
              </a:rPr>
              <a:t>- Contains </a:t>
            </a:r>
            <a:r>
              <a:rPr dirty="0" sz="2000" spc="-5">
                <a:latin typeface="Comic Sans MS"/>
                <a:cs typeface="Comic Sans MS"/>
              </a:rPr>
              <a:t>pacemaker</a:t>
            </a:r>
            <a:r>
              <a:rPr dirty="0" sz="2000" spc="-35">
                <a:latin typeface="Comic Sans MS"/>
                <a:cs typeface="Comic Sans MS"/>
              </a:rPr>
              <a:t> </a:t>
            </a:r>
            <a:r>
              <a:rPr dirty="0" sz="2000">
                <a:latin typeface="Comic Sans MS"/>
                <a:cs typeface="Comic Sans MS"/>
              </a:rPr>
              <a:t>cells.</a:t>
            </a:r>
            <a:endParaRPr sz="2000">
              <a:latin typeface="Comic Sans MS"/>
              <a:cs typeface="Comic Sans MS"/>
            </a:endParaRPr>
          </a:p>
          <a:p>
            <a:pPr marL="1460500">
              <a:lnSpc>
                <a:spcPct val="100000"/>
              </a:lnSpc>
              <a:spcBef>
                <a:spcPts val="320"/>
              </a:spcBef>
            </a:pPr>
            <a:r>
              <a:rPr dirty="0" sz="2000" spc="-5">
                <a:latin typeface="Comic Sans MS"/>
                <a:cs typeface="Comic Sans MS"/>
              </a:rPr>
              <a:t>-Mainly </a:t>
            </a:r>
            <a:r>
              <a:rPr dirty="0" sz="2000">
                <a:latin typeface="Comic Sans MS"/>
                <a:cs typeface="Comic Sans MS"/>
              </a:rPr>
              <a:t>located </a:t>
            </a:r>
            <a:r>
              <a:rPr dirty="0" sz="2000" spc="-5">
                <a:latin typeface="Comic Sans MS"/>
                <a:cs typeface="Comic Sans MS"/>
              </a:rPr>
              <a:t>into </a:t>
            </a:r>
            <a:r>
              <a:rPr dirty="0" sz="2000">
                <a:latin typeface="Comic Sans MS"/>
                <a:cs typeface="Comic Sans MS"/>
              </a:rPr>
              <a:t>2 </a:t>
            </a:r>
            <a:r>
              <a:rPr dirty="0" sz="2000" spc="-5">
                <a:latin typeface="Comic Sans MS"/>
                <a:cs typeface="Comic Sans MS"/>
              </a:rPr>
              <a:t>groups</a:t>
            </a:r>
            <a:r>
              <a:rPr dirty="0" sz="2000" spc="-55">
                <a:latin typeface="Comic Sans MS"/>
                <a:cs typeface="Comic Sans MS"/>
              </a:rPr>
              <a:t> </a:t>
            </a:r>
            <a:r>
              <a:rPr dirty="0" sz="2000">
                <a:latin typeface="Comic Sans MS"/>
                <a:cs typeface="Comic Sans MS"/>
              </a:rPr>
              <a:t>:</a:t>
            </a:r>
            <a:endParaRPr sz="2000">
              <a:latin typeface="Comic Sans MS"/>
              <a:cs typeface="Comic Sans MS"/>
            </a:endParaRPr>
          </a:p>
          <a:p>
            <a:pPr marL="1765300" marR="685165" indent="-381000">
              <a:lnSpc>
                <a:spcPct val="112999"/>
              </a:lnSpc>
              <a:spcBef>
                <a:spcPts val="10"/>
              </a:spcBef>
            </a:pPr>
            <a:r>
              <a:rPr dirty="0" sz="2000" spc="-5">
                <a:latin typeface="Comic Sans MS"/>
                <a:cs typeface="Comic Sans MS"/>
              </a:rPr>
              <a:t>.ventral respiratory </a:t>
            </a:r>
            <a:r>
              <a:rPr dirty="0" sz="2000">
                <a:latin typeface="Comic Sans MS"/>
                <a:cs typeface="Comic Sans MS"/>
              </a:rPr>
              <a:t>group </a:t>
            </a:r>
            <a:r>
              <a:rPr dirty="0" sz="2000" spc="-5">
                <a:latin typeface="Comic Sans MS"/>
                <a:cs typeface="Comic Sans MS"/>
              </a:rPr>
              <a:t>that generates the basic  </a:t>
            </a:r>
            <a:r>
              <a:rPr dirty="0" sz="2000">
                <a:latin typeface="Comic Sans MS"/>
                <a:cs typeface="Comic Sans MS"/>
              </a:rPr>
              <a:t>rhythm,</a:t>
            </a:r>
            <a:endParaRPr sz="2000">
              <a:latin typeface="Comic Sans MS"/>
              <a:cs typeface="Comic Sans MS"/>
            </a:endParaRPr>
          </a:p>
          <a:p>
            <a:pPr marL="1384300">
              <a:lnSpc>
                <a:spcPts val="2160"/>
              </a:lnSpc>
              <a:spcBef>
                <a:spcPts val="320"/>
              </a:spcBef>
            </a:pPr>
            <a:r>
              <a:rPr dirty="0" sz="2000">
                <a:latin typeface="Comic Sans MS"/>
                <a:cs typeface="Comic Sans MS"/>
              </a:rPr>
              <a:t>.dorsal </a:t>
            </a:r>
            <a:r>
              <a:rPr dirty="0" sz="2000" spc="-5">
                <a:latin typeface="Comic Sans MS"/>
                <a:cs typeface="Comic Sans MS"/>
              </a:rPr>
              <a:t>respiratory </a:t>
            </a:r>
            <a:r>
              <a:rPr dirty="0" sz="2000">
                <a:latin typeface="Comic Sans MS"/>
                <a:cs typeface="Comic Sans MS"/>
              </a:rPr>
              <a:t>group </a:t>
            </a:r>
            <a:r>
              <a:rPr dirty="0" sz="2000" spc="-5">
                <a:latin typeface="Comic Sans MS"/>
                <a:cs typeface="Comic Sans MS"/>
              </a:rPr>
              <a:t>that receives</a:t>
            </a:r>
            <a:r>
              <a:rPr dirty="0" sz="2000" spc="-1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several</a:t>
            </a:r>
            <a:endParaRPr sz="2000">
              <a:latin typeface="Comic Sans MS"/>
              <a:cs typeface="Comic Sans MS"/>
            </a:endParaRPr>
          </a:p>
          <a:p>
            <a:pPr marL="1460500">
              <a:lnSpc>
                <a:spcPts val="2160"/>
              </a:lnSpc>
            </a:pPr>
            <a:r>
              <a:rPr dirty="0" sz="2000" spc="-5">
                <a:latin typeface="Comic Sans MS"/>
                <a:cs typeface="Comic Sans MS"/>
              </a:rPr>
              <a:t>sensory</a:t>
            </a:r>
            <a:r>
              <a:rPr dirty="0" sz="2000" spc="-55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inputs.</a:t>
            </a:r>
            <a:endParaRPr sz="2000">
              <a:latin typeface="Comic Sans MS"/>
              <a:cs typeface="Comic Sans MS"/>
            </a:endParaRPr>
          </a:p>
          <a:p>
            <a:pPr marL="1460500" marR="347345" indent="228600">
              <a:lnSpc>
                <a:spcPct val="80000"/>
              </a:lnSpc>
              <a:spcBef>
                <a:spcPts val="805"/>
              </a:spcBef>
            </a:pPr>
            <a:r>
              <a:rPr dirty="0" sz="2000">
                <a:latin typeface="Comic Sans MS"/>
                <a:cs typeface="Comic Sans MS"/>
              </a:rPr>
              <a:t>-The </a:t>
            </a:r>
            <a:r>
              <a:rPr dirty="0" sz="2000" spc="-5">
                <a:latin typeface="Comic Sans MS"/>
                <a:cs typeface="Comic Sans MS"/>
              </a:rPr>
              <a:t>ventral and dorsal groups also </a:t>
            </a:r>
            <a:r>
              <a:rPr dirty="0" sz="2000">
                <a:latin typeface="Comic Sans MS"/>
                <a:cs typeface="Comic Sans MS"/>
              </a:rPr>
              <a:t>connect </a:t>
            </a:r>
            <a:r>
              <a:rPr dirty="0" sz="2000" spc="-5">
                <a:latin typeface="Comic Sans MS"/>
                <a:cs typeface="Comic Sans MS"/>
              </a:rPr>
              <a:t>to each  other.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622300" marR="5080" indent="-534035">
              <a:lnSpc>
                <a:spcPts val="1920"/>
              </a:lnSpc>
              <a:spcBef>
                <a:spcPts val="1200"/>
              </a:spcBef>
            </a:pPr>
            <a:r>
              <a:rPr dirty="0" sz="2000" spc="-5">
                <a:latin typeface="Symbol"/>
                <a:cs typeface="Symbol"/>
              </a:rPr>
              <a:t></a:t>
            </a:r>
            <a:r>
              <a:rPr dirty="0" sz="2000" spc="-5">
                <a:latin typeface="Comic Sans MS"/>
                <a:cs typeface="Comic Sans MS"/>
              </a:rPr>
              <a:t>Respiratory neurons in the </a:t>
            </a:r>
            <a:r>
              <a:rPr dirty="0" sz="2000">
                <a:latin typeface="Comic Sans MS"/>
                <a:cs typeface="Comic Sans MS"/>
              </a:rPr>
              <a:t>medulla </a:t>
            </a:r>
            <a:r>
              <a:rPr dirty="0" sz="2000" spc="-5">
                <a:latin typeface="Comic Sans MS"/>
                <a:cs typeface="Comic Sans MS"/>
              </a:rPr>
              <a:t>generate the basic respiratory  rhythmicity.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9000" y="4965700"/>
            <a:ext cx="1828800" cy="304800"/>
          </a:xfrm>
          <a:custGeom>
            <a:avLst/>
            <a:gdLst/>
            <a:ahLst/>
            <a:cxnLst/>
            <a:rect l="l" t="t" r="r" b="b"/>
            <a:pathLst>
              <a:path w="1828800" h="304800">
                <a:moveTo>
                  <a:pt x="0" y="304291"/>
                </a:moveTo>
                <a:lnTo>
                  <a:pt x="21771" y="242196"/>
                </a:lnTo>
                <a:lnTo>
                  <a:pt x="43542" y="182428"/>
                </a:lnTo>
                <a:lnTo>
                  <a:pt x="65314" y="127316"/>
                </a:lnTo>
                <a:lnTo>
                  <a:pt x="87085" y="79190"/>
                </a:lnTo>
                <a:lnTo>
                  <a:pt x="108857" y="40376"/>
                </a:lnTo>
                <a:lnTo>
                  <a:pt x="152400" y="0"/>
                </a:lnTo>
                <a:lnTo>
                  <a:pt x="174171" y="8643"/>
                </a:lnTo>
                <a:lnTo>
                  <a:pt x="195942" y="39690"/>
                </a:lnTo>
                <a:lnTo>
                  <a:pt x="217714" y="84492"/>
                </a:lnTo>
                <a:lnTo>
                  <a:pt x="239485" y="134396"/>
                </a:lnTo>
                <a:lnTo>
                  <a:pt x="261257" y="180752"/>
                </a:lnTo>
                <a:lnTo>
                  <a:pt x="283028" y="214910"/>
                </a:lnTo>
                <a:lnTo>
                  <a:pt x="304800" y="228219"/>
                </a:lnTo>
                <a:lnTo>
                  <a:pt x="326571" y="215577"/>
                </a:lnTo>
                <a:lnTo>
                  <a:pt x="348342" y="182974"/>
                </a:lnTo>
                <a:lnTo>
                  <a:pt x="370114" y="138395"/>
                </a:lnTo>
                <a:lnTo>
                  <a:pt x="391885" y="89823"/>
                </a:lnTo>
                <a:lnTo>
                  <a:pt x="413657" y="45244"/>
                </a:lnTo>
                <a:lnTo>
                  <a:pt x="435428" y="12641"/>
                </a:lnTo>
                <a:lnTo>
                  <a:pt x="457200" y="0"/>
                </a:lnTo>
                <a:lnTo>
                  <a:pt x="478971" y="12641"/>
                </a:lnTo>
                <a:lnTo>
                  <a:pt x="500742" y="45244"/>
                </a:lnTo>
                <a:lnTo>
                  <a:pt x="522514" y="89823"/>
                </a:lnTo>
                <a:lnTo>
                  <a:pt x="544285" y="138395"/>
                </a:lnTo>
                <a:lnTo>
                  <a:pt x="566057" y="182974"/>
                </a:lnTo>
                <a:lnTo>
                  <a:pt x="587828" y="215577"/>
                </a:lnTo>
                <a:lnTo>
                  <a:pt x="609600" y="228219"/>
                </a:lnTo>
                <a:lnTo>
                  <a:pt x="631371" y="215577"/>
                </a:lnTo>
                <a:lnTo>
                  <a:pt x="653142" y="182974"/>
                </a:lnTo>
                <a:lnTo>
                  <a:pt x="674914" y="138395"/>
                </a:lnTo>
                <a:lnTo>
                  <a:pt x="696685" y="89823"/>
                </a:lnTo>
                <a:lnTo>
                  <a:pt x="718457" y="45244"/>
                </a:lnTo>
                <a:lnTo>
                  <a:pt x="740228" y="12641"/>
                </a:lnTo>
                <a:lnTo>
                  <a:pt x="762000" y="0"/>
                </a:lnTo>
                <a:lnTo>
                  <a:pt x="783771" y="12641"/>
                </a:lnTo>
                <a:lnTo>
                  <a:pt x="805542" y="45244"/>
                </a:lnTo>
                <a:lnTo>
                  <a:pt x="827314" y="89823"/>
                </a:lnTo>
                <a:lnTo>
                  <a:pt x="849085" y="138395"/>
                </a:lnTo>
                <a:lnTo>
                  <a:pt x="870857" y="182974"/>
                </a:lnTo>
                <a:lnTo>
                  <a:pt x="892628" y="215577"/>
                </a:lnTo>
                <a:lnTo>
                  <a:pt x="914400" y="228219"/>
                </a:lnTo>
                <a:lnTo>
                  <a:pt x="936171" y="215577"/>
                </a:lnTo>
                <a:lnTo>
                  <a:pt x="957942" y="182974"/>
                </a:lnTo>
                <a:lnTo>
                  <a:pt x="979714" y="138395"/>
                </a:lnTo>
                <a:lnTo>
                  <a:pt x="1001485" y="89823"/>
                </a:lnTo>
                <a:lnTo>
                  <a:pt x="1023257" y="45244"/>
                </a:lnTo>
                <a:lnTo>
                  <a:pt x="1045028" y="12641"/>
                </a:lnTo>
                <a:lnTo>
                  <a:pt x="1066800" y="0"/>
                </a:lnTo>
                <a:lnTo>
                  <a:pt x="1088571" y="12641"/>
                </a:lnTo>
                <a:lnTo>
                  <a:pt x="1110342" y="45244"/>
                </a:lnTo>
                <a:lnTo>
                  <a:pt x="1132114" y="89823"/>
                </a:lnTo>
                <a:lnTo>
                  <a:pt x="1153885" y="138395"/>
                </a:lnTo>
                <a:lnTo>
                  <a:pt x="1175657" y="182974"/>
                </a:lnTo>
                <a:lnTo>
                  <a:pt x="1197428" y="215577"/>
                </a:lnTo>
                <a:lnTo>
                  <a:pt x="1219200" y="228219"/>
                </a:lnTo>
                <a:lnTo>
                  <a:pt x="1240971" y="215577"/>
                </a:lnTo>
                <a:lnTo>
                  <a:pt x="1262742" y="182974"/>
                </a:lnTo>
                <a:lnTo>
                  <a:pt x="1284514" y="138395"/>
                </a:lnTo>
                <a:lnTo>
                  <a:pt x="1306285" y="89823"/>
                </a:lnTo>
                <a:lnTo>
                  <a:pt x="1328057" y="45244"/>
                </a:lnTo>
                <a:lnTo>
                  <a:pt x="1349828" y="12641"/>
                </a:lnTo>
                <a:lnTo>
                  <a:pt x="1371600" y="0"/>
                </a:lnTo>
                <a:lnTo>
                  <a:pt x="1393371" y="12641"/>
                </a:lnTo>
                <a:lnTo>
                  <a:pt x="1415142" y="45244"/>
                </a:lnTo>
                <a:lnTo>
                  <a:pt x="1436914" y="89823"/>
                </a:lnTo>
                <a:lnTo>
                  <a:pt x="1458685" y="138395"/>
                </a:lnTo>
                <a:lnTo>
                  <a:pt x="1480457" y="182974"/>
                </a:lnTo>
                <a:lnTo>
                  <a:pt x="1502228" y="215577"/>
                </a:lnTo>
                <a:lnTo>
                  <a:pt x="1524000" y="228219"/>
                </a:lnTo>
                <a:lnTo>
                  <a:pt x="1545771" y="215577"/>
                </a:lnTo>
                <a:lnTo>
                  <a:pt x="1567542" y="182974"/>
                </a:lnTo>
                <a:lnTo>
                  <a:pt x="1589314" y="138395"/>
                </a:lnTo>
                <a:lnTo>
                  <a:pt x="1611085" y="89823"/>
                </a:lnTo>
                <a:lnTo>
                  <a:pt x="1632857" y="45244"/>
                </a:lnTo>
                <a:lnTo>
                  <a:pt x="1654628" y="12641"/>
                </a:lnTo>
                <a:lnTo>
                  <a:pt x="1676400" y="0"/>
                </a:lnTo>
                <a:lnTo>
                  <a:pt x="1701800" y="8976"/>
                </a:lnTo>
                <a:lnTo>
                  <a:pt x="1727200" y="33796"/>
                </a:lnTo>
                <a:lnTo>
                  <a:pt x="1752600" y="71294"/>
                </a:lnTo>
                <a:lnTo>
                  <a:pt x="1778000" y="118307"/>
                </a:lnTo>
                <a:lnTo>
                  <a:pt x="1803400" y="171670"/>
                </a:lnTo>
                <a:lnTo>
                  <a:pt x="1828800" y="228219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29400" y="0"/>
            <a:ext cx="2362200" cy="2345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908" y="762000"/>
            <a:ext cx="8330183" cy="533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4527" y="4564379"/>
            <a:ext cx="1219200" cy="367665"/>
          </a:xfrm>
          <a:prstGeom prst="rect">
            <a:avLst/>
          </a:prstGeom>
          <a:ln w="57912">
            <a:solidFill>
              <a:srgbClr val="FF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62230">
              <a:lnSpc>
                <a:spcPct val="100000"/>
              </a:lnSpc>
              <a:spcBef>
                <a:spcPts val="90"/>
              </a:spcBef>
            </a:pPr>
            <a:r>
              <a:rPr dirty="0" sz="1800" spc="-5" b="1" u="heavy">
                <a:solidFill>
                  <a:srgbClr val="FFFFFF"/>
                </a:solidFill>
                <a:latin typeface="Arial"/>
                <a:cs typeface="Arial"/>
              </a:rPr>
              <a:t>Rhythm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518921"/>
            <a:ext cx="7952740" cy="50533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8900">
              <a:lnSpc>
                <a:spcPct val="100000"/>
              </a:lnSpc>
            </a:pPr>
            <a:r>
              <a:rPr dirty="0" sz="2000" spc="-5" b="1">
                <a:latin typeface="Comic Sans MS"/>
                <a:cs typeface="Comic Sans MS"/>
              </a:rPr>
              <a:t>C. </a:t>
            </a:r>
            <a:r>
              <a:rPr dirty="0" sz="2000" spc="-5" b="1" u="heavy">
                <a:latin typeface="Comic Sans MS"/>
                <a:cs typeface="Comic Sans MS"/>
              </a:rPr>
              <a:t>Respiratory</a:t>
            </a:r>
            <a:r>
              <a:rPr dirty="0" sz="2000" spc="-90" b="1" u="heavy">
                <a:latin typeface="Comic Sans MS"/>
                <a:cs typeface="Comic Sans MS"/>
              </a:rPr>
              <a:t> </a:t>
            </a:r>
            <a:r>
              <a:rPr dirty="0" sz="2000" b="1" u="heavy">
                <a:latin typeface="Comic Sans MS"/>
                <a:cs typeface="Comic Sans MS"/>
              </a:rPr>
              <a:t>Neurons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5475605">
              <a:lnSpc>
                <a:spcPct val="123500"/>
              </a:lnSpc>
            </a:pPr>
            <a:r>
              <a:rPr dirty="0" sz="2000" spc="-5" u="heavy">
                <a:latin typeface="Comic Sans MS"/>
                <a:cs typeface="Comic Sans MS"/>
              </a:rPr>
              <a:t>Pattern </a:t>
            </a:r>
            <a:r>
              <a:rPr dirty="0" sz="2000" u="heavy">
                <a:latin typeface="Comic Sans MS"/>
                <a:cs typeface="Comic Sans MS"/>
              </a:rPr>
              <a:t>of</a:t>
            </a:r>
            <a:r>
              <a:rPr dirty="0" sz="2000" spc="-85" u="heavy">
                <a:latin typeface="Comic Sans MS"/>
                <a:cs typeface="Comic Sans MS"/>
              </a:rPr>
              <a:t> </a:t>
            </a:r>
            <a:r>
              <a:rPr dirty="0" sz="2000" spc="-5" u="heavy">
                <a:latin typeface="Comic Sans MS"/>
                <a:cs typeface="Comic Sans MS"/>
              </a:rPr>
              <a:t>breathing  </a:t>
            </a:r>
            <a:r>
              <a:rPr dirty="0" sz="2000">
                <a:latin typeface="Comic Sans MS"/>
                <a:cs typeface="Comic Sans MS"/>
              </a:rPr>
              <a:t>Pons</a:t>
            </a:r>
            <a:r>
              <a:rPr dirty="0" sz="2000" spc="-10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(upper):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698500" marR="1108075" indent="-76200">
              <a:lnSpc>
                <a:spcPts val="2160"/>
              </a:lnSpc>
              <a:spcBef>
                <a:spcPts val="1490"/>
              </a:spcBef>
            </a:pPr>
            <a:r>
              <a:rPr dirty="0" sz="2000">
                <a:latin typeface="Comic Sans MS"/>
                <a:cs typeface="Comic Sans MS"/>
              </a:rPr>
              <a:t>-Cells</a:t>
            </a:r>
            <a:r>
              <a:rPr dirty="0" sz="2000" spc="-2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located</a:t>
            </a:r>
            <a:r>
              <a:rPr dirty="0" sz="2000" spc="-15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in</a:t>
            </a:r>
            <a:r>
              <a:rPr dirty="0" sz="2000" spc="1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the</a:t>
            </a:r>
            <a:r>
              <a:rPr dirty="0" sz="2000" spc="-2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rostral</a:t>
            </a:r>
            <a:r>
              <a:rPr dirty="0" sz="2000">
                <a:latin typeface="Comic Sans MS"/>
                <a:cs typeface="Comic Sans MS"/>
              </a:rPr>
              <a:t> (</a:t>
            </a:r>
            <a:r>
              <a:rPr dirty="0" sz="2000" spc="-600">
                <a:latin typeface="Comic Sans MS"/>
                <a:cs typeface="Comic Sans MS"/>
              </a:rPr>
              <a:t> </a:t>
            </a:r>
            <a:r>
              <a:rPr dirty="0" sz="2000" spc="-5" b="1" u="heavy">
                <a:latin typeface="Comic Sans MS"/>
                <a:cs typeface="Comic Sans MS"/>
              </a:rPr>
              <a:t>upper)</a:t>
            </a:r>
            <a:r>
              <a:rPr dirty="0" sz="2000" spc="5" b="1" u="heavy">
                <a:latin typeface="Comic Sans MS"/>
                <a:cs typeface="Comic Sans MS"/>
              </a:rPr>
              <a:t> </a:t>
            </a:r>
            <a:r>
              <a:rPr dirty="0" sz="2000" b="1" u="heavy">
                <a:latin typeface="Comic Sans MS"/>
                <a:cs typeface="Comic Sans MS"/>
              </a:rPr>
              <a:t>pons</a:t>
            </a:r>
            <a:r>
              <a:rPr dirty="0" sz="2000" spc="5" b="1" u="heavy">
                <a:latin typeface="Comic Sans MS"/>
                <a:cs typeface="Comic Sans MS"/>
              </a:rPr>
              <a:t> </a:t>
            </a:r>
            <a:r>
              <a:rPr dirty="0" sz="2000" b="1" u="heavy">
                <a:latin typeface="Comic Sans MS"/>
                <a:cs typeface="Comic Sans MS"/>
              </a:rPr>
              <a:t>“turn-off</a:t>
            </a:r>
            <a:r>
              <a:rPr dirty="0" sz="2000">
                <a:latin typeface="Comic Sans MS"/>
                <a:cs typeface="Comic Sans MS"/>
              </a:rPr>
              <a:t>”  </a:t>
            </a:r>
            <a:r>
              <a:rPr dirty="0" sz="2000" spc="-5">
                <a:latin typeface="Comic Sans MS"/>
                <a:cs typeface="Comic Sans MS"/>
              </a:rPr>
              <a:t>inspiration.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622300">
              <a:lnSpc>
                <a:spcPts val="2280"/>
              </a:lnSpc>
              <a:spcBef>
                <a:spcPts val="1195"/>
              </a:spcBef>
            </a:pPr>
            <a:r>
              <a:rPr dirty="0" sz="2000">
                <a:latin typeface="Comic Sans MS"/>
                <a:cs typeface="Comic Sans MS"/>
              </a:rPr>
              <a:t>-This </a:t>
            </a:r>
            <a:r>
              <a:rPr dirty="0" sz="2000" spc="-5">
                <a:latin typeface="Comic Sans MS"/>
                <a:cs typeface="Comic Sans MS"/>
              </a:rPr>
              <a:t>leads to </a:t>
            </a:r>
            <a:r>
              <a:rPr dirty="0" sz="2000">
                <a:latin typeface="Comic Sans MS"/>
                <a:cs typeface="Comic Sans MS"/>
              </a:rPr>
              <a:t>smaller </a:t>
            </a:r>
            <a:r>
              <a:rPr dirty="0" sz="2000" spc="-5">
                <a:latin typeface="Comic Sans MS"/>
                <a:cs typeface="Comic Sans MS"/>
              </a:rPr>
              <a:t>tidal volume and increased</a:t>
            </a:r>
            <a:r>
              <a:rPr dirty="0" sz="2000" spc="2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breathing</a:t>
            </a:r>
            <a:endParaRPr sz="2000">
              <a:latin typeface="Comic Sans MS"/>
              <a:cs typeface="Comic Sans MS"/>
            </a:endParaRPr>
          </a:p>
          <a:p>
            <a:pPr marL="698500">
              <a:lnSpc>
                <a:spcPts val="2280"/>
              </a:lnSpc>
            </a:pPr>
            <a:r>
              <a:rPr dirty="0" sz="2000" spc="-5">
                <a:latin typeface="Comic Sans MS"/>
                <a:cs typeface="Comic Sans MS"/>
              </a:rPr>
              <a:t>frequency.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622300" marR="5080" indent="-229235">
              <a:lnSpc>
                <a:spcPts val="2150"/>
              </a:lnSpc>
              <a:spcBef>
                <a:spcPts val="1510"/>
              </a:spcBef>
            </a:pPr>
            <a:r>
              <a:rPr dirty="0" sz="2000">
                <a:latin typeface="Symbol"/>
                <a:cs typeface="Symbol"/>
              </a:rPr>
              <a:t>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Cutting the pneumotaxic centers causes breathing to become  deep and</a:t>
            </a:r>
            <a:r>
              <a:rPr dirty="0" sz="2000" spc="-55">
                <a:latin typeface="Comic Sans MS"/>
                <a:cs typeface="Comic Sans MS"/>
              </a:rPr>
              <a:t> </a:t>
            </a:r>
            <a:r>
              <a:rPr dirty="0" sz="2000">
                <a:latin typeface="Comic Sans MS"/>
                <a:cs typeface="Comic Sans MS"/>
              </a:rPr>
              <a:t>slow.</a:t>
            </a:r>
            <a:endParaRPr sz="2000">
              <a:latin typeface="Comic Sans MS"/>
              <a:cs typeface="Comic Sans MS"/>
            </a:endParaRPr>
          </a:p>
          <a:p>
            <a:pPr marL="698500">
              <a:lnSpc>
                <a:spcPts val="2280"/>
              </a:lnSpc>
              <a:spcBef>
                <a:spcPts val="530"/>
              </a:spcBef>
            </a:pPr>
            <a:r>
              <a:rPr dirty="0" sz="2000" spc="-5">
                <a:latin typeface="Comic Sans MS"/>
                <a:cs typeface="Comic Sans MS"/>
              </a:rPr>
              <a:t>(This </a:t>
            </a:r>
            <a:r>
              <a:rPr dirty="0" sz="2000">
                <a:latin typeface="Comic Sans MS"/>
                <a:cs typeface="Comic Sans MS"/>
              </a:rPr>
              <a:t>is </a:t>
            </a:r>
            <a:r>
              <a:rPr dirty="0" sz="2000" spc="-5">
                <a:latin typeface="Comic Sans MS"/>
                <a:cs typeface="Comic Sans MS"/>
              </a:rPr>
              <a:t>the </a:t>
            </a:r>
            <a:r>
              <a:rPr dirty="0" sz="2000">
                <a:latin typeface="Comic Sans MS"/>
                <a:cs typeface="Comic Sans MS"/>
              </a:rPr>
              <a:t>same </a:t>
            </a:r>
            <a:r>
              <a:rPr dirty="0" sz="2000" spc="-5">
                <a:latin typeface="Comic Sans MS"/>
                <a:cs typeface="Comic Sans MS"/>
              </a:rPr>
              <a:t>effect as </a:t>
            </a:r>
            <a:r>
              <a:rPr dirty="0" sz="2000">
                <a:latin typeface="Comic Sans MS"/>
                <a:cs typeface="Comic Sans MS"/>
              </a:rPr>
              <a:t>cutting the vagus </a:t>
            </a:r>
            <a:r>
              <a:rPr dirty="0" sz="2000" spc="-5">
                <a:latin typeface="Comic Sans MS"/>
                <a:cs typeface="Comic Sans MS"/>
              </a:rPr>
              <a:t>nerves</a:t>
            </a:r>
            <a:r>
              <a:rPr dirty="0" sz="2000" spc="-5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which</a:t>
            </a:r>
            <a:endParaRPr sz="2000">
              <a:latin typeface="Comic Sans MS"/>
              <a:cs typeface="Comic Sans MS"/>
            </a:endParaRPr>
          </a:p>
          <a:p>
            <a:pPr marL="622300">
              <a:lnSpc>
                <a:spcPts val="2280"/>
              </a:lnSpc>
            </a:pPr>
            <a:r>
              <a:rPr dirty="0" sz="2000" spc="-5">
                <a:latin typeface="Comic Sans MS"/>
                <a:cs typeface="Comic Sans MS"/>
              </a:rPr>
              <a:t>bring afferent</a:t>
            </a:r>
            <a:r>
              <a:rPr dirty="0" sz="2000" spc="-2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information).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0" y="5334000"/>
            <a:ext cx="3276600" cy="533400"/>
          </a:xfrm>
          <a:custGeom>
            <a:avLst/>
            <a:gdLst/>
            <a:ahLst/>
            <a:cxnLst/>
            <a:rect l="l" t="t" r="r" b="b"/>
            <a:pathLst>
              <a:path w="3276600" h="533400">
                <a:moveTo>
                  <a:pt x="0" y="533400"/>
                </a:moveTo>
                <a:lnTo>
                  <a:pt x="25860" y="476347"/>
                </a:lnTo>
                <a:lnTo>
                  <a:pt x="51762" y="419877"/>
                </a:lnTo>
                <a:lnTo>
                  <a:pt x="77748" y="364574"/>
                </a:lnTo>
                <a:lnTo>
                  <a:pt x="103858" y="311020"/>
                </a:lnTo>
                <a:lnTo>
                  <a:pt x="130135" y="259799"/>
                </a:lnTo>
                <a:lnTo>
                  <a:pt x="156620" y="211493"/>
                </a:lnTo>
                <a:lnTo>
                  <a:pt x="183356" y="166687"/>
                </a:lnTo>
                <a:lnTo>
                  <a:pt x="210383" y="125963"/>
                </a:lnTo>
                <a:lnTo>
                  <a:pt x="237743" y="89904"/>
                </a:lnTo>
                <a:lnTo>
                  <a:pt x="265478" y="59093"/>
                </a:lnTo>
                <a:lnTo>
                  <a:pt x="322239" y="15551"/>
                </a:lnTo>
                <a:lnTo>
                  <a:pt x="381000" y="0"/>
                </a:lnTo>
                <a:lnTo>
                  <a:pt x="405784" y="5319"/>
                </a:lnTo>
                <a:lnTo>
                  <a:pt x="456145" y="43970"/>
                </a:lnTo>
                <a:lnTo>
                  <a:pt x="481721" y="74695"/>
                </a:lnTo>
                <a:lnTo>
                  <a:pt x="507560" y="111283"/>
                </a:lnTo>
                <a:lnTo>
                  <a:pt x="533663" y="152431"/>
                </a:lnTo>
                <a:lnTo>
                  <a:pt x="560030" y="196835"/>
                </a:lnTo>
                <a:lnTo>
                  <a:pt x="586660" y="243194"/>
                </a:lnTo>
                <a:lnTo>
                  <a:pt x="613555" y="290205"/>
                </a:lnTo>
                <a:lnTo>
                  <a:pt x="640712" y="336564"/>
                </a:lnTo>
                <a:lnTo>
                  <a:pt x="668134" y="380968"/>
                </a:lnTo>
                <a:lnTo>
                  <a:pt x="695819" y="422116"/>
                </a:lnTo>
                <a:lnTo>
                  <a:pt x="723768" y="458704"/>
                </a:lnTo>
                <a:lnTo>
                  <a:pt x="751980" y="489429"/>
                </a:lnTo>
                <a:lnTo>
                  <a:pt x="809196" y="528080"/>
                </a:lnTo>
                <a:lnTo>
                  <a:pt x="838200" y="533400"/>
                </a:lnTo>
                <a:lnTo>
                  <a:pt x="866056" y="528644"/>
                </a:lnTo>
                <a:lnTo>
                  <a:pt x="923572" y="493888"/>
                </a:lnTo>
                <a:lnTo>
                  <a:pt x="953074" y="466084"/>
                </a:lnTo>
                <a:lnTo>
                  <a:pt x="982969" y="432793"/>
                </a:lnTo>
                <a:lnTo>
                  <a:pt x="1013177" y="395111"/>
                </a:lnTo>
                <a:lnTo>
                  <a:pt x="1043621" y="354136"/>
                </a:lnTo>
                <a:lnTo>
                  <a:pt x="1074221" y="310967"/>
                </a:lnTo>
                <a:lnTo>
                  <a:pt x="1104900" y="266699"/>
                </a:lnTo>
                <a:lnTo>
                  <a:pt x="1135578" y="222432"/>
                </a:lnTo>
                <a:lnTo>
                  <a:pt x="1166178" y="179263"/>
                </a:lnTo>
                <a:lnTo>
                  <a:pt x="1196622" y="138288"/>
                </a:lnTo>
                <a:lnTo>
                  <a:pt x="1226830" y="100606"/>
                </a:lnTo>
                <a:lnTo>
                  <a:pt x="1256725" y="67315"/>
                </a:lnTo>
                <a:lnTo>
                  <a:pt x="1286227" y="39511"/>
                </a:lnTo>
                <a:lnTo>
                  <a:pt x="1343743" y="4755"/>
                </a:lnTo>
                <a:lnTo>
                  <a:pt x="1371600" y="0"/>
                </a:lnTo>
                <a:lnTo>
                  <a:pt x="1400479" y="5319"/>
                </a:lnTo>
                <a:lnTo>
                  <a:pt x="1456842" y="43970"/>
                </a:lnTo>
                <a:lnTo>
                  <a:pt x="1484418" y="74695"/>
                </a:lnTo>
                <a:lnTo>
                  <a:pt x="1511654" y="111283"/>
                </a:lnTo>
                <a:lnTo>
                  <a:pt x="1538594" y="152431"/>
                </a:lnTo>
                <a:lnTo>
                  <a:pt x="1565287" y="196835"/>
                </a:lnTo>
                <a:lnTo>
                  <a:pt x="1591778" y="243194"/>
                </a:lnTo>
                <a:lnTo>
                  <a:pt x="1618113" y="290205"/>
                </a:lnTo>
                <a:lnTo>
                  <a:pt x="1644341" y="336564"/>
                </a:lnTo>
                <a:lnTo>
                  <a:pt x="1670506" y="380968"/>
                </a:lnTo>
                <a:lnTo>
                  <a:pt x="1696655" y="422116"/>
                </a:lnTo>
                <a:lnTo>
                  <a:pt x="1722836" y="458704"/>
                </a:lnTo>
                <a:lnTo>
                  <a:pt x="1749094" y="489429"/>
                </a:lnTo>
                <a:lnTo>
                  <a:pt x="1802029" y="528080"/>
                </a:lnTo>
                <a:lnTo>
                  <a:pt x="1828800" y="533400"/>
                </a:lnTo>
                <a:lnTo>
                  <a:pt x="1855694" y="528080"/>
                </a:lnTo>
                <a:lnTo>
                  <a:pt x="1909482" y="489429"/>
                </a:lnTo>
                <a:lnTo>
                  <a:pt x="1936376" y="458704"/>
                </a:lnTo>
                <a:lnTo>
                  <a:pt x="1963270" y="422116"/>
                </a:lnTo>
                <a:lnTo>
                  <a:pt x="1990164" y="380968"/>
                </a:lnTo>
                <a:lnTo>
                  <a:pt x="2017058" y="336564"/>
                </a:lnTo>
                <a:lnTo>
                  <a:pt x="2043952" y="290205"/>
                </a:lnTo>
                <a:lnTo>
                  <a:pt x="2070847" y="243194"/>
                </a:lnTo>
                <a:lnTo>
                  <a:pt x="2097741" y="196835"/>
                </a:lnTo>
                <a:lnTo>
                  <a:pt x="2124635" y="152431"/>
                </a:lnTo>
                <a:lnTo>
                  <a:pt x="2151529" y="111283"/>
                </a:lnTo>
                <a:lnTo>
                  <a:pt x="2178423" y="74695"/>
                </a:lnTo>
                <a:lnTo>
                  <a:pt x="2205317" y="43970"/>
                </a:lnTo>
                <a:lnTo>
                  <a:pt x="2259105" y="5319"/>
                </a:lnTo>
                <a:lnTo>
                  <a:pt x="2286000" y="0"/>
                </a:lnTo>
                <a:lnTo>
                  <a:pt x="2312770" y="5319"/>
                </a:lnTo>
                <a:lnTo>
                  <a:pt x="2365705" y="43970"/>
                </a:lnTo>
                <a:lnTo>
                  <a:pt x="2391963" y="74695"/>
                </a:lnTo>
                <a:lnTo>
                  <a:pt x="2418144" y="111283"/>
                </a:lnTo>
                <a:lnTo>
                  <a:pt x="2444293" y="152431"/>
                </a:lnTo>
                <a:lnTo>
                  <a:pt x="2470458" y="196835"/>
                </a:lnTo>
                <a:lnTo>
                  <a:pt x="2496686" y="243194"/>
                </a:lnTo>
                <a:lnTo>
                  <a:pt x="2523021" y="290205"/>
                </a:lnTo>
                <a:lnTo>
                  <a:pt x="2549512" y="336564"/>
                </a:lnTo>
                <a:lnTo>
                  <a:pt x="2576205" y="380968"/>
                </a:lnTo>
                <a:lnTo>
                  <a:pt x="2603145" y="422116"/>
                </a:lnTo>
                <a:lnTo>
                  <a:pt x="2630381" y="458704"/>
                </a:lnTo>
                <a:lnTo>
                  <a:pt x="2657957" y="489429"/>
                </a:lnTo>
                <a:lnTo>
                  <a:pt x="2714320" y="528080"/>
                </a:lnTo>
                <a:lnTo>
                  <a:pt x="2743200" y="533400"/>
                </a:lnTo>
                <a:lnTo>
                  <a:pt x="2774374" y="530339"/>
                </a:lnTo>
                <a:lnTo>
                  <a:pt x="2837952" y="507029"/>
                </a:lnTo>
                <a:lnTo>
                  <a:pt x="2902980" y="463404"/>
                </a:lnTo>
                <a:lnTo>
                  <a:pt x="2935969" y="434950"/>
                </a:lnTo>
                <a:lnTo>
                  <a:pt x="2969237" y="402589"/>
                </a:lnTo>
                <a:lnTo>
                  <a:pt x="3002756" y="366712"/>
                </a:lnTo>
                <a:lnTo>
                  <a:pt x="3036498" y="327710"/>
                </a:lnTo>
                <a:lnTo>
                  <a:pt x="3070435" y="285973"/>
                </a:lnTo>
                <a:lnTo>
                  <a:pt x="3104540" y="241892"/>
                </a:lnTo>
                <a:lnTo>
                  <a:pt x="3138785" y="195857"/>
                </a:lnTo>
                <a:lnTo>
                  <a:pt x="3173141" y="148260"/>
                </a:lnTo>
                <a:lnTo>
                  <a:pt x="3207580" y="99491"/>
                </a:lnTo>
                <a:lnTo>
                  <a:pt x="3242076" y="49941"/>
                </a:lnTo>
                <a:lnTo>
                  <a:pt x="32766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781800" y="0"/>
            <a:ext cx="2362199" cy="2345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908" y="762000"/>
            <a:ext cx="8330183" cy="533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7669" y="1896617"/>
            <a:ext cx="1365885" cy="646430"/>
          </a:xfrm>
          <a:prstGeom prst="rect"/>
          <a:ln w="38099">
            <a:solidFill>
              <a:srgbClr val="FF0000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71120" marR="78740">
              <a:lnSpc>
                <a:spcPct val="100000"/>
              </a:lnSpc>
              <a:spcBef>
                <a:spcPts val="155"/>
              </a:spcBef>
            </a:pPr>
            <a:r>
              <a:rPr dirty="0" sz="1800" spc="-20" b="1" u="heavy">
                <a:latin typeface="Arial"/>
                <a:cs typeface="Arial"/>
              </a:rPr>
              <a:t>Turn-off  </a:t>
            </a:r>
            <a:r>
              <a:rPr dirty="0" sz="1800" b="1" u="heavy">
                <a:latin typeface="Arial"/>
                <a:cs typeface="Arial"/>
              </a:rPr>
              <a:t>inspiration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b="1">
                <a:latin typeface="Comic Sans MS"/>
                <a:cs typeface="Comic Sans MS"/>
              </a:rPr>
              <a:t>C. </a:t>
            </a:r>
            <a:r>
              <a:rPr dirty="0" sz="2000" spc="-5" b="1" u="heavy">
                <a:latin typeface="Comic Sans MS"/>
                <a:cs typeface="Comic Sans MS"/>
              </a:rPr>
              <a:t>Respiratory</a:t>
            </a:r>
            <a:r>
              <a:rPr dirty="0" sz="2000" spc="-90" b="1" u="heavy">
                <a:latin typeface="Comic Sans MS"/>
                <a:cs typeface="Comic Sans MS"/>
              </a:rPr>
              <a:t> </a:t>
            </a:r>
            <a:r>
              <a:rPr dirty="0" sz="2000" b="1" u="heavy">
                <a:latin typeface="Comic Sans MS"/>
                <a:cs typeface="Comic Sans MS"/>
              </a:rPr>
              <a:t>Neurons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530350"/>
            <a:ext cx="2239010" cy="2895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u="heavy">
                <a:latin typeface="Comic Sans MS"/>
                <a:cs typeface="Comic Sans MS"/>
              </a:rPr>
              <a:t>Pattern of</a:t>
            </a:r>
            <a:r>
              <a:rPr dirty="0" sz="1800" spc="-90" u="heavy">
                <a:latin typeface="Comic Sans MS"/>
                <a:cs typeface="Comic Sans MS"/>
              </a:rPr>
              <a:t> </a:t>
            </a:r>
            <a:r>
              <a:rPr dirty="0" sz="1800" spc="-5" u="heavy">
                <a:latin typeface="Comic Sans MS"/>
                <a:cs typeface="Comic Sans MS"/>
              </a:rPr>
              <a:t>breathing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696" y="2605699"/>
            <a:ext cx="7418705" cy="1000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12090" marR="5080" indent="-200025">
              <a:lnSpc>
                <a:spcPct val="89800"/>
              </a:lnSpc>
            </a:pPr>
            <a:r>
              <a:rPr dirty="0" sz="1800" spc="-5">
                <a:latin typeface="Symbol"/>
                <a:cs typeface="Symbol"/>
              </a:rPr>
              <a:t></a:t>
            </a:r>
            <a:r>
              <a:rPr dirty="0" sz="1800" spc="-5">
                <a:latin typeface="Comic Sans MS"/>
                <a:cs typeface="Comic Sans MS"/>
              </a:rPr>
              <a:t>Removing influence </a:t>
            </a:r>
            <a:r>
              <a:rPr dirty="0" sz="1800">
                <a:latin typeface="Comic Sans MS"/>
                <a:cs typeface="Comic Sans MS"/>
              </a:rPr>
              <a:t>of </a:t>
            </a:r>
            <a:r>
              <a:rPr dirty="0" sz="1800" spc="-5">
                <a:latin typeface="Comic Sans MS"/>
                <a:cs typeface="Comic Sans MS"/>
              </a:rPr>
              <a:t>both </a:t>
            </a:r>
            <a:r>
              <a:rPr dirty="0" sz="1800">
                <a:latin typeface="Comic Sans MS"/>
                <a:cs typeface="Comic Sans MS"/>
              </a:rPr>
              <a:t>the </a:t>
            </a:r>
            <a:r>
              <a:rPr dirty="0" sz="1800" spc="-5">
                <a:latin typeface="Comic Sans MS"/>
                <a:cs typeface="Comic Sans MS"/>
              </a:rPr>
              <a:t>upper </a:t>
            </a:r>
            <a:r>
              <a:rPr dirty="0" sz="1800">
                <a:latin typeface="Comic Sans MS"/>
                <a:cs typeface="Comic Sans MS"/>
              </a:rPr>
              <a:t>pons and the </a:t>
            </a:r>
            <a:r>
              <a:rPr dirty="0" sz="1800" spc="-5">
                <a:latin typeface="Comic Sans MS"/>
                <a:cs typeface="Comic Sans MS"/>
              </a:rPr>
              <a:t>vagus </a:t>
            </a:r>
            <a:r>
              <a:rPr dirty="0" sz="1800">
                <a:latin typeface="Comic Sans MS"/>
                <a:cs typeface="Comic Sans MS"/>
              </a:rPr>
              <a:t>nerves  causes apneuses </a:t>
            </a:r>
            <a:r>
              <a:rPr dirty="0" sz="1800" spc="-5">
                <a:latin typeface="Comic Sans MS"/>
                <a:cs typeface="Comic Sans MS"/>
              </a:rPr>
              <a:t>(tonic inspiratory activity interrupted by </a:t>
            </a:r>
            <a:r>
              <a:rPr dirty="0" sz="1800">
                <a:latin typeface="Comic Sans MS"/>
                <a:cs typeface="Comic Sans MS"/>
              </a:rPr>
              <a:t>short  </a:t>
            </a:r>
            <a:r>
              <a:rPr dirty="0" sz="1800" spc="-5">
                <a:latin typeface="Comic Sans MS"/>
                <a:cs typeface="Comic Sans MS"/>
              </a:rPr>
              <a:t>expirations). </a:t>
            </a:r>
            <a:r>
              <a:rPr dirty="0" sz="1800">
                <a:latin typeface="Comic Sans MS"/>
                <a:cs typeface="Comic Sans MS"/>
              </a:rPr>
              <a:t>This </a:t>
            </a:r>
            <a:r>
              <a:rPr dirty="0" sz="1800" spc="-5">
                <a:latin typeface="Comic Sans MS"/>
                <a:cs typeface="Comic Sans MS"/>
              </a:rPr>
              <a:t>type </a:t>
            </a:r>
            <a:r>
              <a:rPr dirty="0" sz="1800">
                <a:latin typeface="Comic Sans MS"/>
                <a:cs typeface="Comic Sans MS"/>
              </a:rPr>
              <a:t>of </a:t>
            </a:r>
            <a:r>
              <a:rPr dirty="0" sz="1800" spc="-5">
                <a:latin typeface="Comic Sans MS"/>
                <a:cs typeface="Comic Sans MS"/>
              </a:rPr>
              <a:t>breathing is seen in </a:t>
            </a:r>
            <a:r>
              <a:rPr dirty="0" sz="1800">
                <a:latin typeface="Comic Sans MS"/>
                <a:cs typeface="Comic Sans MS"/>
              </a:rPr>
              <a:t>some severe </a:t>
            </a:r>
            <a:r>
              <a:rPr dirty="0" sz="1800" spc="-5">
                <a:latin typeface="Comic Sans MS"/>
                <a:cs typeface="Comic Sans MS"/>
              </a:rPr>
              <a:t>types </a:t>
            </a:r>
            <a:r>
              <a:rPr dirty="0" sz="1800">
                <a:latin typeface="Comic Sans MS"/>
                <a:cs typeface="Comic Sans MS"/>
              </a:rPr>
              <a:t>of  </a:t>
            </a:r>
            <a:r>
              <a:rPr dirty="0" sz="1800" spc="-5">
                <a:latin typeface="Comic Sans MS"/>
                <a:cs typeface="Comic Sans MS"/>
              </a:rPr>
              <a:t>brain</a:t>
            </a:r>
            <a:r>
              <a:rPr dirty="0" sz="1800" spc="-110">
                <a:latin typeface="Comic Sans MS"/>
                <a:cs typeface="Comic Sans MS"/>
              </a:rPr>
              <a:t> </a:t>
            </a:r>
            <a:r>
              <a:rPr dirty="0" sz="1800" spc="-5">
                <a:latin typeface="Comic Sans MS"/>
                <a:cs typeface="Comic Sans MS"/>
              </a:rPr>
              <a:t>injury.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81800" y="0"/>
            <a:ext cx="2362199" cy="2345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00200" y="3976115"/>
            <a:ext cx="4680204" cy="23484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71600" y="3810000"/>
            <a:ext cx="6172200" cy="1219200"/>
          </a:xfrm>
          <a:custGeom>
            <a:avLst/>
            <a:gdLst/>
            <a:ahLst/>
            <a:cxnLst/>
            <a:rect l="l" t="t" r="r" b="b"/>
            <a:pathLst>
              <a:path w="6172200" h="1219200">
                <a:moveTo>
                  <a:pt x="0" y="1219200"/>
                </a:moveTo>
                <a:lnTo>
                  <a:pt x="6172200" y="1219200"/>
                </a:lnTo>
                <a:lnTo>
                  <a:pt x="6172200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b="1">
                <a:latin typeface="Comic Sans MS"/>
                <a:cs typeface="Comic Sans MS"/>
              </a:rPr>
              <a:t>C. </a:t>
            </a:r>
            <a:r>
              <a:rPr dirty="0" sz="2000" spc="-5" b="1" u="heavy">
                <a:latin typeface="Comic Sans MS"/>
                <a:cs typeface="Comic Sans MS"/>
              </a:rPr>
              <a:t>Respiratory</a:t>
            </a:r>
            <a:r>
              <a:rPr dirty="0" sz="2000" spc="-90" b="1" u="heavy">
                <a:latin typeface="Comic Sans MS"/>
                <a:cs typeface="Comic Sans MS"/>
              </a:rPr>
              <a:t> </a:t>
            </a:r>
            <a:r>
              <a:rPr dirty="0" sz="2000" b="1" u="heavy">
                <a:latin typeface="Comic Sans MS"/>
                <a:cs typeface="Comic Sans MS"/>
              </a:rPr>
              <a:t>Neurons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875282"/>
            <a:ext cx="7702550" cy="19970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 u="heavy">
                <a:latin typeface="Comic Sans MS"/>
                <a:cs typeface="Comic Sans MS"/>
              </a:rPr>
              <a:t>Pattern </a:t>
            </a:r>
            <a:r>
              <a:rPr dirty="0" sz="2000" u="heavy">
                <a:latin typeface="Comic Sans MS"/>
                <a:cs typeface="Comic Sans MS"/>
              </a:rPr>
              <a:t>of</a:t>
            </a:r>
            <a:r>
              <a:rPr dirty="0" sz="2000" spc="-85" u="heavy">
                <a:latin typeface="Comic Sans MS"/>
                <a:cs typeface="Comic Sans MS"/>
              </a:rPr>
              <a:t> </a:t>
            </a:r>
            <a:r>
              <a:rPr dirty="0" sz="2000" spc="-5" u="heavy">
                <a:latin typeface="Comic Sans MS"/>
                <a:cs typeface="Comic Sans MS"/>
              </a:rPr>
              <a:t>breathing</a:t>
            </a:r>
            <a:endParaRPr sz="20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2000">
                <a:latin typeface="Comic Sans MS"/>
                <a:cs typeface="Comic Sans MS"/>
              </a:rPr>
              <a:t>Pons</a:t>
            </a:r>
            <a:r>
              <a:rPr dirty="0" sz="2000" spc="-9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(lower):</a:t>
            </a:r>
            <a:endParaRPr sz="20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622300" marR="5080">
              <a:lnSpc>
                <a:spcPts val="2160"/>
              </a:lnSpc>
              <a:spcBef>
                <a:spcPts val="1485"/>
              </a:spcBef>
            </a:pPr>
            <a:r>
              <a:rPr dirty="0" sz="2000">
                <a:latin typeface="Comic Sans MS"/>
                <a:cs typeface="Comic Sans MS"/>
              </a:rPr>
              <a:t>Cells </a:t>
            </a:r>
            <a:r>
              <a:rPr dirty="0" sz="2000" spc="-5">
                <a:latin typeface="Comic Sans MS"/>
                <a:cs typeface="Comic Sans MS"/>
              </a:rPr>
              <a:t>located in the </a:t>
            </a:r>
            <a:r>
              <a:rPr dirty="0" sz="2000">
                <a:latin typeface="Comic Sans MS"/>
                <a:cs typeface="Comic Sans MS"/>
              </a:rPr>
              <a:t>lower pons </a:t>
            </a:r>
            <a:r>
              <a:rPr dirty="0" sz="2000" spc="-5">
                <a:latin typeface="Comic Sans MS"/>
                <a:cs typeface="Comic Sans MS"/>
              </a:rPr>
              <a:t>(called the apneustic center)  send excitatory impulses to the respiratory </a:t>
            </a:r>
            <a:r>
              <a:rPr dirty="0" sz="2000">
                <a:latin typeface="Comic Sans MS"/>
                <a:cs typeface="Comic Sans MS"/>
              </a:rPr>
              <a:t>groups of </a:t>
            </a:r>
            <a:r>
              <a:rPr dirty="0" sz="2000" spc="-5">
                <a:latin typeface="Comic Sans MS"/>
                <a:cs typeface="Comic Sans MS"/>
              </a:rPr>
              <a:t>the  medulla, thus </a:t>
            </a:r>
            <a:r>
              <a:rPr dirty="0" sz="2000">
                <a:latin typeface="Comic Sans MS"/>
                <a:cs typeface="Comic Sans MS"/>
              </a:rPr>
              <a:t>promoting</a:t>
            </a:r>
            <a:r>
              <a:rPr dirty="0" sz="2000" spc="-60">
                <a:latin typeface="Comic Sans MS"/>
                <a:cs typeface="Comic Sans MS"/>
              </a:rPr>
              <a:t> </a:t>
            </a:r>
            <a:r>
              <a:rPr dirty="0" sz="2000" spc="-5">
                <a:latin typeface="Comic Sans MS"/>
                <a:cs typeface="Comic Sans MS"/>
              </a:rPr>
              <a:t>inspiration.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81800" y="0"/>
            <a:ext cx="2362199" cy="2345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908" y="762000"/>
            <a:ext cx="8330183" cy="533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379" y="2590800"/>
            <a:ext cx="1363980" cy="646430"/>
          </a:xfrm>
          <a:prstGeom prst="rect"/>
          <a:ln w="57912">
            <a:solidFill>
              <a:srgbClr val="FF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61594" marR="66675">
              <a:lnSpc>
                <a:spcPct val="100000"/>
              </a:lnSpc>
              <a:spcBef>
                <a:spcPts val="90"/>
              </a:spcBef>
            </a:pPr>
            <a:r>
              <a:rPr dirty="0" sz="1800" spc="-5" b="1" u="heavy">
                <a:latin typeface="Arial"/>
                <a:cs typeface="Arial"/>
              </a:rPr>
              <a:t>Promote  </a:t>
            </a:r>
            <a:r>
              <a:rPr dirty="0" sz="1800" b="1" u="heavy">
                <a:latin typeface="Arial"/>
                <a:cs typeface="Arial"/>
              </a:rPr>
              <a:t>inspiration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908" y="762000"/>
            <a:ext cx="8330183" cy="533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73379" y="2590800"/>
            <a:ext cx="1363980" cy="646430"/>
          </a:xfrm>
          <a:custGeom>
            <a:avLst/>
            <a:gdLst/>
            <a:ahLst/>
            <a:cxnLst/>
            <a:rect l="l" t="t" r="r" b="b"/>
            <a:pathLst>
              <a:path w="1363980" h="646430">
                <a:moveTo>
                  <a:pt x="0" y="646176"/>
                </a:moveTo>
                <a:lnTo>
                  <a:pt x="1363980" y="646176"/>
                </a:lnTo>
                <a:lnTo>
                  <a:pt x="1363980" y="0"/>
                </a:lnTo>
                <a:lnTo>
                  <a:pt x="0" y="0"/>
                </a:lnTo>
                <a:lnTo>
                  <a:pt x="0" y="646176"/>
                </a:lnTo>
                <a:close/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7669" y="1896617"/>
            <a:ext cx="1365885" cy="646430"/>
          </a:xfrm>
          <a:custGeom>
            <a:avLst/>
            <a:gdLst/>
            <a:ahLst/>
            <a:cxnLst/>
            <a:rect l="l" t="t" r="r" b="b"/>
            <a:pathLst>
              <a:path w="1365885" h="646430">
                <a:moveTo>
                  <a:pt x="0" y="646176"/>
                </a:moveTo>
                <a:lnTo>
                  <a:pt x="1365504" y="646176"/>
                </a:lnTo>
                <a:lnTo>
                  <a:pt x="1365504" y="0"/>
                </a:lnTo>
                <a:lnTo>
                  <a:pt x="0" y="0"/>
                </a:lnTo>
                <a:lnTo>
                  <a:pt x="0" y="646176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85572" y="1935479"/>
            <a:ext cx="1365250" cy="1301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8740" marR="74930" indent="33020">
              <a:lnSpc>
                <a:spcPct val="100000"/>
              </a:lnSpc>
            </a:pPr>
            <a:r>
              <a:rPr dirty="0" sz="1800" spc="-20" b="1" u="heavy">
                <a:latin typeface="Arial"/>
                <a:cs typeface="Arial"/>
              </a:rPr>
              <a:t>Turn-off  </a:t>
            </a:r>
            <a:r>
              <a:rPr dirty="0" sz="1800" b="1" u="heavy">
                <a:latin typeface="Arial"/>
                <a:cs typeface="Arial"/>
              </a:rPr>
              <a:t>inspiration</a:t>
            </a:r>
            <a:endParaRPr sz="1800">
              <a:latin typeface="Arial"/>
              <a:cs typeface="Arial"/>
            </a:endParaRPr>
          </a:p>
          <a:p>
            <a:pPr marL="78740" marR="108585">
              <a:lnSpc>
                <a:spcPct val="100000"/>
              </a:lnSpc>
              <a:spcBef>
                <a:spcPts val="1155"/>
              </a:spcBef>
            </a:pPr>
            <a:r>
              <a:rPr dirty="0" sz="1800" spc="-5" b="1" u="heavy">
                <a:latin typeface="Arial"/>
                <a:cs typeface="Arial"/>
              </a:rPr>
              <a:t>Promote  </a:t>
            </a:r>
            <a:r>
              <a:rPr dirty="0" sz="1800" b="1" u="heavy">
                <a:latin typeface="Arial"/>
                <a:cs typeface="Arial"/>
              </a:rPr>
              <a:t>i</a:t>
            </a:r>
            <a:r>
              <a:rPr dirty="0" sz="1800" spc="5" b="1" u="heavy">
                <a:latin typeface="Arial"/>
                <a:cs typeface="Arial"/>
              </a:rPr>
              <a:t>n</a:t>
            </a:r>
            <a:r>
              <a:rPr dirty="0" sz="1800" spc="-5" b="1" u="heavy">
                <a:latin typeface="Arial"/>
                <a:cs typeface="Arial"/>
              </a:rPr>
              <a:t>spir</a:t>
            </a:r>
            <a:r>
              <a:rPr dirty="0" sz="1800" spc="-10" b="1" u="heavy">
                <a:latin typeface="Arial"/>
                <a:cs typeface="Arial"/>
              </a:rPr>
              <a:t>a</a:t>
            </a:r>
            <a:r>
              <a:rPr dirty="0" sz="1800" b="1" u="heavy">
                <a:latin typeface="Arial"/>
                <a:cs typeface="Arial"/>
              </a:rPr>
              <a:t>ti</a:t>
            </a:r>
            <a:r>
              <a:rPr dirty="0" sz="1800" spc="5" b="1" u="heavy">
                <a:latin typeface="Arial"/>
                <a:cs typeface="Arial"/>
              </a:rPr>
              <a:t>o</a:t>
            </a:r>
            <a:r>
              <a:rPr dirty="0" sz="1800" b="1" u="heavy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527" y="4564379"/>
            <a:ext cx="1219200" cy="367665"/>
          </a:xfrm>
          <a:prstGeom prst="rect">
            <a:avLst/>
          </a:prstGeom>
          <a:ln w="57912">
            <a:solidFill>
              <a:srgbClr val="FF0000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 marL="62230">
              <a:lnSpc>
                <a:spcPct val="100000"/>
              </a:lnSpc>
              <a:spcBef>
                <a:spcPts val="90"/>
              </a:spcBef>
            </a:pPr>
            <a:r>
              <a:rPr dirty="0" sz="1800" spc="-5" b="1" u="heavy">
                <a:latin typeface="Arial"/>
                <a:cs typeface="Arial"/>
              </a:rPr>
              <a:t>Rhythm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76400" y="1066800"/>
            <a:ext cx="5334000" cy="3771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55975" y="5249291"/>
            <a:ext cx="1645285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From the</a:t>
            </a:r>
            <a:r>
              <a:rPr dirty="0" sz="1800" spc="-100">
                <a:latin typeface="Arial"/>
                <a:cs typeface="Arial"/>
              </a:rPr>
              <a:t> </a:t>
            </a:r>
            <a:r>
              <a:rPr dirty="0" sz="1800" spc="-15">
                <a:latin typeface="Arial"/>
                <a:cs typeface="Arial"/>
              </a:rPr>
              <a:t>web…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11734"/>
            <a:ext cx="2345690" cy="3937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35"/>
              <a:t>D.</a:t>
            </a:r>
            <a:r>
              <a:rPr dirty="0" spc="-85"/>
              <a:t> </a:t>
            </a:r>
            <a:r>
              <a:rPr dirty="0" spc="-30" u="heavy"/>
              <a:t>Chemoreceptors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17853"/>
            <a:ext cx="7924165" cy="44767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PO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, PCO</a:t>
            </a:r>
            <a:r>
              <a:rPr dirty="0" sz="1600" spc="-5">
                <a:latin typeface="Calibri"/>
                <a:cs typeface="Calibri"/>
              </a:rPr>
              <a:t>2</a:t>
            </a:r>
            <a:r>
              <a:rPr dirty="0" sz="2000" spc="-5">
                <a:latin typeface="Calibri"/>
                <a:cs typeface="Calibri"/>
              </a:rPr>
              <a:t>,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pH in arterial blood </a:t>
            </a:r>
            <a:r>
              <a:rPr dirty="0" sz="2000" spc="-10">
                <a:latin typeface="Calibri"/>
                <a:cs typeface="Calibri"/>
              </a:rPr>
              <a:t>are detected </a:t>
            </a:r>
            <a:r>
              <a:rPr dirty="0" sz="2000" spc="-5">
                <a:latin typeface="Calibri"/>
                <a:cs typeface="Calibri"/>
              </a:rPr>
              <a:t>by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chemoreceptors.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Times New Roman"/>
              <a:cs typeface="Times New Roman"/>
            </a:endParaRPr>
          </a:p>
          <a:p>
            <a:pPr marL="157480" indent="-144780">
              <a:lnSpc>
                <a:spcPct val="100000"/>
              </a:lnSpc>
              <a:buFont typeface="Arial"/>
              <a:buChar char="•"/>
              <a:tabLst>
                <a:tab pos="157480" algn="l"/>
              </a:tabLst>
            </a:pPr>
            <a:r>
              <a:rPr dirty="0" sz="2000">
                <a:latin typeface="Calibri"/>
                <a:cs typeface="Calibri"/>
              </a:rPr>
              <a:t>If these </a:t>
            </a:r>
            <a:r>
              <a:rPr dirty="0" sz="2000" spc="-10">
                <a:latin typeface="Calibri"/>
                <a:cs typeface="Calibri"/>
              </a:rPr>
              <a:t>pressures </a:t>
            </a:r>
            <a:r>
              <a:rPr dirty="0" sz="2000" spc="-5">
                <a:latin typeface="Calibri"/>
                <a:cs typeface="Calibri"/>
              </a:rPr>
              <a:t>(or pH) </a:t>
            </a:r>
            <a:r>
              <a:rPr dirty="0" sz="2000">
                <a:latin typeface="Calibri"/>
                <a:cs typeface="Calibri"/>
              </a:rPr>
              <a:t>Δ → </a:t>
            </a:r>
            <a:r>
              <a:rPr dirty="0" sz="2000" spc="-10">
                <a:latin typeface="Calibri"/>
                <a:cs typeface="Calibri"/>
              </a:rPr>
              <a:t>ventilation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Δ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650">
              <a:latin typeface="Times New Roman"/>
              <a:cs typeface="Times New Roman"/>
            </a:endParaRPr>
          </a:p>
          <a:p>
            <a:pPr marL="157480" indent="-144780">
              <a:lnSpc>
                <a:spcPct val="100000"/>
              </a:lnSpc>
              <a:buFont typeface="Arial"/>
              <a:buChar char="•"/>
              <a:tabLst>
                <a:tab pos="157480" algn="l"/>
              </a:tabLst>
            </a:pPr>
            <a:r>
              <a:rPr dirty="0" sz="2000" spc="-10">
                <a:latin typeface="Calibri"/>
                <a:cs typeface="Calibri"/>
              </a:rPr>
              <a:t>Information </a:t>
            </a:r>
            <a:r>
              <a:rPr dirty="0" sz="2000" spc="-15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chemoreceptors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5">
                <a:latin typeface="Calibri"/>
                <a:cs typeface="Calibri"/>
              </a:rPr>
              <a:t>carried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respiratory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neurons.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activity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 spc="-15">
                <a:latin typeface="Calibri"/>
                <a:cs typeface="Calibri"/>
              </a:rPr>
              <a:t>respiratory </a:t>
            </a:r>
            <a:r>
              <a:rPr dirty="0" sz="2000" spc="-10">
                <a:latin typeface="Calibri"/>
                <a:cs typeface="Calibri"/>
              </a:rPr>
              <a:t>neurons </a:t>
            </a:r>
            <a:r>
              <a:rPr dirty="0" sz="2000" spc="-5">
                <a:latin typeface="Calibri"/>
                <a:cs typeface="Calibri"/>
              </a:rPr>
              <a:t>will increase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endParaRPr sz="200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  <a:spcBef>
                <a:spcPts val="325"/>
              </a:spcBef>
            </a:pPr>
            <a:r>
              <a:rPr dirty="0" sz="2000" spc="-15">
                <a:latin typeface="Calibri"/>
                <a:cs typeface="Calibri"/>
              </a:rPr>
              <a:t>PaO</a:t>
            </a:r>
            <a:r>
              <a:rPr dirty="0" sz="1600" spc="-15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is &lt; 60 mm Hg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or</a:t>
            </a:r>
            <a:endParaRPr sz="200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  <a:spcBef>
                <a:spcPts val="310"/>
              </a:spcBef>
            </a:pPr>
            <a:r>
              <a:rPr dirty="0" sz="2000" spc="-15">
                <a:latin typeface="Calibri"/>
                <a:cs typeface="Calibri"/>
              </a:rPr>
              <a:t>PaCO</a:t>
            </a:r>
            <a:r>
              <a:rPr dirty="0" sz="1600" spc="-15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&gt; 40 mm Hg.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Times New Roman"/>
              <a:cs typeface="Times New Roman"/>
            </a:endParaRPr>
          </a:p>
          <a:p>
            <a:pPr marL="698500" marR="2271395" indent="-686435">
              <a:lnSpc>
                <a:spcPct val="112999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activity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5">
                <a:latin typeface="Calibri"/>
                <a:cs typeface="Calibri"/>
              </a:rPr>
              <a:t>respiratory </a:t>
            </a:r>
            <a:r>
              <a:rPr dirty="0" sz="2000" spc="-10">
                <a:latin typeface="Calibri"/>
                <a:cs typeface="Calibri"/>
              </a:rPr>
              <a:t>neurons </a:t>
            </a:r>
            <a:r>
              <a:rPr dirty="0" sz="2000" spc="-5">
                <a:latin typeface="Calibri"/>
                <a:cs typeface="Calibri"/>
              </a:rPr>
              <a:t>will decrease </a:t>
            </a:r>
            <a:r>
              <a:rPr dirty="0" sz="2000">
                <a:latin typeface="Calibri"/>
                <a:cs typeface="Calibri"/>
              </a:rPr>
              <a:t>if  </a:t>
            </a:r>
            <a:r>
              <a:rPr dirty="0" sz="2000" spc="-15">
                <a:latin typeface="Calibri"/>
                <a:cs typeface="Calibri"/>
              </a:rPr>
              <a:t>PaO2 </a:t>
            </a:r>
            <a:r>
              <a:rPr dirty="0" sz="2000">
                <a:latin typeface="Calibri"/>
                <a:cs typeface="Calibri"/>
              </a:rPr>
              <a:t>&gt; 100 mm Hg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or</a:t>
            </a:r>
            <a:endParaRPr sz="2000">
              <a:latin typeface="Calibri"/>
              <a:cs typeface="Calibri"/>
            </a:endParaRPr>
          </a:p>
          <a:p>
            <a:pPr marL="755015">
              <a:lnSpc>
                <a:spcPct val="100000"/>
              </a:lnSpc>
              <a:spcBef>
                <a:spcPts val="325"/>
              </a:spcBef>
            </a:pPr>
            <a:r>
              <a:rPr dirty="0" sz="2000" spc="-15">
                <a:latin typeface="Calibri"/>
                <a:cs typeface="Calibri"/>
              </a:rPr>
              <a:t>PaCO</a:t>
            </a:r>
            <a:r>
              <a:rPr dirty="0" sz="1600" spc="-15">
                <a:latin typeface="Calibri"/>
                <a:cs typeface="Calibri"/>
              </a:rPr>
              <a:t>2 </a:t>
            </a:r>
            <a:r>
              <a:rPr dirty="0" sz="2000">
                <a:latin typeface="Calibri"/>
                <a:cs typeface="Calibri"/>
              </a:rPr>
              <a:t>&lt; 40 mm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Hg.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5394" y="1489202"/>
            <a:ext cx="5106670" cy="3759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400" spc="-5">
                <a:latin typeface="Arial"/>
                <a:cs typeface="Arial"/>
              </a:rPr>
              <a:t>There </a:t>
            </a:r>
            <a:r>
              <a:rPr dirty="0" sz="2400">
                <a:latin typeface="Arial"/>
                <a:cs typeface="Arial"/>
              </a:rPr>
              <a:t>are </a:t>
            </a:r>
            <a:r>
              <a:rPr dirty="0" sz="2400" spc="-5">
                <a:latin typeface="Arial"/>
                <a:cs typeface="Arial"/>
              </a:rPr>
              <a:t>2 </a:t>
            </a:r>
            <a:r>
              <a:rPr dirty="0" sz="2400">
                <a:latin typeface="Arial"/>
                <a:cs typeface="Arial"/>
              </a:rPr>
              <a:t>types of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chemoreceptors: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5394" y="2221610"/>
            <a:ext cx="2734945" cy="3155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b="1" u="heavy">
                <a:latin typeface="Arial"/>
                <a:cs typeface="Arial"/>
              </a:rPr>
              <a:t>Central and</a:t>
            </a:r>
            <a:r>
              <a:rPr dirty="0" sz="2000" spc="-125" b="1" u="heavy">
                <a:latin typeface="Arial"/>
                <a:cs typeface="Arial"/>
              </a:rPr>
              <a:t> </a:t>
            </a:r>
            <a:r>
              <a:rPr dirty="0" sz="2000" b="1" u="heavy">
                <a:latin typeface="Arial"/>
                <a:cs typeface="Arial"/>
              </a:rPr>
              <a:t>Peripheral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38453"/>
            <a:ext cx="3347085" cy="3937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1) </a:t>
            </a:r>
            <a:r>
              <a:rPr dirty="0" spc="-25" u="heavy"/>
              <a:t>Central</a:t>
            </a:r>
            <a:r>
              <a:rPr dirty="0" spc="-145" u="heavy"/>
              <a:t> </a:t>
            </a:r>
            <a:r>
              <a:rPr dirty="0" spc="-30" u="heavy"/>
              <a:t>Chemoreceptors: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5053"/>
            <a:ext cx="7908290" cy="2200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0">
                <a:latin typeface="Arial"/>
                <a:cs typeface="Arial"/>
              </a:rPr>
              <a:t>•</a:t>
            </a:r>
            <a:r>
              <a:rPr dirty="0" sz="2000" spc="-10">
                <a:latin typeface="Calibri"/>
                <a:cs typeface="Calibri"/>
              </a:rPr>
              <a:t>Central chemoreceptors are located </a:t>
            </a:r>
            <a:r>
              <a:rPr dirty="0" sz="2000" spc="-5">
                <a:latin typeface="Calibri"/>
                <a:cs typeface="Calibri"/>
              </a:rPr>
              <a:t>on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5" u="heavy">
                <a:latin typeface="Calibri"/>
                <a:cs typeface="Calibri"/>
              </a:rPr>
              <a:t>ventral </a:t>
            </a:r>
            <a:r>
              <a:rPr dirty="0" sz="2000" spc="-10" u="heavy">
                <a:latin typeface="Calibri"/>
                <a:cs typeface="Calibri"/>
              </a:rPr>
              <a:t>surface </a:t>
            </a:r>
            <a:r>
              <a:rPr dirty="0" sz="2000" spc="-5" u="heavy">
                <a:latin typeface="Calibri"/>
                <a:cs typeface="Calibri"/>
              </a:rPr>
              <a:t>of </a:t>
            </a:r>
            <a:r>
              <a:rPr dirty="0" sz="2000" u="heavy">
                <a:latin typeface="Calibri"/>
                <a:cs typeface="Calibri"/>
              </a:rPr>
              <a:t>the</a:t>
            </a:r>
            <a:r>
              <a:rPr dirty="0" sz="2000" spc="135" u="heavy">
                <a:latin typeface="Calibri"/>
                <a:cs typeface="Calibri"/>
              </a:rPr>
              <a:t> </a:t>
            </a:r>
            <a:r>
              <a:rPr dirty="0" sz="2000" u="heavy">
                <a:latin typeface="Calibri"/>
                <a:cs typeface="Calibri"/>
              </a:rPr>
              <a:t>medulla</a:t>
            </a:r>
            <a:r>
              <a:rPr dirty="0" sz="200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</a:pPr>
            <a:r>
              <a:rPr dirty="0" sz="2000" spc="-10">
                <a:latin typeface="Arial"/>
                <a:cs typeface="Arial"/>
              </a:rPr>
              <a:t>•</a:t>
            </a:r>
            <a:r>
              <a:rPr dirty="0" sz="2000" spc="-10">
                <a:latin typeface="Calibri"/>
                <a:cs typeface="Calibri"/>
              </a:rPr>
              <a:t>They </a:t>
            </a:r>
            <a:r>
              <a:rPr dirty="0" sz="2000" spc="-5" u="heavy">
                <a:latin typeface="Calibri"/>
                <a:cs typeface="Calibri"/>
              </a:rPr>
              <a:t>detect </a:t>
            </a:r>
            <a:r>
              <a:rPr dirty="0" sz="2000" u="heavy">
                <a:latin typeface="Calibri"/>
                <a:cs typeface="Calibri"/>
              </a:rPr>
              <a:t>the </a:t>
            </a:r>
            <a:r>
              <a:rPr dirty="0" sz="2000" spc="-5" u="heavy">
                <a:latin typeface="Calibri"/>
                <a:cs typeface="Calibri"/>
              </a:rPr>
              <a:t>pH of </a:t>
            </a:r>
            <a:r>
              <a:rPr dirty="0" sz="2000" u="heavy">
                <a:latin typeface="Calibri"/>
                <a:cs typeface="Calibri"/>
              </a:rPr>
              <a:t>the </a:t>
            </a:r>
            <a:r>
              <a:rPr dirty="0" sz="2000" spc="-10" u="heavy">
                <a:latin typeface="Calibri"/>
                <a:cs typeface="Calibri"/>
              </a:rPr>
              <a:t>cerebrospinal </a:t>
            </a:r>
            <a:r>
              <a:rPr dirty="0" sz="2000" spc="-5" u="heavy">
                <a:latin typeface="Calibri"/>
                <a:cs typeface="Calibri"/>
              </a:rPr>
              <a:t>fluid (CSF) </a:t>
            </a:r>
            <a:r>
              <a:rPr dirty="0" sz="2000" spc="-10">
                <a:latin typeface="Calibri"/>
                <a:cs typeface="Calibri"/>
              </a:rPr>
              <a:t>surrounding </a:t>
            </a:r>
            <a:r>
              <a:rPr dirty="0" sz="2000">
                <a:latin typeface="Calibri"/>
                <a:cs typeface="Calibri"/>
              </a:rPr>
              <a:t>them </a:t>
            </a:r>
            <a:r>
              <a:rPr dirty="0" sz="2000" spc="-5">
                <a:latin typeface="Calibri"/>
                <a:cs typeface="Calibri"/>
              </a:rPr>
              <a:t>(PCO</a:t>
            </a:r>
            <a:r>
              <a:rPr dirty="0" sz="1600" spc="-5">
                <a:latin typeface="Calibri"/>
                <a:cs typeface="Calibri"/>
              </a:rPr>
              <a:t>2 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pH of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CSF </a:t>
            </a:r>
            <a:r>
              <a:rPr dirty="0" sz="2000" spc="-10">
                <a:latin typeface="Calibri"/>
                <a:cs typeface="Calibri"/>
              </a:rPr>
              <a:t>are </a:t>
            </a:r>
            <a:r>
              <a:rPr dirty="0" sz="2000" spc="-5">
                <a:latin typeface="Calibri"/>
                <a:cs typeface="Calibri"/>
              </a:rPr>
              <a:t>influenced by </a:t>
            </a:r>
            <a:r>
              <a:rPr dirty="0" sz="2000">
                <a:latin typeface="Calibri"/>
                <a:cs typeface="Calibri"/>
              </a:rPr>
              <a:t>those </a:t>
            </a:r>
            <a:r>
              <a:rPr dirty="0" sz="2000" spc="-5">
                <a:latin typeface="Calibri"/>
                <a:cs typeface="Calibri"/>
              </a:rPr>
              <a:t>of arterial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blood).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 u="heavy">
                <a:latin typeface="Calibri"/>
                <a:cs typeface="Calibri"/>
              </a:rPr>
              <a:t>central chemoreceptors give </a:t>
            </a:r>
            <a:r>
              <a:rPr dirty="0" sz="2000" spc="-5" u="heavy">
                <a:latin typeface="Calibri"/>
                <a:cs typeface="Calibri"/>
              </a:rPr>
              <a:t>rise </a:t>
            </a:r>
            <a:r>
              <a:rPr dirty="0" sz="2000" spc="-15" u="heavy">
                <a:latin typeface="Calibri"/>
                <a:cs typeface="Calibri"/>
              </a:rPr>
              <a:t>to </a:t>
            </a:r>
            <a:r>
              <a:rPr dirty="0" sz="2000" u="heavy">
                <a:latin typeface="Calibri"/>
                <a:cs typeface="Calibri"/>
              </a:rPr>
              <a:t>the </a:t>
            </a:r>
            <a:r>
              <a:rPr dirty="0" sz="2000" spc="-5" u="heavy">
                <a:latin typeface="Calibri"/>
                <a:cs typeface="Calibri"/>
              </a:rPr>
              <a:t>main </a:t>
            </a:r>
            <a:r>
              <a:rPr dirty="0" sz="2000" spc="-10" u="heavy">
                <a:latin typeface="Calibri"/>
                <a:cs typeface="Calibri"/>
              </a:rPr>
              <a:t>drive </a:t>
            </a:r>
            <a:r>
              <a:rPr dirty="0" sz="2000" spc="-15" u="heavy">
                <a:latin typeface="Calibri"/>
                <a:cs typeface="Calibri"/>
              </a:rPr>
              <a:t>to </a:t>
            </a:r>
            <a:r>
              <a:rPr dirty="0" sz="2000" spc="-10" u="heavy">
                <a:latin typeface="Calibri"/>
                <a:cs typeface="Calibri"/>
              </a:rPr>
              <a:t>breathe</a:t>
            </a:r>
            <a:r>
              <a:rPr dirty="0" sz="2000" spc="225" u="heavy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under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dirty="0" sz="2000" spc="-5">
                <a:latin typeface="Calibri"/>
                <a:cs typeface="Calibri"/>
              </a:rPr>
              <a:t>normal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conditions.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582168"/>
            <a:ext cx="6096000" cy="430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8340" y="5069078"/>
            <a:ext cx="7705090" cy="1567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1800" spc="-5">
                <a:latin typeface="Arial"/>
                <a:cs typeface="Arial"/>
              </a:rPr>
              <a:t>Environment </a:t>
            </a:r>
            <a:r>
              <a:rPr dirty="0" sz="1800">
                <a:latin typeface="Arial"/>
                <a:cs typeface="Arial"/>
              </a:rPr>
              <a:t>of the </a:t>
            </a:r>
            <a:r>
              <a:rPr dirty="0" sz="1800" spc="-5">
                <a:latin typeface="Arial"/>
                <a:cs typeface="Arial"/>
              </a:rPr>
              <a:t>central chemoreceptors: they are bathed in brain  extracellular fluid </a:t>
            </a:r>
            <a:r>
              <a:rPr dirty="0" sz="1800">
                <a:latin typeface="Arial"/>
                <a:cs typeface="Arial"/>
              </a:rPr>
              <a:t>(ECF), </a:t>
            </a:r>
            <a:r>
              <a:rPr dirty="0" sz="1800" spc="-5">
                <a:latin typeface="Arial"/>
                <a:cs typeface="Arial"/>
              </a:rPr>
              <a:t>through </a:t>
            </a:r>
            <a:r>
              <a:rPr dirty="0" sz="1800" spc="-15">
                <a:latin typeface="Arial"/>
                <a:cs typeface="Arial"/>
              </a:rPr>
              <a:t>which </a:t>
            </a:r>
            <a:r>
              <a:rPr dirty="0" sz="1800">
                <a:latin typeface="Arial"/>
                <a:cs typeface="Arial"/>
              </a:rPr>
              <a:t>CO</a:t>
            </a:r>
            <a:r>
              <a:rPr dirty="0" sz="1400">
                <a:latin typeface="Arial"/>
                <a:cs typeface="Arial"/>
              </a:rPr>
              <a:t>2 </a:t>
            </a:r>
            <a:r>
              <a:rPr dirty="0" sz="1800" spc="-5">
                <a:latin typeface="Arial"/>
                <a:cs typeface="Arial"/>
              </a:rPr>
              <a:t>easily </a:t>
            </a:r>
            <a:r>
              <a:rPr dirty="0" sz="1800" spc="-10">
                <a:latin typeface="Arial"/>
                <a:cs typeface="Arial"/>
              </a:rPr>
              <a:t>diffuses </a:t>
            </a:r>
            <a:r>
              <a:rPr dirty="0" sz="1800">
                <a:latin typeface="Arial"/>
                <a:cs typeface="Arial"/>
              </a:rPr>
              <a:t>from the </a:t>
            </a:r>
            <a:r>
              <a:rPr dirty="0" sz="1800" spc="-5">
                <a:latin typeface="Arial"/>
                <a:cs typeface="Arial"/>
              </a:rPr>
              <a:t>blood  vessels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5">
                <a:latin typeface="Arial"/>
                <a:cs typeface="Arial"/>
              </a:rPr>
              <a:t>cerebrospinal fluid </a:t>
            </a:r>
            <a:r>
              <a:rPr dirty="0" sz="1800">
                <a:latin typeface="Arial"/>
                <a:cs typeface="Arial"/>
              </a:rPr>
              <a:t>(CSF). The CO</a:t>
            </a:r>
            <a:r>
              <a:rPr dirty="0" sz="1400">
                <a:latin typeface="Arial"/>
                <a:cs typeface="Arial"/>
              </a:rPr>
              <a:t>2 </a:t>
            </a:r>
            <a:r>
              <a:rPr dirty="0" sz="1800" spc="-5">
                <a:latin typeface="Arial"/>
                <a:cs typeface="Arial"/>
              </a:rPr>
              <a:t>reduces </a:t>
            </a:r>
            <a:r>
              <a:rPr dirty="0" sz="1800">
                <a:latin typeface="Arial"/>
                <a:cs typeface="Arial"/>
              </a:rPr>
              <a:t>the CSF </a:t>
            </a:r>
            <a:r>
              <a:rPr dirty="0" sz="1800" spc="-5">
                <a:latin typeface="Arial"/>
                <a:cs typeface="Arial"/>
              </a:rPr>
              <a:t>pH, thus  stimulating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10">
                <a:latin typeface="Arial"/>
                <a:cs typeface="Arial"/>
              </a:rPr>
              <a:t>chemoreceptor. </a:t>
            </a:r>
            <a:r>
              <a:rPr dirty="0" sz="1800" spc="-5">
                <a:latin typeface="Arial"/>
                <a:cs typeface="Arial"/>
              </a:rPr>
              <a:t>H</a:t>
            </a:r>
            <a:r>
              <a:rPr dirty="0" baseline="25462" sz="1800" spc="-7">
                <a:latin typeface="Arial"/>
                <a:cs typeface="Arial"/>
              </a:rPr>
              <a:t>+ </a:t>
            </a:r>
            <a:r>
              <a:rPr dirty="0" sz="1800" spc="-5">
                <a:latin typeface="Arial"/>
                <a:cs typeface="Arial"/>
              </a:rPr>
              <a:t>and HCO</a:t>
            </a:r>
            <a:r>
              <a:rPr dirty="0" sz="1400" spc="-5">
                <a:latin typeface="Arial"/>
                <a:cs typeface="Arial"/>
              </a:rPr>
              <a:t>3</a:t>
            </a:r>
            <a:r>
              <a:rPr dirty="0" baseline="25462" sz="1800" spc="-7">
                <a:latin typeface="Arial"/>
                <a:cs typeface="Arial"/>
              </a:rPr>
              <a:t>- </a:t>
            </a:r>
            <a:r>
              <a:rPr dirty="0" sz="1800" spc="-5">
                <a:latin typeface="Arial"/>
                <a:cs typeface="Arial"/>
              </a:rPr>
              <a:t>cannot easily </a:t>
            </a:r>
            <a:r>
              <a:rPr dirty="0" sz="1800">
                <a:latin typeface="Arial"/>
                <a:cs typeface="Arial"/>
              </a:rPr>
              <a:t>cross the </a:t>
            </a:r>
            <a:r>
              <a:rPr dirty="0" sz="1800" spc="-5">
                <a:latin typeface="Arial"/>
                <a:cs typeface="Arial"/>
              </a:rPr>
              <a:t>blood-  brain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barrier.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5">
                <a:latin typeface="Arial"/>
                <a:cs typeface="Arial"/>
              </a:rPr>
              <a:t>(Reproduced </a:t>
            </a:r>
            <a:r>
              <a:rPr dirty="0" sz="1200">
                <a:latin typeface="Arial"/>
                <a:cs typeface="Arial"/>
              </a:rPr>
              <a:t>from West: Respiratory </a:t>
            </a:r>
            <a:r>
              <a:rPr dirty="0" sz="1200" spc="-5">
                <a:latin typeface="Arial"/>
                <a:cs typeface="Arial"/>
              </a:rPr>
              <a:t>Physiology-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essentials)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51175" y="190500"/>
            <a:ext cx="358140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 b="1">
                <a:solidFill>
                  <a:srgbClr val="44536A"/>
                </a:solidFill>
                <a:latin typeface="Arial"/>
                <a:cs typeface="Arial"/>
              </a:rPr>
              <a:t>Central</a:t>
            </a:r>
            <a:r>
              <a:rPr dirty="0" spc="-15" b="1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pc="-5" b="1">
                <a:solidFill>
                  <a:srgbClr val="44536A"/>
                </a:solidFill>
                <a:latin typeface="Arial"/>
                <a:cs typeface="Arial"/>
              </a:rPr>
              <a:t>Chemoreceptors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582168"/>
            <a:ext cx="6096000" cy="4306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8340" y="5083302"/>
            <a:ext cx="4352290" cy="147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tabLst>
                <a:tab pos="2755900" algn="l"/>
              </a:tabLst>
            </a:pPr>
            <a:r>
              <a:rPr dirty="0" sz="2000" b="1">
                <a:latin typeface="Arial"/>
                <a:cs typeface="Arial"/>
              </a:rPr>
              <a:t>CO2 + H2O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→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H2CO3	(1)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755900" algn="l"/>
              </a:tabLst>
            </a:pPr>
            <a:r>
              <a:rPr dirty="0" sz="2000" b="1">
                <a:latin typeface="Arial"/>
                <a:cs typeface="Arial"/>
              </a:rPr>
              <a:t>H2CO3 → </a:t>
            </a:r>
            <a:r>
              <a:rPr dirty="0" sz="2000" spc="5" b="1">
                <a:latin typeface="Arial"/>
                <a:cs typeface="Arial"/>
              </a:rPr>
              <a:t>HCO3</a:t>
            </a:r>
            <a:r>
              <a:rPr dirty="0" baseline="25641" sz="1950" spc="7" b="1">
                <a:latin typeface="Arial"/>
                <a:cs typeface="Arial"/>
              </a:rPr>
              <a:t>-</a:t>
            </a:r>
            <a:r>
              <a:rPr dirty="0" baseline="25641" sz="1950" spc="232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+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spc="10" b="1">
                <a:latin typeface="Arial"/>
                <a:cs typeface="Arial"/>
              </a:rPr>
              <a:t>H</a:t>
            </a:r>
            <a:r>
              <a:rPr dirty="0" baseline="25641" sz="1950" spc="15" b="1">
                <a:latin typeface="Arial"/>
                <a:cs typeface="Arial"/>
              </a:rPr>
              <a:t>+	</a:t>
            </a:r>
            <a:r>
              <a:rPr dirty="0" sz="2000" b="1">
                <a:latin typeface="Arial"/>
                <a:cs typeface="Arial"/>
              </a:rPr>
              <a:t>(2)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Arial"/>
                <a:cs typeface="Arial"/>
              </a:rPr>
              <a:t>(Reproduced </a:t>
            </a:r>
            <a:r>
              <a:rPr dirty="0" sz="1200">
                <a:latin typeface="Arial"/>
                <a:cs typeface="Arial"/>
              </a:rPr>
              <a:t>from West: Respiratory </a:t>
            </a:r>
            <a:r>
              <a:rPr dirty="0" sz="1200" spc="-5">
                <a:latin typeface="Arial"/>
                <a:cs typeface="Arial"/>
              </a:rPr>
              <a:t>Physiology-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essentials)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51175" y="190500"/>
            <a:ext cx="3581400" cy="37592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 b="1">
                <a:solidFill>
                  <a:srgbClr val="44536A"/>
                </a:solidFill>
                <a:latin typeface="Arial"/>
                <a:cs typeface="Arial"/>
              </a:rPr>
              <a:t>Central</a:t>
            </a:r>
            <a:r>
              <a:rPr dirty="0" spc="-15" b="1">
                <a:solidFill>
                  <a:srgbClr val="44536A"/>
                </a:solidFill>
                <a:latin typeface="Arial"/>
                <a:cs typeface="Arial"/>
              </a:rPr>
              <a:t> </a:t>
            </a:r>
            <a:r>
              <a:rPr dirty="0" spc="-5" b="1">
                <a:solidFill>
                  <a:srgbClr val="44536A"/>
                </a:solidFill>
                <a:latin typeface="Arial"/>
                <a:cs typeface="Arial"/>
              </a:rPr>
              <a:t>Chemoreceptors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600" y="1092687"/>
            <a:ext cx="8901841" cy="32029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15"/>
              <a:t>Ventilatory </a:t>
            </a:r>
            <a:r>
              <a:rPr dirty="0" spc="-5"/>
              <a:t>response </a:t>
            </a:r>
            <a:r>
              <a:rPr dirty="0"/>
              <a:t>to </a:t>
            </a:r>
            <a:r>
              <a:rPr dirty="0" spc="-5"/>
              <a:t>hypercapnia (elevated </a:t>
            </a:r>
            <a:r>
              <a:rPr dirty="0"/>
              <a:t>CO</a:t>
            </a:r>
            <a:r>
              <a:rPr dirty="0" sz="1800"/>
              <a:t>2 </a:t>
            </a:r>
            <a:r>
              <a:rPr dirty="0"/>
              <a:t>in</a:t>
            </a:r>
            <a:r>
              <a:rPr dirty="0" spc="295"/>
              <a:t> </a:t>
            </a:r>
            <a:r>
              <a:rPr dirty="0" spc="-5"/>
              <a:t>blood):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154939" y="4763896"/>
            <a:ext cx="8657590" cy="9251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The sensitivity of the central chemoreceptors can be assessed by</a:t>
            </a:r>
            <a:r>
              <a:rPr dirty="0" sz="2000" spc="-21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performing  a CO</a:t>
            </a:r>
            <a:r>
              <a:rPr dirty="0" sz="1600">
                <a:latin typeface="Arial"/>
                <a:cs typeface="Arial"/>
              </a:rPr>
              <a:t>2 </a:t>
            </a:r>
            <a:r>
              <a:rPr dirty="0" sz="2000">
                <a:latin typeface="Arial"/>
                <a:cs typeface="Arial"/>
              </a:rPr>
              <a:t>rebreathing test, </a:t>
            </a:r>
            <a:r>
              <a:rPr dirty="0" sz="2000" spc="-5">
                <a:latin typeface="Arial"/>
                <a:cs typeface="Arial"/>
              </a:rPr>
              <a:t>i.e. </a:t>
            </a:r>
            <a:r>
              <a:rPr dirty="0" sz="2000">
                <a:latin typeface="Arial"/>
                <a:cs typeface="Arial"/>
              </a:rPr>
              <a:t>breathe </a:t>
            </a:r>
            <a:r>
              <a:rPr dirty="0" sz="2000" spc="-5">
                <a:latin typeface="Arial"/>
                <a:cs typeface="Arial"/>
              </a:rPr>
              <a:t>different CO</a:t>
            </a:r>
            <a:r>
              <a:rPr dirty="0" sz="1600" spc="-5">
                <a:latin typeface="Arial"/>
                <a:cs typeface="Arial"/>
              </a:rPr>
              <a:t>2 </a:t>
            </a:r>
            <a:r>
              <a:rPr dirty="0" sz="2000">
                <a:latin typeface="Arial"/>
                <a:cs typeface="Arial"/>
              </a:rPr>
              <a:t>mixtures, or rebreathe  expired air from a bag </a:t>
            </a:r>
            <a:r>
              <a:rPr dirty="0" sz="2000" spc="-5">
                <a:latin typeface="Arial"/>
                <a:cs typeface="Arial"/>
              </a:rPr>
              <a:t>filled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</a:t>
            </a:r>
            <a:r>
              <a:rPr dirty="0" sz="1600">
                <a:latin typeface="Arial"/>
                <a:cs typeface="Arial"/>
              </a:rPr>
              <a:t>2</a:t>
            </a:r>
            <a:r>
              <a:rPr dirty="0" sz="200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7084"/>
            <a:ext cx="3710304" cy="3937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2) </a:t>
            </a:r>
            <a:r>
              <a:rPr dirty="0" spc="-25"/>
              <a:t>Peripheral</a:t>
            </a:r>
            <a:r>
              <a:rPr dirty="0" spc="-150"/>
              <a:t> </a:t>
            </a:r>
            <a:r>
              <a:rPr dirty="0" spc="-30"/>
              <a:t>Chemoreceptors: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12420">
              <a:lnSpc>
                <a:spcPts val="2280"/>
              </a:lnSpc>
            </a:pPr>
            <a:r>
              <a:rPr dirty="0" spc="-10">
                <a:latin typeface="Arial"/>
                <a:cs typeface="Arial"/>
              </a:rPr>
              <a:t>•</a:t>
            </a:r>
            <a:r>
              <a:rPr dirty="0" spc="-10"/>
              <a:t>Peripheral chemoreceptors are </a:t>
            </a:r>
            <a:r>
              <a:rPr dirty="0" spc="-5" u="heavy"/>
              <a:t>mainly sensitive </a:t>
            </a:r>
            <a:r>
              <a:rPr dirty="0" spc="-15" u="heavy"/>
              <a:t>to </a:t>
            </a:r>
            <a:r>
              <a:rPr dirty="0" u="heavy"/>
              <a:t>changes in PO</a:t>
            </a:r>
            <a:r>
              <a:rPr dirty="0" sz="1600" u="heavy"/>
              <a:t>2</a:t>
            </a:r>
            <a:r>
              <a:rPr dirty="0"/>
              <a:t>, but</a:t>
            </a:r>
            <a:r>
              <a:rPr dirty="0" spc="90"/>
              <a:t> </a:t>
            </a:r>
            <a:r>
              <a:rPr dirty="0" spc="-10"/>
              <a:t>are</a:t>
            </a:r>
            <a:endParaRPr sz="1600">
              <a:latin typeface="Arial"/>
              <a:cs typeface="Arial"/>
            </a:endParaRPr>
          </a:p>
          <a:p>
            <a:pPr marL="312420">
              <a:lnSpc>
                <a:spcPts val="2280"/>
              </a:lnSpc>
            </a:pPr>
            <a:r>
              <a:rPr dirty="0"/>
              <a:t>also </a:t>
            </a:r>
            <a:r>
              <a:rPr dirty="0" spc="-10"/>
              <a:t>stimulated </a:t>
            </a:r>
            <a:r>
              <a:rPr dirty="0" spc="-5"/>
              <a:t>by increased PCO</a:t>
            </a:r>
            <a:r>
              <a:rPr dirty="0" sz="1600" spc="-5"/>
              <a:t>2 </a:t>
            </a:r>
            <a:r>
              <a:rPr dirty="0"/>
              <a:t>and </a:t>
            </a:r>
            <a:r>
              <a:rPr dirty="0" spc="-5"/>
              <a:t>decreased</a:t>
            </a:r>
            <a:r>
              <a:rPr dirty="0" spc="110"/>
              <a:t> </a:t>
            </a:r>
            <a:r>
              <a:rPr dirty="0" spc="-5"/>
              <a:t>pH.</a:t>
            </a:r>
            <a:endParaRPr sz="1600"/>
          </a:p>
          <a:p>
            <a:pPr marL="299720">
              <a:lnSpc>
                <a:spcPct val="100000"/>
              </a:lnSpc>
            </a:pPr>
          </a:p>
          <a:p>
            <a:pPr marL="312420" marR="91440">
              <a:lnSpc>
                <a:spcPts val="2160"/>
              </a:lnSpc>
              <a:spcBef>
                <a:spcPts val="1490"/>
              </a:spcBef>
            </a:pPr>
            <a:r>
              <a:rPr dirty="0" spc="-10">
                <a:latin typeface="Arial"/>
                <a:cs typeface="Arial"/>
              </a:rPr>
              <a:t>•</a:t>
            </a:r>
            <a:r>
              <a:rPr dirty="0" spc="-10"/>
              <a:t>They are </a:t>
            </a:r>
            <a:r>
              <a:rPr dirty="0" spc="-10" u="heavy"/>
              <a:t>located </a:t>
            </a:r>
            <a:r>
              <a:rPr dirty="0" u="heavy"/>
              <a:t>in the </a:t>
            </a:r>
            <a:r>
              <a:rPr dirty="0" spc="-10" u="heavy"/>
              <a:t>carotid </a:t>
            </a:r>
            <a:r>
              <a:rPr dirty="0" spc="-5" u="heavy"/>
              <a:t>bodies </a:t>
            </a:r>
            <a:r>
              <a:rPr dirty="0" spc="-5"/>
              <a:t>(i.e. </a:t>
            </a:r>
            <a:r>
              <a:rPr dirty="0"/>
              <a:t>the </a:t>
            </a:r>
            <a:r>
              <a:rPr dirty="0" spc="-10"/>
              <a:t>bifurcation </a:t>
            </a:r>
            <a:r>
              <a:rPr dirty="0" spc="-5"/>
              <a:t>of </a:t>
            </a:r>
            <a:r>
              <a:rPr dirty="0"/>
              <a:t>the common  </a:t>
            </a:r>
            <a:r>
              <a:rPr dirty="0" spc="-10"/>
              <a:t>carotid </a:t>
            </a:r>
            <a:r>
              <a:rPr dirty="0" spc="-5"/>
              <a:t>arteries) </a:t>
            </a:r>
            <a:r>
              <a:rPr dirty="0"/>
              <a:t>and in the </a:t>
            </a:r>
            <a:r>
              <a:rPr dirty="0" spc="-5" u="heavy"/>
              <a:t>aortic bodies </a:t>
            </a:r>
            <a:r>
              <a:rPr dirty="0" spc="-10"/>
              <a:t>(next </a:t>
            </a:r>
            <a:r>
              <a:rPr dirty="0" spc="-15"/>
              <a:t>to </a:t>
            </a:r>
            <a:r>
              <a:rPr dirty="0"/>
              <a:t>the ascending</a:t>
            </a:r>
            <a:r>
              <a:rPr dirty="0" spc="114"/>
              <a:t> </a:t>
            </a:r>
            <a:r>
              <a:rPr dirty="0" spc="-5"/>
              <a:t>aorta).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9400" y="1295400"/>
            <a:ext cx="3875532" cy="5026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44423"/>
            <a:ext cx="3922395" cy="28511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5" b="0">
                <a:latin typeface="Arial"/>
                <a:cs typeface="Arial"/>
              </a:rPr>
              <a:t>Figure </a:t>
            </a:r>
            <a:r>
              <a:rPr dirty="0" sz="1800" spc="-10" b="0">
                <a:latin typeface="Arial"/>
                <a:cs typeface="Arial"/>
              </a:rPr>
              <a:t>32. </a:t>
            </a:r>
            <a:r>
              <a:rPr dirty="0" sz="1800" spc="-5" b="0">
                <a:latin typeface="Arial"/>
                <a:cs typeface="Arial"/>
              </a:rPr>
              <a:t>Peripheral</a:t>
            </a:r>
            <a:r>
              <a:rPr dirty="0" sz="1800" b="0">
                <a:latin typeface="Arial"/>
                <a:cs typeface="Arial"/>
              </a:rPr>
              <a:t> </a:t>
            </a:r>
            <a:r>
              <a:rPr dirty="0" sz="1800" spc="-5" b="0">
                <a:latin typeface="Arial"/>
                <a:cs typeface="Arial"/>
              </a:rPr>
              <a:t>chemoreceptors.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7084"/>
            <a:ext cx="3400425" cy="3937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5"/>
              <a:t>Peripheral</a:t>
            </a:r>
            <a:r>
              <a:rPr dirty="0" spc="-114"/>
              <a:t> </a:t>
            </a:r>
            <a:r>
              <a:rPr dirty="0" spc="-30"/>
              <a:t>Chemoreceptors: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859534"/>
            <a:ext cx="7449820" cy="2145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84785" marR="5080" indent="-172085">
              <a:lnSpc>
                <a:spcPts val="2160"/>
              </a:lnSpc>
              <a:buFont typeface="Arial"/>
              <a:buChar char="•"/>
              <a:tabLst>
                <a:tab pos="185420" algn="l"/>
              </a:tabLst>
            </a:pP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carotid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aortic bodies </a:t>
            </a:r>
            <a:r>
              <a:rPr dirty="0" sz="2000" spc="-10">
                <a:latin typeface="Calibri"/>
                <a:cs typeface="Calibri"/>
              </a:rPr>
              <a:t>are </a:t>
            </a:r>
            <a:r>
              <a:rPr dirty="0" sz="2000">
                <a:latin typeface="Calibri"/>
                <a:cs typeface="Calibri"/>
              </a:rPr>
              <a:t>made </a:t>
            </a:r>
            <a:r>
              <a:rPr dirty="0" sz="2000" spc="-5">
                <a:latin typeface="Calibri"/>
                <a:cs typeface="Calibri"/>
              </a:rPr>
              <a:t>up of </a:t>
            </a:r>
            <a:r>
              <a:rPr dirty="0" sz="2000" spc="-5" u="heavy">
                <a:latin typeface="Calibri"/>
                <a:cs typeface="Calibri"/>
              </a:rPr>
              <a:t>blood </a:t>
            </a:r>
            <a:r>
              <a:rPr dirty="0" sz="2000" spc="-10" u="heavy">
                <a:latin typeface="Calibri"/>
                <a:cs typeface="Calibri"/>
              </a:rPr>
              <a:t>vessels</a:t>
            </a:r>
            <a:r>
              <a:rPr dirty="0" sz="2000" spc="-10">
                <a:latin typeface="Calibri"/>
                <a:cs typeface="Calibri"/>
              </a:rPr>
              <a:t>, </a:t>
            </a:r>
            <a:r>
              <a:rPr dirty="0" sz="2000" spc="-10" u="heavy">
                <a:latin typeface="Calibri"/>
                <a:cs typeface="Calibri"/>
              </a:rPr>
              <a:t>structural  </a:t>
            </a:r>
            <a:r>
              <a:rPr dirty="0" sz="2000" spc="-5" u="heavy">
                <a:latin typeface="Calibri"/>
                <a:cs typeface="Calibri"/>
              </a:rPr>
              <a:t>supporting tissue</a:t>
            </a:r>
            <a:r>
              <a:rPr dirty="0" sz="2000" spc="-5">
                <a:latin typeface="Calibri"/>
                <a:cs typeface="Calibri"/>
              </a:rPr>
              <a:t>,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10">
                <a:latin typeface="Calibri"/>
                <a:cs typeface="Calibri"/>
              </a:rPr>
              <a:t>numerous </a:t>
            </a:r>
            <a:r>
              <a:rPr dirty="0" sz="2000" spc="-5" u="heavy">
                <a:latin typeface="Calibri"/>
                <a:cs typeface="Calibri"/>
              </a:rPr>
              <a:t>nerve </a:t>
            </a:r>
            <a:r>
              <a:rPr dirty="0" sz="2000" u="heavy">
                <a:latin typeface="Calibri"/>
                <a:cs typeface="Calibri"/>
              </a:rPr>
              <a:t>endings </a:t>
            </a:r>
            <a:r>
              <a:rPr dirty="0" sz="2000" spc="-5">
                <a:latin typeface="Calibri"/>
                <a:cs typeface="Calibri"/>
              </a:rPr>
              <a:t>of sensory </a:t>
            </a:r>
            <a:r>
              <a:rPr dirty="0" sz="2000" spc="-10">
                <a:latin typeface="Calibri"/>
                <a:cs typeface="Calibri"/>
              </a:rPr>
              <a:t>neurons </a:t>
            </a:r>
            <a:r>
              <a:rPr dirty="0" sz="2000" spc="-5">
                <a:latin typeface="Calibri"/>
                <a:cs typeface="Calibri"/>
              </a:rPr>
              <a:t>of 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glossopharyngeal (in </a:t>
            </a:r>
            <a:r>
              <a:rPr dirty="0" sz="2000" spc="-10">
                <a:latin typeface="Calibri"/>
                <a:cs typeface="Calibri"/>
              </a:rPr>
              <a:t>carotid </a:t>
            </a:r>
            <a:r>
              <a:rPr dirty="0" sz="2000" spc="-5">
                <a:latin typeface="Calibri"/>
                <a:cs typeface="Calibri"/>
              </a:rPr>
              <a:t>bodies, IX nerve)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vagus nerves (in  </a:t>
            </a:r>
            <a:r>
              <a:rPr dirty="0" sz="2000">
                <a:latin typeface="Calibri"/>
                <a:cs typeface="Calibri"/>
              </a:rPr>
              <a:t>aortic </a:t>
            </a:r>
            <a:r>
              <a:rPr dirty="0" sz="2000" spc="-5">
                <a:latin typeface="Calibri"/>
                <a:cs typeface="Calibri"/>
              </a:rPr>
              <a:t>bodies, 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nerve).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84785" marR="332740" indent="-172085">
              <a:lnSpc>
                <a:spcPts val="2160"/>
              </a:lnSpc>
              <a:spcBef>
                <a:spcPts val="14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20">
                <a:latin typeface="Calibri"/>
                <a:cs typeface="Calibri"/>
              </a:rPr>
              <a:t>afferent </a:t>
            </a:r>
            <a:r>
              <a:rPr dirty="0" sz="2000" spc="-10">
                <a:latin typeface="Calibri"/>
                <a:cs typeface="Calibri"/>
              </a:rPr>
              <a:t>fibers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these </a:t>
            </a:r>
            <a:r>
              <a:rPr dirty="0" sz="2000" spc="-15">
                <a:latin typeface="Calibri"/>
                <a:cs typeface="Calibri"/>
              </a:rPr>
              <a:t>receptors </a:t>
            </a:r>
            <a:r>
              <a:rPr dirty="0" sz="2000" spc="-10">
                <a:latin typeface="Calibri"/>
                <a:cs typeface="Calibri"/>
              </a:rPr>
              <a:t>project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dorsal group </a:t>
            </a:r>
            <a:r>
              <a:rPr dirty="0" sz="2000" spc="-5">
                <a:latin typeface="Calibri"/>
                <a:cs typeface="Calibri"/>
              </a:rPr>
              <a:t>of  </a:t>
            </a:r>
            <a:r>
              <a:rPr dirty="0" sz="2000" spc="-15">
                <a:latin typeface="Calibri"/>
                <a:cs typeface="Calibri"/>
              </a:rPr>
              <a:t>respiratory </a:t>
            </a:r>
            <a:r>
              <a:rPr dirty="0" sz="2000" spc="-10">
                <a:latin typeface="Calibri"/>
                <a:cs typeface="Calibri"/>
              </a:rPr>
              <a:t>neurons </a:t>
            </a:r>
            <a:r>
              <a:rPr dirty="0" sz="2000">
                <a:latin typeface="Calibri"/>
                <a:cs typeface="Calibri"/>
              </a:rPr>
              <a:t>in the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medulla.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30175"/>
            <a:ext cx="4942840" cy="3937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5"/>
              <a:t>E. </a:t>
            </a:r>
            <a:r>
              <a:rPr dirty="0" spc="-35" u="heavy"/>
              <a:t>Ventilatory </a:t>
            </a:r>
            <a:r>
              <a:rPr dirty="0" spc="-20" u="heavy"/>
              <a:t>response </a:t>
            </a:r>
            <a:r>
              <a:rPr dirty="0" spc="-15" u="heavy"/>
              <a:t>to </a:t>
            </a:r>
            <a:r>
              <a:rPr dirty="0" spc="-20" u="heavy"/>
              <a:t>decreased</a:t>
            </a:r>
            <a:r>
              <a:rPr dirty="0" spc="-210" u="heavy"/>
              <a:t> </a:t>
            </a:r>
            <a:r>
              <a:rPr dirty="0" spc="-20" u="heavy"/>
              <a:t>PO</a:t>
            </a:r>
            <a:r>
              <a:rPr dirty="0" sz="1800" spc="-20" u="heavy"/>
              <a:t>2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383540" y="4076065"/>
            <a:ext cx="8013700" cy="19678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177800">
              <a:lnSpc>
                <a:spcPct val="80000"/>
              </a:lnSpc>
            </a:pPr>
            <a:r>
              <a:rPr dirty="0" sz="1800" spc="-5">
                <a:latin typeface="Arial"/>
                <a:cs typeface="Arial"/>
              </a:rPr>
              <a:t>•</a:t>
            </a:r>
            <a:r>
              <a:rPr dirty="0" sz="1800" spc="-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effects </a:t>
            </a:r>
            <a:r>
              <a:rPr dirty="0" sz="1800" spc="-5">
                <a:latin typeface="Calibri"/>
                <a:cs typeface="Calibri"/>
              </a:rPr>
              <a:t>of </a:t>
            </a:r>
            <a:r>
              <a:rPr dirty="0" sz="1800" spc="-15">
                <a:latin typeface="Calibri"/>
                <a:cs typeface="Calibri"/>
              </a:rPr>
              <a:t>hypoxia </a:t>
            </a:r>
            <a:r>
              <a:rPr dirty="0" sz="1800" spc="-5">
                <a:latin typeface="Calibri"/>
                <a:cs typeface="Calibri"/>
              </a:rPr>
              <a:t>on </a:t>
            </a:r>
            <a:r>
              <a:rPr dirty="0" sz="1800" spc="-10">
                <a:latin typeface="Calibri"/>
                <a:cs typeface="Calibri"/>
              </a:rPr>
              <a:t>ventilation </a:t>
            </a:r>
            <a:r>
              <a:rPr dirty="0" sz="1800" spc="-5">
                <a:latin typeface="Calibri"/>
                <a:cs typeface="Calibri"/>
              </a:rPr>
              <a:t>can be studied by having </a:t>
            </a: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5">
                <a:latin typeface="Calibri"/>
                <a:cs typeface="Calibri"/>
              </a:rPr>
              <a:t>subject </a:t>
            </a:r>
            <a:r>
              <a:rPr dirty="0" sz="1800" spc="-10">
                <a:latin typeface="Calibri"/>
                <a:cs typeface="Calibri"/>
              </a:rPr>
              <a:t>breathe gas  </a:t>
            </a:r>
            <a:r>
              <a:rPr dirty="0" sz="1800" spc="-5">
                <a:latin typeface="Calibri"/>
                <a:cs typeface="Calibri"/>
              </a:rPr>
              <a:t>mixtures with decreased </a:t>
            </a:r>
            <a:r>
              <a:rPr dirty="0" sz="1800" spc="-10">
                <a:latin typeface="Calibri"/>
                <a:cs typeface="Calibri"/>
              </a:rPr>
              <a:t>concentrations </a:t>
            </a:r>
            <a:r>
              <a:rPr dirty="0" sz="1800" spc="-5">
                <a:latin typeface="Calibri"/>
                <a:cs typeface="Calibri"/>
              </a:rPr>
              <a:t>of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5">
                <a:latin typeface="Calibri"/>
                <a:cs typeface="Calibri"/>
              </a:rPr>
              <a:t>O</a:t>
            </a:r>
            <a:r>
              <a:rPr dirty="0" sz="1400" spc="5">
                <a:latin typeface="Calibri"/>
                <a:cs typeface="Calibri"/>
              </a:rPr>
              <a:t>2</a:t>
            </a:r>
            <a:r>
              <a:rPr dirty="0" sz="1800" spc="5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</a:pPr>
            <a:r>
              <a:rPr dirty="0" sz="1800" spc="-10">
                <a:latin typeface="Arial"/>
                <a:cs typeface="Arial"/>
              </a:rPr>
              <a:t>•</a:t>
            </a:r>
            <a:r>
              <a:rPr dirty="0" sz="1800" spc="-10">
                <a:latin typeface="Calibri"/>
                <a:cs typeface="Calibri"/>
              </a:rPr>
              <a:t>During </a:t>
            </a:r>
            <a:r>
              <a:rPr dirty="0" sz="1800" spc="-5">
                <a:latin typeface="Calibri"/>
                <a:cs typeface="Calibri"/>
              </a:rPr>
              <a:t>normocapnia (normal levels of CO</a:t>
            </a:r>
            <a:r>
              <a:rPr dirty="0" sz="1400" spc="-5">
                <a:latin typeface="Calibri"/>
                <a:cs typeface="Calibri"/>
              </a:rPr>
              <a:t>2 </a:t>
            </a:r>
            <a:r>
              <a:rPr dirty="0" sz="1800" spc="-5">
                <a:latin typeface="Calibri"/>
                <a:cs typeface="Calibri"/>
              </a:rPr>
              <a:t>in blood),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alveolar PO</a:t>
            </a:r>
            <a:r>
              <a:rPr dirty="0" sz="1400" spc="-5">
                <a:latin typeface="Calibri"/>
                <a:cs typeface="Calibri"/>
              </a:rPr>
              <a:t>2 </a:t>
            </a:r>
            <a:r>
              <a:rPr dirty="0" sz="1800" spc="-10">
                <a:latin typeface="Calibri"/>
                <a:cs typeface="Calibri"/>
              </a:rPr>
              <a:t>can </a:t>
            </a:r>
            <a:r>
              <a:rPr dirty="0" sz="1800" spc="-5">
                <a:latin typeface="Calibri"/>
                <a:cs typeface="Calibri"/>
              </a:rPr>
              <a:t>be</a:t>
            </a:r>
            <a:r>
              <a:rPr dirty="0" sz="1800" spc="39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reduced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945"/>
              </a:lnSpc>
            </a:pPr>
            <a:r>
              <a:rPr dirty="0" sz="1800" spc="-10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about 60 mm </a:t>
            </a:r>
            <a:r>
              <a:rPr dirty="0" sz="1800" spc="-5">
                <a:latin typeface="Calibri"/>
                <a:cs typeface="Calibri"/>
              </a:rPr>
              <a:t>Hg </a:t>
            </a:r>
            <a:r>
              <a:rPr dirty="0" sz="1800" spc="-15">
                <a:latin typeface="Calibri"/>
                <a:cs typeface="Calibri"/>
              </a:rPr>
              <a:t>before </a:t>
            </a:r>
            <a:r>
              <a:rPr dirty="0" sz="1800" spc="-5">
                <a:latin typeface="Calibri"/>
                <a:cs typeface="Calibri"/>
              </a:rPr>
              <a:t>appreciable changes </a:t>
            </a:r>
            <a:r>
              <a:rPr dirty="0" sz="1800">
                <a:latin typeface="Calibri"/>
                <a:cs typeface="Calibri"/>
              </a:rPr>
              <a:t>in </a:t>
            </a:r>
            <a:r>
              <a:rPr dirty="0" sz="1800" spc="-10">
                <a:latin typeface="Calibri"/>
                <a:cs typeface="Calibri"/>
              </a:rPr>
              <a:t>minute ventilation</a:t>
            </a:r>
            <a:r>
              <a:rPr dirty="0" sz="1800" spc="140">
                <a:latin typeface="Calibri"/>
                <a:cs typeface="Calibri"/>
              </a:rPr>
              <a:t> </a:t>
            </a:r>
            <a:r>
              <a:rPr dirty="0" sz="1800" spc="-35">
                <a:latin typeface="Calibri"/>
                <a:cs typeface="Calibri"/>
              </a:rPr>
              <a:t>occur.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">
                <a:latin typeface="Arial"/>
                <a:cs typeface="Arial"/>
              </a:rPr>
              <a:t>•</a:t>
            </a:r>
            <a:r>
              <a:rPr dirty="0" sz="1800" spc="-5">
                <a:latin typeface="Calibri"/>
                <a:cs typeface="Calibri"/>
              </a:rPr>
              <a:t>Increasing PCO</a:t>
            </a:r>
            <a:r>
              <a:rPr dirty="0" sz="1400" spc="-5">
                <a:latin typeface="Calibri"/>
                <a:cs typeface="Calibri"/>
              </a:rPr>
              <a:t>2</a:t>
            </a:r>
            <a:r>
              <a:rPr dirty="0" sz="1800" spc="-5">
                <a:latin typeface="Calibri"/>
                <a:cs typeface="Calibri"/>
              </a:rPr>
              <a:t>, increases </a:t>
            </a:r>
            <a:r>
              <a:rPr dirty="0" sz="1800" spc="-10">
                <a:latin typeface="Calibri"/>
                <a:cs typeface="Calibri"/>
              </a:rPr>
              <a:t>ventilation </a:t>
            </a:r>
            <a:r>
              <a:rPr dirty="0" sz="1800" spc="-5">
                <a:latin typeface="Calibri"/>
                <a:cs typeface="Calibri"/>
              </a:rPr>
              <a:t>at </a:t>
            </a:r>
            <a:r>
              <a:rPr dirty="0" sz="1800" spc="-15">
                <a:latin typeface="Calibri"/>
                <a:cs typeface="Calibri"/>
              </a:rPr>
              <a:t>any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PO</a:t>
            </a:r>
            <a:r>
              <a:rPr dirty="0" sz="1400" spc="-5">
                <a:latin typeface="Calibri"/>
                <a:cs typeface="Calibri"/>
              </a:rPr>
              <a:t>2</a:t>
            </a:r>
            <a:r>
              <a:rPr dirty="0" sz="1800" spc="-5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0800" y="685800"/>
            <a:ext cx="3657600" cy="3128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110"/>
              <a:t>F. </a:t>
            </a:r>
            <a:r>
              <a:rPr dirty="0" sz="2000" spc="-15" u="sng"/>
              <a:t>Pulmonary </a:t>
            </a:r>
            <a:r>
              <a:rPr dirty="0" sz="2000" spc="-40" u="sng"/>
              <a:t>Vagal</a:t>
            </a:r>
            <a:r>
              <a:rPr dirty="0" sz="2000" spc="-55" u="sng"/>
              <a:t> </a:t>
            </a:r>
            <a:r>
              <a:rPr dirty="0" sz="2000" spc="-25" u="sng"/>
              <a:t>Receptors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07542" y="1829053"/>
            <a:ext cx="7468234" cy="3335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10">
                <a:latin typeface="Calibri"/>
                <a:cs typeface="Calibri"/>
              </a:rPr>
              <a:t>There are </a:t>
            </a:r>
            <a:r>
              <a:rPr dirty="0" sz="1800">
                <a:latin typeface="Calibri"/>
                <a:cs typeface="Calibri"/>
              </a:rPr>
              <a:t>3 types </a:t>
            </a:r>
            <a:r>
              <a:rPr dirty="0" sz="1800" spc="-5">
                <a:latin typeface="Calibri"/>
                <a:cs typeface="Calibri"/>
              </a:rPr>
              <a:t>of </a:t>
            </a:r>
            <a:r>
              <a:rPr dirty="0" sz="1800" spc="-15">
                <a:latin typeface="Calibri"/>
                <a:cs typeface="Calibri"/>
              </a:rPr>
              <a:t>receptors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5">
                <a:latin typeface="Calibri"/>
                <a:cs typeface="Calibri"/>
              </a:rPr>
              <a:t>lung that </a:t>
            </a:r>
            <a:r>
              <a:rPr dirty="0" sz="1800" spc="-10">
                <a:latin typeface="Calibri"/>
                <a:cs typeface="Calibri"/>
              </a:rPr>
              <a:t>respond to </a:t>
            </a:r>
            <a:r>
              <a:rPr dirty="0" sz="1800" spc="-5">
                <a:latin typeface="Calibri"/>
                <a:cs typeface="Calibri"/>
              </a:rPr>
              <a:t>mechanical</a:t>
            </a:r>
            <a:r>
              <a:rPr dirty="0" sz="1800" spc="18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stimuli: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1265"/>
              </a:spcBef>
              <a:buAutoNum type="arabicParenR"/>
              <a:tabLst>
                <a:tab pos="250825" algn="l"/>
              </a:tabLst>
            </a:pPr>
            <a:r>
              <a:rPr dirty="0" sz="1800" spc="-5" u="heavy">
                <a:latin typeface="Calibri"/>
                <a:cs typeface="Calibri"/>
              </a:rPr>
              <a:t>Pulmonary </a:t>
            </a:r>
            <a:r>
              <a:rPr dirty="0" sz="1800" spc="-15" u="heavy">
                <a:latin typeface="Calibri"/>
                <a:cs typeface="Calibri"/>
              </a:rPr>
              <a:t>Stretch</a:t>
            </a:r>
            <a:r>
              <a:rPr dirty="0" sz="1800" spc="-5" u="heavy">
                <a:latin typeface="Calibri"/>
                <a:cs typeface="Calibri"/>
              </a:rPr>
              <a:t> </a:t>
            </a:r>
            <a:r>
              <a:rPr dirty="0" sz="1800" spc="-15" u="heavy">
                <a:latin typeface="Calibri"/>
                <a:cs typeface="Calibri"/>
              </a:rPr>
              <a:t>Receptors</a:t>
            </a:r>
            <a:r>
              <a:rPr dirty="0" sz="1800" spc="-15">
                <a:latin typeface="Calibri"/>
                <a:cs typeface="Calibri"/>
              </a:rPr>
              <a:t>;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rabicParenR"/>
            </a:pPr>
            <a:endParaRPr sz="18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1255"/>
              </a:spcBef>
              <a:buAutoNum type="arabicParenR"/>
              <a:tabLst>
                <a:tab pos="250825" algn="l"/>
              </a:tabLst>
            </a:pPr>
            <a:r>
              <a:rPr dirty="0" sz="1800" spc="-10" u="heavy">
                <a:latin typeface="Calibri"/>
                <a:cs typeface="Calibri"/>
              </a:rPr>
              <a:t>Irritant</a:t>
            </a:r>
            <a:r>
              <a:rPr dirty="0" sz="1800" spc="-35" u="heavy">
                <a:latin typeface="Calibri"/>
                <a:cs typeface="Calibri"/>
              </a:rPr>
              <a:t> </a:t>
            </a:r>
            <a:r>
              <a:rPr dirty="0" sz="1800" spc="-15" u="heavy">
                <a:latin typeface="Calibri"/>
                <a:cs typeface="Calibri"/>
              </a:rPr>
              <a:t>Receptors</a:t>
            </a:r>
            <a:r>
              <a:rPr dirty="0" sz="1800" spc="-15">
                <a:latin typeface="Calibri"/>
                <a:cs typeface="Calibri"/>
              </a:rPr>
              <a:t>;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alibri"/>
              <a:buAutoNum type="arabicParenR"/>
            </a:pPr>
            <a:endParaRPr sz="1800">
              <a:latin typeface="Times New Roman"/>
              <a:cs typeface="Times New Roman"/>
            </a:endParaRPr>
          </a:p>
          <a:p>
            <a:pPr marL="250190" indent="-237490">
              <a:lnSpc>
                <a:spcPct val="100000"/>
              </a:lnSpc>
              <a:spcBef>
                <a:spcPts val="1255"/>
              </a:spcBef>
              <a:buAutoNum type="arabicParenR"/>
              <a:tabLst>
                <a:tab pos="250825" algn="l"/>
              </a:tabLst>
            </a:pPr>
            <a:r>
              <a:rPr dirty="0" sz="1800" spc="-5" u="heavy">
                <a:latin typeface="Calibri"/>
                <a:cs typeface="Calibri"/>
              </a:rPr>
              <a:t>Juxta-capillary or </a:t>
            </a:r>
            <a:r>
              <a:rPr dirty="0" sz="1800" u="heavy">
                <a:latin typeface="Calibri"/>
                <a:cs typeface="Calibri"/>
              </a:rPr>
              <a:t>J </a:t>
            </a:r>
            <a:r>
              <a:rPr dirty="0" sz="1800" spc="-15" u="heavy">
                <a:latin typeface="Calibri"/>
                <a:cs typeface="Calibri"/>
              </a:rPr>
              <a:t>receptors</a:t>
            </a:r>
            <a:r>
              <a:rPr dirty="0" sz="1800" spc="10" u="heavy">
                <a:latin typeface="Calibri"/>
                <a:cs typeface="Calibri"/>
              </a:rPr>
              <a:t> </a:t>
            </a:r>
            <a:r>
              <a:rPr dirty="0" sz="1800" spc="-5" u="heavy">
                <a:latin typeface="Calibri"/>
                <a:cs typeface="Calibri"/>
              </a:rPr>
              <a:t>(C-fibres);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ts val="1939"/>
              </a:lnSpc>
              <a:spcBef>
                <a:spcPts val="1515"/>
              </a:spcBef>
            </a:pPr>
            <a:r>
              <a:rPr dirty="0" sz="1800" spc="-15">
                <a:latin typeface="Calibri"/>
                <a:cs typeface="Calibri"/>
              </a:rPr>
              <a:t>Afferent </a:t>
            </a:r>
            <a:r>
              <a:rPr dirty="0" sz="1800" spc="-10">
                <a:latin typeface="Calibri"/>
                <a:cs typeface="Calibri"/>
              </a:rPr>
              <a:t>fibers from </a:t>
            </a:r>
            <a:r>
              <a:rPr dirty="0" sz="1800">
                <a:latin typeface="Calibri"/>
                <a:cs typeface="Calibri"/>
              </a:rPr>
              <a:t>all </a:t>
            </a:r>
            <a:r>
              <a:rPr dirty="0" sz="1800" spc="-5">
                <a:latin typeface="Calibri"/>
                <a:cs typeface="Calibri"/>
              </a:rPr>
              <a:t>of </a:t>
            </a:r>
            <a:r>
              <a:rPr dirty="0" sz="1800">
                <a:latin typeface="Calibri"/>
                <a:cs typeface="Calibri"/>
              </a:rPr>
              <a:t>these </a:t>
            </a:r>
            <a:r>
              <a:rPr dirty="0" sz="1800" spc="-15">
                <a:latin typeface="Calibri"/>
                <a:cs typeface="Calibri"/>
              </a:rPr>
              <a:t>receptors travel </a:t>
            </a:r>
            <a:r>
              <a:rPr dirty="0" sz="1800" spc="-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vagus </a:t>
            </a:r>
            <a:r>
              <a:rPr dirty="0" sz="1800">
                <a:latin typeface="Calibri"/>
                <a:cs typeface="Calibri"/>
              </a:rPr>
              <a:t>nerves. If the </a:t>
            </a:r>
            <a:r>
              <a:rPr dirty="0" sz="1800" spc="-10">
                <a:latin typeface="Calibri"/>
                <a:cs typeface="Calibri"/>
              </a:rPr>
              <a:t>vagus  </a:t>
            </a:r>
            <a:r>
              <a:rPr dirty="0" sz="1800" spc="-5">
                <a:latin typeface="Calibri"/>
                <a:cs typeface="Calibri"/>
              </a:rPr>
              <a:t>nerve </a:t>
            </a:r>
            <a:r>
              <a:rPr dirty="0" sz="1800">
                <a:latin typeface="Calibri"/>
                <a:cs typeface="Calibri"/>
              </a:rPr>
              <a:t>is </a:t>
            </a:r>
            <a:r>
              <a:rPr dirty="0" sz="1800" spc="-5">
                <a:latin typeface="Calibri"/>
                <a:cs typeface="Calibri"/>
              </a:rPr>
              <a:t>sectioned, </a:t>
            </a:r>
            <a:r>
              <a:rPr dirty="0" sz="1800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result </a:t>
            </a:r>
            <a:r>
              <a:rPr dirty="0" sz="1800">
                <a:latin typeface="Calibri"/>
                <a:cs typeface="Calibri"/>
              </a:rPr>
              <a:t>is </a:t>
            </a:r>
            <a:r>
              <a:rPr dirty="0" sz="1800" spc="-40">
                <a:latin typeface="Calibri"/>
                <a:cs typeface="Calibri"/>
              </a:rPr>
              <a:t>slow, </a:t>
            </a:r>
            <a:r>
              <a:rPr dirty="0" sz="1800">
                <a:latin typeface="Calibri"/>
                <a:cs typeface="Calibri"/>
              </a:rPr>
              <a:t>deep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breathing.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07084"/>
            <a:ext cx="3902075" cy="3937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1) </a:t>
            </a:r>
            <a:r>
              <a:rPr dirty="0" spc="-20"/>
              <a:t>Pulmonary </a:t>
            </a:r>
            <a:r>
              <a:rPr dirty="0" spc="-25"/>
              <a:t>Stretch</a:t>
            </a:r>
            <a:r>
              <a:rPr dirty="0" spc="-204"/>
              <a:t> </a:t>
            </a:r>
            <a:r>
              <a:rPr dirty="0" spc="-30"/>
              <a:t>Receptors: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557781"/>
            <a:ext cx="7752080" cy="3076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192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 u="heavy">
                <a:latin typeface="Calibri"/>
                <a:cs typeface="Calibri"/>
              </a:rPr>
              <a:t>Pulmonary </a:t>
            </a:r>
            <a:r>
              <a:rPr dirty="0" sz="2000" spc="-15" u="heavy">
                <a:latin typeface="Calibri"/>
                <a:cs typeface="Calibri"/>
              </a:rPr>
              <a:t>stretch </a:t>
            </a:r>
            <a:r>
              <a:rPr dirty="0" sz="2000" spc="-10" u="heavy">
                <a:latin typeface="Calibri"/>
                <a:cs typeface="Calibri"/>
              </a:rPr>
              <a:t>receptors are located </a:t>
            </a:r>
            <a:r>
              <a:rPr dirty="0" sz="2000" u="heavy">
                <a:latin typeface="Calibri"/>
                <a:cs typeface="Calibri"/>
              </a:rPr>
              <a:t>in </a:t>
            </a:r>
            <a:r>
              <a:rPr dirty="0" sz="2000" spc="-5" u="heavy">
                <a:latin typeface="Calibri"/>
                <a:cs typeface="Calibri"/>
              </a:rPr>
              <a:t>smooth </a:t>
            </a:r>
            <a:r>
              <a:rPr dirty="0" sz="2000" u="heavy">
                <a:latin typeface="Calibri"/>
                <a:cs typeface="Calibri"/>
              </a:rPr>
              <a:t>muscles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trachea  down </a:t>
            </a:r>
            <a:r>
              <a:rPr dirty="0" sz="2000" spc="-15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5">
                <a:latin typeface="Calibri"/>
                <a:cs typeface="Calibri"/>
              </a:rPr>
              <a:t>terminal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bronchioles.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478790">
              <a:lnSpc>
                <a:spcPts val="1920"/>
              </a:lnSpc>
              <a:spcBef>
                <a:spcPts val="1220"/>
              </a:spcBef>
            </a:pPr>
            <a:r>
              <a:rPr dirty="0" sz="2000" spc="-10">
                <a:latin typeface="Arial"/>
                <a:cs typeface="Arial"/>
              </a:rPr>
              <a:t>•</a:t>
            </a:r>
            <a:r>
              <a:rPr dirty="0" sz="2000" spc="-10">
                <a:latin typeface="Calibri"/>
                <a:cs typeface="Calibri"/>
              </a:rPr>
              <a:t>They are </a:t>
            </a:r>
            <a:r>
              <a:rPr dirty="0" sz="2000" spc="-5">
                <a:latin typeface="Calibri"/>
                <a:cs typeface="Calibri"/>
              </a:rPr>
              <a:t>innervated by </a:t>
            </a:r>
            <a:r>
              <a:rPr dirty="0" sz="2000" spc="-10">
                <a:latin typeface="Calibri"/>
                <a:cs typeface="Calibri"/>
              </a:rPr>
              <a:t>large, </a:t>
            </a:r>
            <a:r>
              <a:rPr dirty="0" sz="2000" spc="-15">
                <a:latin typeface="Calibri"/>
                <a:cs typeface="Calibri"/>
              </a:rPr>
              <a:t>myelinated </a:t>
            </a:r>
            <a:r>
              <a:rPr dirty="0" sz="2000" spc="-5">
                <a:latin typeface="Calibri"/>
                <a:cs typeface="Calibri"/>
              </a:rPr>
              <a:t>fibres,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5">
                <a:latin typeface="Calibri"/>
                <a:cs typeface="Calibri"/>
              </a:rPr>
              <a:t>they </a:t>
            </a:r>
            <a:r>
              <a:rPr dirty="0" sz="2000" spc="-5" u="heavy">
                <a:latin typeface="Calibri"/>
                <a:cs typeface="Calibri"/>
              </a:rPr>
              <a:t>discharge </a:t>
            </a:r>
            <a:r>
              <a:rPr dirty="0" sz="2000" u="heavy">
                <a:latin typeface="Calibri"/>
                <a:cs typeface="Calibri"/>
              </a:rPr>
              <a:t>in  </a:t>
            </a:r>
            <a:r>
              <a:rPr dirty="0" sz="2000" spc="-5" u="heavy">
                <a:latin typeface="Calibri"/>
                <a:cs typeface="Calibri"/>
              </a:rPr>
              <a:t>response </a:t>
            </a:r>
            <a:r>
              <a:rPr dirty="0" sz="2000" spc="-15" u="heavy">
                <a:latin typeface="Calibri"/>
                <a:cs typeface="Calibri"/>
              </a:rPr>
              <a:t>to </a:t>
            </a:r>
            <a:r>
              <a:rPr dirty="0" sz="2000" spc="-10" u="heavy">
                <a:latin typeface="Calibri"/>
                <a:cs typeface="Calibri"/>
              </a:rPr>
              <a:t>distension </a:t>
            </a:r>
            <a:r>
              <a:rPr dirty="0" sz="2000" spc="-5" u="heavy">
                <a:latin typeface="Calibri"/>
                <a:cs typeface="Calibri"/>
              </a:rPr>
              <a:t>of </a:t>
            </a:r>
            <a:r>
              <a:rPr dirty="0" sz="2000" u="heavy">
                <a:latin typeface="Calibri"/>
                <a:cs typeface="Calibri"/>
              </a:rPr>
              <a:t>the</a:t>
            </a:r>
            <a:r>
              <a:rPr dirty="0" sz="2000" spc="15" u="heavy">
                <a:latin typeface="Calibri"/>
                <a:cs typeface="Calibri"/>
              </a:rPr>
              <a:t> </a:t>
            </a:r>
            <a:r>
              <a:rPr dirty="0" sz="2000" u="heavy">
                <a:latin typeface="Calibri"/>
                <a:cs typeface="Calibri"/>
              </a:rPr>
              <a:t>lung</a:t>
            </a:r>
            <a:r>
              <a:rPr dirty="0" sz="200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Their </a:t>
            </a:r>
            <a:r>
              <a:rPr dirty="0" sz="2000">
                <a:latin typeface="Calibri"/>
                <a:cs typeface="Calibri"/>
              </a:rPr>
              <a:t>activity is </a:t>
            </a:r>
            <a:r>
              <a:rPr dirty="0" sz="2000" spc="-5">
                <a:latin typeface="Calibri"/>
                <a:cs typeface="Calibri"/>
              </a:rPr>
              <a:t>sustained </a:t>
            </a:r>
            <a:r>
              <a:rPr dirty="0" sz="2000">
                <a:latin typeface="Calibri"/>
                <a:cs typeface="Calibri"/>
              </a:rPr>
              <a:t>as long as the lung is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distended.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 marR="229870">
              <a:lnSpc>
                <a:spcPct val="8000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Activity of these </a:t>
            </a:r>
            <a:r>
              <a:rPr dirty="0" sz="2000" spc="-15">
                <a:latin typeface="Calibri"/>
                <a:cs typeface="Calibri"/>
              </a:rPr>
              <a:t>receptors </a:t>
            </a:r>
            <a:r>
              <a:rPr dirty="0" sz="2000" spc="-5">
                <a:latin typeface="Calibri"/>
                <a:cs typeface="Calibri"/>
              </a:rPr>
              <a:t>phasically increases </a:t>
            </a:r>
            <a:r>
              <a:rPr dirty="0" sz="2000">
                <a:latin typeface="Calibri"/>
                <a:cs typeface="Calibri"/>
              </a:rPr>
              <a:t>as lung </a:t>
            </a:r>
            <a:r>
              <a:rPr dirty="0" sz="2000" spc="-10">
                <a:latin typeface="Calibri"/>
                <a:cs typeface="Calibri"/>
              </a:rPr>
              <a:t>volume </a:t>
            </a:r>
            <a:r>
              <a:rPr dirty="0" sz="2000" spc="-5">
                <a:latin typeface="Calibri"/>
                <a:cs typeface="Calibri"/>
              </a:rPr>
              <a:t>increases  during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inspiration.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0"/>
              <a:t>Pulmonary </a:t>
            </a:r>
            <a:r>
              <a:rPr dirty="0" spc="-25"/>
              <a:t>Stretch</a:t>
            </a:r>
            <a:r>
              <a:rPr dirty="0" spc="-160"/>
              <a:t> </a:t>
            </a:r>
            <a:r>
              <a:rPr dirty="0" spc="-30"/>
              <a:t>Receptors: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29181"/>
            <a:ext cx="7930515" cy="33204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85090">
              <a:lnSpc>
                <a:spcPts val="192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main </a:t>
            </a:r>
            <a:r>
              <a:rPr dirty="0" sz="2000" spc="-15">
                <a:latin typeface="Calibri"/>
                <a:cs typeface="Calibri"/>
              </a:rPr>
              <a:t>reflex effect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 spc="-10">
                <a:latin typeface="Calibri"/>
                <a:cs typeface="Calibri"/>
              </a:rPr>
              <a:t>stimulating </a:t>
            </a:r>
            <a:r>
              <a:rPr dirty="0" sz="2000">
                <a:latin typeface="Calibri"/>
                <a:cs typeface="Calibri"/>
              </a:rPr>
              <a:t>the pulmonary </a:t>
            </a:r>
            <a:r>
              <a:rPr dirty="0" sz="2000" spc="-15">
                <a:latin typeface="Calibri"/>
                <a:cs typeface="Calibri"/>
              </a:rPr>
              <a:t>stretch receptors </a:t>
            </a:r>
            <a:r>
              <a:rPr dirty="0" sz="2000">
                <a:latin typeface="Calibri"/>
                <a:cs typeface="Calibri"/>
              </a:rPr>
              <a:t>is the  </a:t>
            </a:r>
            <a:r>
              <a:rPr dirty="0" sz="2000" spc="-5" u="heavy">
                <a:latin typeface="Calibri"/>
                <a:cs typeface="Calibri"/>
              </a:rPr>
              <a:t>Hering-Breuer Inflation</a:t>
            </a:r>
            <a:r>
              <a:rPr dirty="0" sz="2000" spc="-30" u="heavy">
                <a:latin typeface="Calibri"/>
                <a:cs typeface="Calibri"/>
              </a:rPr>
              <a:t> </a:t>
            </a:r>
            <a:r>
              <a:rPr dirty="0" sz="2000" spc="-15" u="heavy">
                <a:latin typeface="Calibri"/>
                <a:cs typeface="Calibri"/>
              </a:rPr>
              <a:t>Reflex</a:t>
            </a:r>
            <a:r>
              <a:rPr dirty="0" sz="2000" spc="-15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46355">
              <a:lnSpc>
                <a:spcPts val="1920"/>
              </a:lnSpc>
              <a:spcBef>
                <a:spcPts val="1220"/>
              </a:spcBef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 u="heavy">
                <a:latin typeface="Calibri"/>
                <a:cs typeface="Calibri"/>
              </a:rPr>
              <a:t>Hering-Breuer Inflation </a:t>
            </a:r>
            <a:r>
              <a:rPr dirty="0" sz="2000" spc="-15" u="heavy">
                <a:latin typeface="Calibri"/>
                <a:cs typeface="Calibri"/>
              </a:rPr>
              <a:t>Reflex</a:t>
            </a:r>
            <a:r>
              <a:rPr dirty="0" sz="2000" spc="-15" b="1">
                <a:latin typeface="Calibri"/>
                <a:cs typeface="Calibri"/>
              </a:rPr>
              <a:t>: </a:t>
            </a:r>
            <a:r>
              <a:rPr dirty="0" sz="2000">
                <a:latin typeface="Calibri"/>
                <a:cs typeface="Calibri"/>
              </a:rPr>
              <a:t>is a </a:t>
            </a:r>
            <a:r>
              <a:rPr dirty="0" sz="2000" spc="-5">
                <a:latin typeface="Calibri"/>
                <a:cs typeface="Calibri"/>
              </a:rPr>
              <a:t>decrease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15">
                <a:latin typeface="Calibri"/>
                <a:cs typeface="Calibri"/>
              </a:rPr>
              <a:t>respiratory </a:t>
            </a:r>
            <a:r>
              <a:rPr dirty="0" sz="2000" spc="-5">
                <a:latin typeface="Calibri"/>
                <a:cs typeface="Calibri"/>
              </a:rPr>
              <a:t>frequency </a:t>
            </a:r>
            <a:r>
              <a:rPr dirty="0" sz="2000">
                <a:latin typeface="Calibri"/>
                <a:cs typeface="Calibri"/>
              </a:rPr>
              <a:t>due </a:t>
            </a:r>
            <a:r>
              <a:rPr dirty="0" sz="2000" spc="-15">
                <a:latin typeface="Calibri"/>
                <a:cs typeface="Calibri"/>
              </a:rPr>
              <a:t>to  </a:t>
            </a:r>
            <a:r>
              <a:rPr dirty="0" sz="2000">
                <a:latin typeface="Calibri"/>
                <a:cs typeface="Calibri"/>
              </a:rPr>
              <a:t>a </a:t>
            </a:r>
            <a:r>
              <a:rPr dirty="0" sz="2000" spc="-10">
                <a:latin typeface="Calibri"/>
                <a:cs typeface="Calibri"/>
              </a:rPr>
              <a:t>prolongation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 spc="-15">
                <a:latin typeface="Calibri"/>
                <a:cs typeface="Calibri"/>
              </a:rPr>
              <a:t>expiratory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69215">
              <a:lnSpc>
                <a:spcPct val="80000"/>
              </a:lnSpc>
              <a:spcBef>
                <a:spcPts val="1245"/>
              </a:spcBef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In other </a:t>
            </a:r>
            <a:r>
              <a:rPr dirty="0" sz="2000" spc="-15">
                <a:latin typeface="Calibri"/>
                <a:cs typeface="Calibri"/>
              </a:rPr>
              <a:t>words, </a:t>
            </a:r>
            <a:r>
              <a:rPr dirty="0" sz="2000">
                <a:latin typeface="Calibri"/>
                <a:cs typeface="Calibri"/>
              </a:rPr>
              <a:t>an </a:t>
            </a:r>
            <a:r>
              <a:rPr dirty="0" sz="2000" spc="-5">
                <a:latin typeface="Calibri"/>
                <a:cs typeface="Calibri"/>
              </a:rPr>
              <a:t>increase </a:t>
            </a:r>
            <a:r>
              <a:rPr dirty="0" sz="2000">
                <a:latin typeface="Calibri"/>
                <a:cs typeface="Calibri"/>
              </a:rPr>
              <a:t>in lung </a:t>
            </a:r>
            <a:r>
              <a:rPr dirty="0" sz="2000" spc="-10">
                <a:latin typeface="Calibri"/>
                <a:cs typeface="Calibri"/>
              </a:rPr>
              <a:t>volume </a:t>
            </a:r>
            <a:r>
              <a:rPr dirty="0" sz="2000" spc="-5">
                <a:latin typeface="Calibri"/>
                <a:cs typeface="Calibri"/>
              </a:rPr>
              <a:t>tends </a:t>
            </a:r>
            <a:r>
              <a:rPr dirty="0" sz="2000" spc="-10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inhibit the beginning </a:t>
            </a:r>
            <a:r>
              <a:rPr dirty="0" sz="2000" spc="-5">
                <a:latin typeface="Calibri"/>
                <a:cs typeface="Calibri"/>
              </a:rPr>
              <a:t>of 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next inspiratory </a:t>
            </a:r>
            <a:r>
              <a:rPr dirty="0" sz="2000" spc="-15">
                <a:latin typeface="Calibri"/>
                <a:cs typeface="Calibri"/>
              </a:rPr>
              <a:t>effort </a:t>
            </a:r>
            <a:r>
              <a:rPr dirty="0" sz="2000" spc="-10">
                <a:latin typeface="Calibri"/>
                <a:cs typeface="Calibri"/>
              </a:rPr>
              <a:t>(negative </a:t>
            </a:r>
            <a:r>
              <a:rPr dirty="0" sz="2000" spc="-5">
                <a:latin typeface="Calibri"/>
                <a:cs typeface="Calibri"/>
              </a:rPr>
              <a:t>feedback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mechanism).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1920"/>
              </a:lnSpc>
              <a:spcBef>
                <a:spcPts val="1200"/>
              </a:spcBef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Hering-Breuer </a:t>
            </a:r>
            <a:r>
              <a:rPr dirty="0" sz="2000" spc="-15">
                <a:latin typeface="Calibri"/>
                <a:cs typeface="Calibri"/>
              </a:rPr>
              <a:t>reflex </a:t>
            </a:r>
            <a:r>
              <a:rPr dirty="0" sz="2000">
                <a:latin typeface="Calibri"/>
                <a:cs typeface="Calibri"/>
              </a:rPr>
              <a:t>is </a:t>
            </a:r>
            <a:r>
              <a:rPr dirty="0" sz="2000" spc="-5">
                <a:latin typeface="Calibri"/>
                <a:cs typeface="Calibri"/>
              </a:rPr>
              <a:t>weak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5">
                <a:latin typeface="Calibri"/>
                <a:cs typeface="Calibri"/>
              </a:rPr>
              <a:t>adults unless </a:t>
            </a:r>
            <a:r>
              <a:rPr dirty="0" sz="2000">
                <a:latin typeface="Calibri"/>
                <a:cs typeface="Calibri"/>
              </a:rPr>
              <a:t>the tidal </a:t>
            </a:r>
            <a:r>
              <a:rPr dirty="0" sz="2000" spc="-10">
                <a:latin typeface="Calibri"/>
                <a:cs typeface="Calibri"/>
              </a:rPr>
              <a:t>volume </a:t>
            </a:r>
            <a:r>
              <a:rPr dirty="0" sz="2000" spc="-15">
                <a:latin typeface="Calibri"/>
                <a:cs typeface="Calibri"/>
              </a:rPr>
              <a:t>exceeds </a:t>
            </a:r>
            <a:r>
              <a:rPr dirty="0" sz="2000">
                <a:latin typeface="Calibri"/>
                <a:cs typeface="Calibri"/>
              </a:rPr>
              <a:t>1  L as in </a:t>
            </a:r>
            <a:r>
              <a:rPr dirty="0" sz="2000" spc="-15">
                <a:latin typeface="Calibri"/>
                <a:cs typeface="Calibri"/>
              </a:rPr>
              <a:t>exercise, </a:t>
            </a:r>
            <a:r>
              <a:rPr dirty="0" sz="2000">
                <a:latin typeface="Calibri"/>
                <a:cs typeface="Calibri"/>
              </a:rPr>
              <a:t>but is </a:t>
            </a:r>
            <a:r>
              <a:rPr dirty="0" sz="2000" spc="-5">
                <a:latin typeface="Calibri"/>
                <a:cs typeface="Calibri"/>
              </a:rPr>
              <a:t>noticeable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10">
                <a:latin typeface="Calibri"/>
                <a:cs typeface="Calibri"/>
              </a:rPr>
              <a:t>infants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animals.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44169"/>
            <a:ext cx="7748905" cy="4439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4150">
              <a:lnSpc>
                <a:spcPct val="100000"/>
              </a:lnSpc>
            </a:pPr>
            <a:r>
              <a:rPr dirty="0" sz="2000" spc="-5" b="0">
                <a:latin typeface="Calibri Light"/>
                <a:cs typeface="Calibri Light"/>
              </a:rPr>
              <a:t>2) </a:t>
            </a:r>
            <a:r>
              <a:rPr dirty="0" sz="2000" spc="-15" b="0">
                <a:latin typeface="Calibri Light"/>
                <a:cs typeface="Calibri Light"/>
              </a:rPr>
              <a:t>Irritant</a:t>
            </a:r>
            <a:r>
              <a:rPr dirty="0" sz="2000" spc="-135" b="0">
                <a:latin typeface="Calibri Light"/>
                <a:cs typeface="Calibri Light"/>
              </a:rPr>
              <a:t> </a:t>
            </a:r>
            <a:r>
              <a:rPr dirty="0" sz="2000" spc="-25" b="0">
                <a:latin typeface="Calibri Light"/>
                <a:cs typeface="Calibri Light"/>
              </a:rPr>
              <a:t>Receptors:</a:t>
            </a:r>
            <a:endParaRPr sz="200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  <a:spcBef>
                <a:spcPts val="1245"/>
              </a:spcBef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 u="heavy">
                <a:latin typeface="Calibri"/>
                <a:cs typeface="Calibri"/>
              </a:rPr>
              <a:t>irritant </a:t>
            </a:r>
            <a:r>
              <a:rPr dirty="0" sz="2000" spc="-15" u="heavy">
                <a:latin typeface="Calibri"/>
                <a:cs typeface="Calibri"/>
              </a:rPr>
              <a:t>receptors </a:t>
            </a:r>
            <a:r>
              <a:rPr dirty="0" sz="2000" spc="-10" u="heavy">
                <a:latin typeface="Calibri"/>
                <a:cs typeface="Calibri"/>
              </a:rPr>
              <a:t>are located </a:t>
            </a:r>
            <a:r>
              <a:rPr dirty="0" sz="2000" spc="-5" u="heavy">
                <a:latin typeface="Calibri"/>
                <a:cs typeface="Calibri"/>
              </a:rPr>
              <a:t>between </a:t>
            </a:r>
            <a:r>
              <a:rPr dirty="0" sz="2000" spc="-10" u="heavy">
                <a:latin typeface="Calibri"/>
                <a:cs typeface="Calibri"/>
              </a:rPr>
              <a:t>airway </a:t>
            </a:r>
            <a:r>
              <a:rPr dirty="0" sz="2000" spc="-5" u="heavy">
                <a:latin typeface="Calibri"/>
                <a:cs typeface="Calibri"/>
              </a:rPr>
              <a:t>epithelial cells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dirty="0" sz="2000" spc="-5">
                <a:latin typeface="Calibri"/>
                <a:cs typeface="Calibri"/>
              </a:rPr>
              <a:t>trachea down </a:t>
            </a:r>
            <a:r>
              <a:rPr dirty="0" sz="2000" spc="-10">
                <a:latin typeface="Calibri"/>
                <a:cs typeface="Calibri"/>
              </a:rPr>
              <a:t>to </a:t>
            </a:r>
            <a:r>
              <a:rPr dirty="0" sz="2000">
                <a:latin typeface="Calibri"/>
                <a:cs typeface="Calibri"/>
              </a:rPr>
              <a:t>the </a:t>
            </a:r>
            <a:r>
              <a:rPr dirty="0" sz="2000" spc="-15">
                <a:latin typeface="Calibri"/>
                <a:cs typeface="Calibri"/>
              </a:rPr>
              <a:t>respiratory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bronchioles.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1490"/>
              </a:spcBef>
            </a:pPr>
            <a:r>
              <a:rPr dirty="0" sz="2000" spc="-10">
                <a:latin typeface="Arial"/>
                <a:cs typeface="Arial"/>
              </a:rPr>
              <a:t>•</a:t>
            </a:r>
            <a:r>
              <a:rPr dirty="0" sz="2000" spc="-10">
                <a:latin typeface="Calibri"/>
                <a:cs typeface="Calibri"/>
              </a:rPr>
              <a:t>They are </a:t>
            </a:r>
            <a:r>
              <a:rPr dirty="0" sz="2000" spc="-10" u="heavy">
                <a:latin typeface="Calibri"/>
                <a:cs typeface="Calibri"/>
              </a:rPr>
              <a:t>stimulated </a:t>
            </a:r>
            <a:r>
              <a:rPr dirty="0" sz="2000" spc="-5" u="heavy">
                <a:latin typeface="Calibri"/>
                <a:cs typeface="Calibri"/>
              </a:rPr>
              <a:t>by </a:t>
            </a:r>
            <a:r>
              <a:rPr dirty="0" sz="2000" spc="-10" u="heavy">
                <a:latin typeface="Calibri"/>
                <a:cs typeface="Calibri"/>
              </a:rPr>
              <a:t>noxious gases, </a:t>
            </a:r>
            <a:r>
              <a:rPr dirty="0" sz="2000" spc="-15" u="heavy">
                <a:latin typeface="Calibri"/>
                <a:cs typeface="Calibri"/>
              </a:rPr>
              <a:t>cigarette smoke, </a:t>
            </a:r>
            <a:r>
              <a:rPr dirty="0" sz="2000" spc="-10" u="heavy">
                <a:latin typeface="Calibri"/>
                <a:cs typeface="Calibri"/>
              </a:rPr>
              <a:t>histamine, </a:t>
            </a:r>
            <a:r>
              <a:rPr dirty="0" sz="2000" spc="-5" u="heavy">
                <a:latin typeface="Calibri"/>
                <a:cs typeface="Calibri"/>
              </a:rPr>
              <a:t>cold </a:t>
            </a:r>
            <a:r>
              <a:rPr dirty="0" sz="2000" spc="-45" u="heavy">
                <a:latin typeface="Calibri"/>
                <a:cs typeface="Calibri"/>
              </a:rPr>
              <a:t>air,  </a:t>
            </a:r>
            <a:r>
              <a:rPr dirty="0" sz="2000" u="heavy">
                <a:latin typeface="Calibri"/>
                <a:cs typeface="Calibri"/>
              </a:rPr>
              <a:t>and</a:t>
            </a:r>
            <a:r>
              <a:rPr dirty="0" sz="2000" spc="-100" u="heavy">
                <a:latin typeface="Calibri"/>
                <a:cs typeface="Calibri"/>
              </a:rPr>
              <a:t> </a:t>
            </a:r>
            <a:r>
              <a:rPr dirty="0" sz="2000" spc="-5" u="heavy">
                <a:latin typeface="Calibri"/>
                <a:cs typeface="Calibri"/>
              </a:rPr>
              <a:t>dust</a:t>
            </a:r>
            <a:r>
              <a:rPr dirty="0" sz="2000" spc="-5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267970">
              <a:lnSpc>
                <a:spcPts val="2160"/>
              </a:lnSpc>
              <a:spcBef>
                <a:spcPts val="1470"/>
              </a:spcBef>
            </a:pPr>
            <a:r>
              <a:rPr dirty="0" sz="2000" spc="-10">
                <a:latin typeface="Arial"/>
                <a:cs typeface="Arial"/>
              </a:rPr>
              <a:t>•</a:t>
            </a:r>
            <a:r>
              <a:rPr dirty="0" sz="2000" spc="-10">
                <a:latin typeface="Calibri"/>
                <a:cs typeface="Calibri"/>
              </a:rPr>
              <a:t>They are </a:t>
            </a:r>
            <a:r>
              <a:rPr dirty="0" sz="2000" spc="-5">
                <a:latin typeface="Calibri"/>
                <a:cs typeface="Calibri"/>
              </a:rPr>
              <a:t>innervated by </a:t>
            </a:r>
            <a:r>
              <a:rPr dirty="0" sz="2000" spc="-15">
                <a:latin typeface="Calibri"/>
                <a:cs typeface="Calibri"/>
              </a:rPr>
              <a:t>myelinated </a:t>
            </a:r>
            <a:r>
              <a:rPr dirty="0" sz="2000" spc="-10">
                <a:latin typeface="Calibri"/>
                <a:cs typeface="Calibri"/>
              </a:rPr>
              <a:t>fibers, </a:t>
            </a:r>
            <a:r>
              <a:rPr dirty="0" sz="2000">
                <a:latin typeface="Calibri"/>
                <a:cs typeface="Calibri"/>
              </a:rPr>
              <a:t>and their </a:t>
            </a:r>
            <a:r>
              <a:rPr dirty="0" sz="2000" spc="-10" u="heavy">
                <a:latin typeface="Calibri"/>
                <a:cs typeface="Calibri"/>
              </a:rPr>
              <a:t>stimulation </a:t>
            </a:r>
            <a:r>
              <a:rPr dirty="0" sz="2000" spc="-5" u="heavy">
                <a:latin typeface="Calibri"/>
                <a:cs typeface="Calibri"/>
              </a:rPr>
              <a:t>leads </a:t>
            </a:r>
            <a:r>
              <a:rPr dirty="0" sz="2000" spc="-15" u="heavy">
                <a:latin typeface="Calibri"/>
                <a:cs typeface="Calibri"/>
              </a:rPr>
              <a:t>to  </a:t>
            </a:r>
            <a:r>
              <a:rPr dirty="0" sz="2000" spc="-5" u="heavy">
                <a:latin typeface="Calibri"/>
                <a:cs typeface="Calibri"/>
              </a:rPr>
              <a:t>bronchoconstriction </a:t>
            </a:r>
            <a:r>
              <a:rPr dirty="0" sz="2000" u="heavy">
                <a:latin typeface="Calibri"/>
                <a:cs typeface="Calibri"/>
              </a:rPr>
              <a:t>and </a:t>
            </a:r>
            <a:r>
              <a:rPr dirty="0" sz="2000" spc="-5" u="heavy">
                <a:latin typeface="Calibri"/>
                <a:cs typeface="Calibri"/>
              </a:rPr>
              <a:t>hyperpnea (increased </a:t>
            </a:r>
            <a:r>
              <a:rPr dirty="0" sz="2000" spc="-10" u="heavy">
                <a:latin typeface="Calibri"/>
                <a:cs typeface="Calibri"/>
              </a:rPr>
              <a:t>breathing</a:t>
            </a:r>
            <a:r>
              <a:rPr dirty="0" sz="2000" spc="-30" u="heavy">
                <a:latin typeface="Calibri"/>
                <a:cs typeface="Calibri"/>
              </a:rPr>
              <a:t> </a:t>
            </a:r>
            <a:r>
              <a:rPr dirty="0" sz="2000" u="heavy">
                <a:latin typeface="Calibri"/>
                <a:cs typeface="Calibri"/>
              </a:rPr>
              <a:t>deapth)</a:t>
            </a:r>
            <a:r>
              <a:rPr dirty="0" sz="200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280"/>
              </a:lnSpc>
              <a:spcBef>
                <a:spcPts val="1185"/>
              </a:spcBef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irritant </a:t>
            </a:r>
            <a:r>
              <a:rPr dirty="0" sz="2000" spc="-15">
                <a:latin typeface="Calibri"/>
                <a:cs typeface="Calibri"/>
              </a:rPr>
              <a:t>receptors </a:t>
            </a:r>
            <a:r>
              <a:rPr dirty="0" sz="2000" spc="-15" u="heavy">
                <a:latin typeface="Calibri"/>
                <a:cs typeface="Calibri"/>
              </a:rPr>
              <a:t>may </a:t>
            </a:r>
            <a:r>
              <a:rPr dirty="0" sz="2000" spc="-5" u="heavy">
                <a:latin typeface="Calibri"/>
                <a:cs typeface="Calibri"/>
              </a:rPr>
              <a:t>be </a:t>
            </a:r>
            <a:r>
              <a:rPr dirty="0" sz="2000" spc="-10" u="heavy">
                <a:latin typeface="Calibri"/>
                <a:cs typeface="Calibri"/>
              </a:rPr>
              <a:t>important </a:t>
            </a:r>
            <a:r>
              <a:rPr dirty="0" sz="2000" u="heavy">
                <a:latin typeface="Calibri"/>
                <a:cs typeface="Calibri"/>
              </a:rPr>
              <a:t>in the </a:t>
            </a:r>
            <a:r>
              <a:rPr dirty="0" sz="2000" spc="-15" u="heavy">
                <a:latin typeface="Calibri"/>
                <a:cs typeface="Calibri"/>
              </a:rPr>
              <a:t>reflex</a:t>
            </a:r>
            <a:r>
              <a:rPr dirty="0" sz="2000" spc="125" u="heavy">
                <a:latin typeface="Calibri"/>
                <a:cs typeface="Calibri"/>
              </a:rPr>
              <a:t> </a:t>
            </a:r>
            <a:r>
              <a:rPr dirty="0" sz="2000" spc="-5" u="heavy">
                <a:latin typeface="Calibri"/>
                <a:cs typeface="Calibri"/>
              </a:rPr>
              <a:t>bronchoconstriction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dirty="0" sz="2000" spc="-5" u="heavy">
                <a:latin typeface="Calibri"/>
                <a:cs typeface="Calibri"/>
              </a:rPr>
              <a:t>triggered by </a:t>
            </a:r>
            <a:r>
              <a:rPr dirty="0" sz="2000" spc="-10" u="heavy">
                <a:latin typeface="Calibri"/>
                <a:cs typeface="Calibri"/>
              </a:rPr>
              <a:t>histamine </a:t>
            </a:r>
            <a:r>
              <a:rPr dirty="0" sz="2000" spc="-5" u="heavy">
                <a:latin typeface="Calibri"/>
                <a:cs typeface="Calibri"/>
              </a:rPr>
              <a:t>release during </a:t>
            </a:r>
            <a:r>
              <a:rPr dirty="0" sz="2000" u="heavy">
                <a:latin typeface="Calibri"/>
                <a:cs typeface="Calibri"/>
              </a:rPr>
              <a:t>an </a:t>
            </a:r>
            <a:r>
              <a:rPr dirty="0" sz="2000" spc="-5" u="heavy">
                <a:latin typeface="Calibri"/>
                <a:cs typeface="Calibri"/>
              </a:rPr>
              <a:t>allergic asthmatic</a:t>
            </a:r>
            <a:r>
              <a:rPr dirty="0" sz="2000" spc="75" u="heavy">
                <a:latin typeface="Calibri"/>
                <a:cs typeface="Calibri"/>
              </a:rPr>
              <a:t> </a:t>
            </a:r>
            <a:r>
              <a:rPr dirty="0" sz="2000" spc="-10" u="heavy">
                <a:latin typeface="Calibri"/>
                <a:cs typeface="Calibri"/>
              </a:rPr>
              <a:t>attack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7542" y="844169"/>
            <a:ext cx="2860040" cy="33083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000" spc="-5"/>
              <a:t>3) </a:t>
            </a:r>
            <a:r>
              <a:rPr dirty="0" sz="2000" spc="-15"/>
              <a:t>Juxta-Capillary</a:t>
            </a:r>
            <a:r>
              <a:rPr dirty="0" sz="2000" spc="-90"/>
              <a:t> </a:t>
            </a:r>
            <a:r>
              <a:rPr dirty="0" sz="2000" spc="-25"/>
              <a:t>Receptors: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07542" y="1859533"/>
            <a:ext cx="7656830" cy="3808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379095">
              <a:lnSpc>
                <a:spcPts val="192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name of </a:t>
            </a:r>
            <a:r>
              <a:rPr dirty="0" sz="2000">
                <a:latin typeface="Calibri"/>
                <a:cs typeface="Calibri"/>
              </a:rPr>
              <a:t>these </a:t>
            </a:r>
            <a:r>
              <a:rPr dirty="0" sz="2000" spc="-10">
                <a:latin typeface="Calibri"/>
                <a:cs typeface="Calibri"/>
              </a:rPr>
              <a:t>fibres originates </a:t>
            </a:r>
            <a:r>
              <a:rPr dirty="0" sz="2000" spc="-15">
                <a:latin typeface="Calibri"/>
                <a:cs typeface="Calibri"/>
              </a:rPr>
              <a:t>from </a:t>
            </a:r>
            <a:r>
              <a:rPr dirty="0" sz="2000">
                <a:latin typeface="Calibri"/>
                <a:cs typeface="Calibri"/>
              </a:rPr>
              <a:t>their </a:t>
            </a:r>
            <a:r>
              <a:rPr dirty="0" sz="2000" spc="-5" u="heavy">
                <a:latin typeface="Calibri"/>
                <a:cs typeface="Calibri"/>
              </a:rPr>
              <a:t>location </a:t>
            </a:r>
            <a:r>
              <a:rPr dirty="0" sz="2000" u="heavy">
                <a:latin typeface="Calibri"/>
                <a:cs typeface="Calibri"/>
              </a:rPr>
              <a:t>in the </a:t>
            </a:r>
            <a:r>
              <a:rPr dirty="0" sz="2000" spc="-5" u="heavy">
                <a:latin typeface="Calibri"/>
                <a:cs typeface="Calibri"/>
              </a:rPr>
              <a:t>alveolar  </a:t>
            </a:r>
            <a:r>
              <a:rPr dirty="0" sz="2000" spc="-10" u="heavy">
                <a:latin typeface="Calibri"/>
                <a:cs typeface="Calibri"/>
              </a:rPr>
              <a:t>walls </a:t>
            </a:r>
            <a:r>
              <a:rPr dirty="0" sz="2000" u="heavy">
                <a:latin typeface="Calibri"/>
                <a:cs typeface="Calibri"/>
              </a:rPr>
              <a:t>close </a:t>
            </a:r>
            <a:r>
              <a:rPr dirty="0" sz="2000" spc="-15" u="heavy">
                <a:latin typeface="Calibri"/>
                <a:cs typeface="Calibri"/>
              </a:rPr>
              <a:t>to </a:t>
            </a:r>
            <a:r>
              <a:rPr dirty="0" sz="2000" u="heavy">
                <a:latin typeface="Calibri"/>
                <a:cs typeface="Calibri"/>
              </a:rPr>
              <a:t>the</a:t>
            </a:r>
            <a:r>
              <a:rPr dirty="0" sz="2000" spc="5" u="heavy">
                <a:latin typeface="Calibri"/>
                <a:cs typeface="Calibri"/>
              </a:rPr>
              <a:t> </a:t>
            </a:r>
            <a:r>
              <a:rPr dirty="0" sz="2000" spc="-5" u="heavy">
                <a:latin typeface="Calibri"/>
                <a:cs typeface="Calibri"/>
              </a:rPr>
              <a:t>capillaries</a:t>
            </a:r>
            <a:r>
              <a:rPr dirty="0" sz="2000" spc="-5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  <a:spcBef>
                <a:spcPts val="1235"/>
              </a:spcBef>
            </a:pPr>
            <a:r>
              <a:rPr dirty="0" sz="2000" spc="-10">
                <a:latin typeface="Arial"/>
                <a:cs typeface="Arial"/>
              </a:rPr>
              <a:t>•</a:t>
            </a:r>
            <a:r>
              <a:rPr dirty="0" sz="2000" spc="-10">
                <a:latin typeface="Calibri"/>
                <a:cs typeface="Calibri"/>
              </a:rPr>
              <a:t>They are </a:t>
            </a:r>
            <a:r>
              <a:rPr dirty="0" sz="2000" spc="-5">
                <a:latin typeface="Calibri"/>
                <a:cs typeface="Calibri"/>
              </a:rPr>
              <a:t>innervated by </a:t>
            </a:r>
            <a:r>
              <a:rPr dirty="0" sz="2000" spc="-10">
                <a:latin typeface="Calibri"/>
                <a:cs typeface="Calibri"/>
              </a:rPr>
              <a:t>non-myelinated fibres </a:t>
            </a:r>
            <a:r>
              <a:rPr dirty="0" sz="2000">
                <a:latin typeface="Calibri"/>
                <a:cs typeface="Calibri"/>
              </a:rPr>
              <a:t>and </a:t>
            </a:r>
            <a:r>
              <a:rPr dirty="0" sz="2000" spc="-20">
                <a:latin typeface="Calibri"/>
                <a:cs typeface="Calibri"/>
              </a:rPr>
              <a:t>have </a:t>
            </a:r>
            <a:r>
              <a:rPr dirty="0" sz="2000" spc="-5">
                <a:latin typeface="Calibri"/>
                <a:cs typeface="Calibri"/>
              </a:rPr>
              <a:t>short lasting  </a:t>
            </a:r>
            <a:r>
              <a:rPr dirty="0" sz="2000" spc="-10">
                <a:latin typeface="Calibri"/>
                <a:cs typeface="Calibri"/>
              </a:rPr>
              <a:t>bursts </a:t>
            </a:r>
            <a:r>
              <a:rPr dirty="0" sz="2000" spc="-5">
                <a:latin typeface="Calibri"/>
                <a:cs typeface="Calibri"/>
              </a:rPr>
              <a:t>of </a:t>
            </a:r>
            <a:r>
              <a:rPr dirty="0" sz="2000" spc="-15">
                <a:latin typeface="Calibri"/>
                <a:cs typeface="Calibri"/>
              </a:rPr>
              <a:t>activity. </a:t>
            </a:r>
            <a:r>
              <a:rPr dirty="0" sz="2000" spc="-5">
                <a:latin typeface="Calibri"/>
                <a:cs typeface="Calibri"/>
              </a:rPr>
              <a:t>They </a:t>
            </a:r>
            <a:r>
              <a:rPr dirty="0" sz="2000" spc="-10">
                <a:latin typeface="Calibri"/>
                <a:cs typeface="Calibri"/>
              </a:rPr>
              <a:t>are </a:t>
            </a:r>
            <a:r>
              <a:rPr dirty="0" sz="2000" spc="-10" u="heavy">
                <a:latin typeface="Calibri"/>
                <a:cs typeface="Calibri"/>
              </a:rPr>
              <a:t>stimulated </a:t>
            </a:r>
            <a:r>
              <a:rPr dirty="0" sz="2000" spc="-5" u="heavy">
                <a:latin typeface="Calibri"/>
                <a:cs typeface="Calibri"/>
              </a:rPr>
              <a:t>by </a:t>
            </a:r>
            <a:r>
              <a:rPr dirty="0" sz="2000" u="heavy">
                <a:latin typeface="Calibri"/>
                <a:cs typeface="Calibri"/>
              </a:rPr>
              <a:t>an </a:t>
            </a:r>
            <a:r>
              <a:rPr dirty="0" sz="2000" spc="-5" u="heavy">
                <a:latin typeface="Calibri"/>
                <a:cs typeface="Calibri"/>
              </a:rPr>
              <a:t>increase </a:t>
            </a:r>
            <a:r>
              <a:rPr dirty="0" sz="2000" u="heavy">
                <a:latin typeface="Calibri"/>
                <a:cs typeface="Calibri"/>
              </a:rPr>
              <a:t>in pulmonary  </a:t>
            </a:r>
            <a:r>
              <a:rPr dirty="0" sz="2000" spc="-10" u="heavy">
                <a:latin typeface="Calibri"/>
                <a:cs typeface="Calibri"/>
              </a:rPr>
              <a:t>interstitial </a:t>
            </a:r>
            <a:r>
              <a:rPr dirty="0" sz="2000" spc="-5" u="heavy">
                <a:latin typeface="Calibri"/>
                <a:cs typeface="Calibri"/>
              </a:rPr>
              <a:t>fluid</a:t>
            </a:r>
            <a:r>
              <a:rPr dirty="0" sz="2000" spc="-5">
                <a:latin typeface="Calibri"/>
                <a:cs typeface="Calibri"/>
              </a:rPr>
              <a:t>, </a:t>
            </a:r>
            <a:r>
              <a:rPr dirty="0" sz="2000" spc="-20">
                <a:latin typeface="Calibri"/>
                <a:cs typeface="Calibri"/>
              </a:rPr>
              <a:t>like </a:t>
            </a:r>
            <a:r>
              <a:rPr dirty="0" sz="2000" spc="-10">
                <a:latin typeface="Calibri"/>
                <a:cs typeface="Calibri"/>
              </a:rPr>
              <a:t>what </a:t>
            </a:r>
            <a:r>
              <a:rPr dirty="0" sz="2000" spc="-15">
                <a:latin typeface="Calibri"/>
                <a:cs typeface="Calibri"/>
              </a:rPr>
              <a:t>may </a:t>
            </a:r>
            <a:r>
              <a:rPr dirty="0" sz="2000" spc="-5">
                <a:latin typeface="Calibri"/>
                <a:cs typeface="Calibri"/>
              </a:rPr>
              <a:t>occur </a:t>
            </a:r>
            <a:r>
              <a:rPr dirty="0" sz="2000">
                <a:latin typeface="Calibri"/>
                <a:cs typeface="Calibri"/>
              </a:rPr>
              <a:t>in pulmonary </a:t>
            </a:r>
            <a:r>
              <a:rPr dirty="0" sz="2000" spc="-5">
                <a:latin typeface="Calibri"/>
                <a:cs typeface="Calibri"/>
              </a:rPr>
              <a:t>congestion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edema.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ts val="2160"/>
              </a:lnSpc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5">
                <a:latin typeface="Calibri"/>
                <a:cs typeface="Calibri"/>
              </a:rPr>
              <a:t>reflex effects </a:t>
            </a:r>
            <a:r>
              <a:rPr dirty="0" sz="2000">
                <a:latin typeface="Calibri"/>
                <a:cs typeface="Calibri"/>
              </a:rPr>
              <a:t>caused </a:t>
            </a:r>
            <a:r>
              <a:rPr dirty="0" sz="2000" spc="-5">
                <a:latin typeface="Calibri"/>
                <a:cs typeface="Calibri"/>
              </a:rPr>
              <a:t>by </a:t>
            </a:r>
            <a:r>
              <a:rPr dirty="0" sz="2000">
                <a:latin typeface="Calibri"/>
                <a:cs typeface="Calibri"/>
              </a:rPr>
              <a:t>these </a:t>
            </a:r>
            <a:r>
              <a:rPr dirty="0" sz="2000" spc="-15">
                <a:latin typeface="Calibri"/>
                <a:cs typeface="Calibri"/>
              </a:rPr>
              <a:t>receptors </a:t>
            </a:r>
            <a:r>
              <a:rPr dirty="0" sz="2000">
                <a:latin typeface="Calibri"/>
                <a:cs typeface="Calibri"/>
              </a:rPr>
              <a:t>include </a:t>
            </a:r>
            <a:r>
              <a:rPr dirty="0" sz="2000" spc="-10">
                <a:latin typeface="Calibri"/>
                <a:cs typeface="Calibri"/>
              </a:rPr>
              <a:t>rapid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shallow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dirty="0" sz="2000" spc="-10">
                <a:latin typeface="Calibri"/>
                <a:cs typeface="Calibri"/>
              </a:rPr>
              <a:t>respiration, </a:t>
            </a:r>
            <a:r>
              <a:rPr dirty="0" sz="2000">
                <a:latin typeface="Calibri"/>
                <a:cs typeface="Calibri"/>
              </a:rPr>
              <a:t>although </a:t>
            </a:r>
            <a:r>
              <a:rPr dirty="0" sz="2000" spc="-10">
                <a:latin typeface="Calibri"/>
                <a:cs typeface="Calibri"/>
              </a:rPr>
              <a:t>intense stimulation </a:t>
            </a:r>
            <a:r>
              <a:rPr dirty="0" sz="2000" spc="-5">
                <a:latin typeface="Calibri"/>
                <a:cs typeface="Calibri"/>
              </a:rPr>
              <a:t>causes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apnea.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 marR="510540">
              <a:lnSpc>
                <a:spcPts val="1920"/>
              </a:lnSpc>
              <a:spcBef>
                <a:spcPts val="1200"/>
              </a:spcBef>
            </a:pPr>
            <a:r>
              <a:rPr dirty="0" sz="2000" spc="-5">
                <a:latin typeface="Arial"/>
                <a:cs typeface="Arial"/>
              </a:rPr>
              <a:t>•</a:t>
            </a:r>
            <a:r>
              <a:rPr dirty="0" sz="2000" spc="-5">
                <a:latin typeface="Calibri"/>
                <a:cs typeface="Calibri"/>
              </a:rPr>
              <a:t>These </a:t>
            </a:r>
            <a:r>
              <a:rPr dirty="0" sz="2000" spc="-15">
                <a:latin typeface="Calibri"/>
                <a:cs typeface="Calibri"/>
              </a:rPr>
              <a:t>receptors may </a:t>
            </a:r>
            <a:r>
              <a:rPr dirty="0" sz="2000" spc="-10" u="heavy">
                <a:latin typeface="Calibri"/>
                <a:cs typeface="Calibri"/>
              </a:rPr>
              <a:t>play </a:t>
            </a:r>
            <a:r>
              <a:rPr dirty="0" sz="2000" u="heavy">
                <a:latin typeface="Calibri"/>
                <a:cs typeface="Calibri"/>
              </a:rPr>
              <a:t>a </a:t>
            </a:r>
            <a:r>
              <a:rPr dirty="0" sz="2000" spc="-15" u="heavy">
                <a:latin typeface="Calibri"/>
                <a:cs typeface="Calibri"/>
              </a:rPr>
              <a:t>role </a:t>
            </a:r>
            <a:r>
              <a:rPr dirty="0" sz="2000" u="heavy">
                <a:latin typeface="Calibri"/>
                <a:cs typeface="Calibri"/>
              </a:rPr>
              <a:t>in </a:t>
            </a:r>
            <a:r>
              <a:rPr dirty="0" sz="2000" spc="-5" u="heavy">
                <a:latin typeface="Calibri"/>
                <a:cs typeface="Calibri"/>
              </a:rPr>
              <a:t>dyspnea </a:t>
            </a:r>
            <a:r>
              <a:rPr dirty="0" sz="2000" spc="-5">
                <a:latin typeface="Calibri"/>
                <a:cs typeface="Calibri"/>
              </a:rPr>
              <a:t>(sensation of difficulty </a:t>
            </a:r>
            <a:r>
              <a:rPr dirty="0" sz="2000">
                <a:latin typeface="Calibri"/>
                <a:cs typeface="Calibri"/>
              </a:rPr>
              <a:t>in  </a:t>
            </a:r>
            <a:r>
              <a:rPr dirty="0" sz="2000" spc="-5">
                <a:latin typeface="Calibri"/>
                <a:cs typeface="Calibri"/>
              </a:rPr>
              <a:t>breathing) </a:t>
            </a:r>
            <a:r>
              <a:rPr dirty="0" sz="2000" spc="-10">
                <a:latin typeface="Calibri"/>
                <a:cs typeface="Calibri"/>
              </a:rPr>
              <a:t>associated </a:t>
            </a:r>
            <a:r>
              <a:rPr dirty="0" sz="2000" spc="-5">
                <a:latin typeface="Calibri"/>
                <a:cs typeface="Calibri"/>
              </a:rPr>
              <a:t>with </a:t>
            </a:r>
            <a:r>
              <a:rPr dirty="0" sz="2000" spc="-10">
                <a:latin typeface="Calibri"/>
                <a:cs typeface="Calibri"/>
              </a:rPr>
              <a:t>left </a:t>
            </a:r>
            <a:r>
              <a:rPr dirty="0" sz="2000" spc="-5">
                <a:latin typeface="Calibri"/>
                <a:cs typeface="Calibri"/>
              </a:rPr>
              <a:t>heart </a:t>
            </a:r>
            <a:r>
              <a:rPr dirty="0" sz="2000" spc="-10">
                <a:latin typeface="Calibri"/>
                <a:cs typeface="Calibri"/>
              </a:rPr>
              <a:t>failure </a:t>
            </a:r>
            <a:r>
              <a:rPr dirty="0" sz="2000">
                <a:latin typeface="Calibri"/>
                <a:cs typeface="Calibri"/>
              </a:rPr>
              <a:t>and lung edema </a:t>
            </a:r>
            <a:r>
              <a:rPr dirty="0" sz="2000" spc="-5">
                <a:latin typeface="Calibri"/>
                <a:cs typeface="Calibri"/>
              </a:rPr>
              <a:t>or  congestion.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Anne-Marie Lauzon</dc:creator>
  <dc:title>Slide 1</dc:title>
  <dcterms:created xsi:type="dcterms:W3CDTF">2017-01-23T14:49:02Z</dcterms:created>
  <dcterms:modified xsi:type="dcterms:W3CDTF">2017-01-23T14:49:02Z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2017-01-20T00:00:00Z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2017-01-23T00:00:00Z</vt:filetime>
  </property>
</Properties>
</file>