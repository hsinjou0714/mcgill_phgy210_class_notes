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686942"/>
            <a:ext cx="8072119" cy="315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rgbClr val="CCFF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rgbClr val="CCFFFF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rgbClr val="CCFFFF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rgbClr val="CCFFFF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55954"/>
            <a:ext cx="8072119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rgbClr val="CCFFFF"/>
                </a:solidFill>
                <a:latin typeface="Comic Sans MS"/>
                <a:cs typeface="Comic Sans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862963"/>
            <a:ext cx="8029575" cy="2249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marissa.aycan@mail.mcgill.ca" TargetMode="External"/><Relationship Id="rId3" Type="http://schemas.openxmlformats.org/officeDocument/2006/relationships/hyperlink" Target="mailto:Michael.chen5@mail.mcgill.ca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844" y="4306189"/>
            <a:ext cx="6728459" cy="147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CCFFFF"/>
                </a:solidFill>
                <a:latin typeface="Arial"/>
                <a:cs typeface="Arial"/>
              </a:rPr>
              <a:t>Reference</a:t>
            </a:r>
            <a:r>
              <a:rPr dirty="0" sz="2400" spc="-25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CCFFFF"/>
                </a:solidFill>
                <a:latin typeface="Arial"/>
                <a:cs typeface="Arial"/>
              </a:rPr>
              <a:t>textbooks: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-20">
                <a:solidFill>
                  <a:srgbClr val="CCFFFF"/>
                </a:solidFill>
                <a:latin typeface="Arial"/>
                <a:cs typeface="Arial"/>
              </a:rPr>
              <a:t>“Vander’s </a:t>
            </a:r>
            <a:r>
              <a:rPr dirty="0" sz="2400" spc="-5">
                <a:solidFill>
                  <a:srgbClr val="CCFFFF"/>
                </a:solidFill>
                <a:latin typeface="Arial"/>
                <a:cs typeface="Arial"/>
              </a:rPr>
              <a:t>Human Physiology” 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by </a:t>
            </a:r>
            <a:r>
              <a:rPr dirty="0" sz="1800" spc="-15">
                <a:solidFill>
                  <a:srgbClr val="CCFFFF"/>
                </a:solidFill>
                <a:latin typeface="Arial"/>
                <a:cs typeface="Arial"/>
              </a:rPr>
              <a:t>Widmaier, </a:t>
            </a:r>
            <a:r>
              <a:rPr dirty="0" sz="1800" spc="-10">
                <a:solidFill>
                  <a:srgbClr val="CCFFFF"/>
                </a:solidFill>
                <a:latin typeface="Arial"/>
                <a:cs typeface="Arial"/>
              </a:rPr>
              <a:t>Raff, 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Strang  </a:t>
            </a:r>
            <a:r>
              <a:rPr dirty="0" sz="2400" spc="-5">
                <a:solidFill>
                  <a:srgbClr val="CCFFFF"/>
                </a:solidFill>
                <a:latin typeface="Arial"/>
                <a:cs typeface="Arial"/>
              </a:rPr>
              <a:t>“Respiratory Physiology- </a:t>
            </a:r>
            <a:r>
              <a:rPr dirty="0" sz="2400">
                <a:solidFill>
                  <a:srgbClr val="CCFFFF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CCFFFF"/>
                </a:solidFill>
                <a:latin typeface="Arial"/>
                <a:cs typeface="Arial"/>
              </a:rPr>
              <a:t>essentials” 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by </a:t>
            </a:r>
            <a:r>
              <a:rPr dirty="0" sz="1800" spc="-10">
                <a:solidFill>
                  <a:srgbClr val="CCFFFF"/>
                </a:solidFill>
                <a:latin typeface="Arial"/>
                <a:cs typeface="Arial"/>
              </a:rPr>
              <a:t>West  </a:t>
            </a:r>
            <a:r>
              <a:rPr dirty="0" sz="2400">
                <a:solidFill>
                  <a:srgbClr val="CCFFFF"/>
                </a:solidFill>
                <a:latin typeface="Arial"/>
                <a:cs typeface="Arial"/>
              </a:rPr>
              <a:t>"The </a:t>
            </a:r>
            <a:r>
              <a:rPr dirty="0" sz="2400" spc="-5">
                <a:solidFill>
                  <a:srgbClr val="CCFFFF"/>
                </a:solidFill>
                <a:latin typeface="Arial"/>
                <a:cs typeface="Arial"/>
              </a:rPr>
              <a:t>Normal Lung" 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by</a:t>
            </a:r>
            <a:r>
              <a:rPr dirty="0" sz="1800" spc="-10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Murray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12185" y="1327150"/>
            <a:ext cx="3427729" cy="6172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35" b="0" u="none">
                <a:solidFill>
                  <a:srgbClr val="FFFFFF"/>
                </a:solidFill>
                <a:latin typeface="Arial"/>
                <a:cs typeface="Arial"/>
              </a:rPr>
              <a:t>RESPIRATION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4170" y="2549271"/>
            <a:ext cx="3681729" cy="49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>
                <a:solidFill>
                  <a:srgbClr val="FFFFFF"/>
                </a:solidFill>
                <a:latin typeface="Arial"/>
                <a:cs typeface="Arial"/>
              </a:rPr>
              <a:t>A.-M. </a:t>
            </a:r>
            <a:r>
              <a:rPr dirty="0" sz="3200" spc="-5">
                <a:solidFill>
                  <a:srgbClr val="FFFFFF"/>
                </a:solidFill>
                <a:latin typeface="Arial"/>
                <a:cs typeface="Arial"/>
              </a:rPr>
              <a:t>Lauzon,</a:t>
            </a:r>
            <a:r>
              <a:rPr dirty="0" sz="32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FFFFFF"/>
                </a:solidFill>
                <a:latin typeface="Arial"/>
                <a:cs typeface="Arial"/>
              </a:rPr>
              <a:t>Ph.D.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2401442"/>
            <a:ext cx="5744845" cy="1229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TUTORIALS: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2045335" algn="l"/>
              </a:tabLst>
            </a:pPr>
            <a:r>
              <a:rPr dirty="0" sz="2000" spc="5" b="1">
                <a:solidFill>
                  <a:srgbClr val="CCFFFF"/>
                </a:solidFill>
                <a:latin typeface="Arial"/>
                <a:cs typeface="Arial"/>
              </a:rPr>
              <a:t>JANUARY</a:t>
            </a:r>
            <a:r>
              <a:rPr dirty="0" sz="2000" spc="-15" b="1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24</a:t>
            </a:r>
            <a:r>
              <a:rPr dirty="0" baseline="25641" sz="1950" b="1">
                <a:solidFill>
                  <a:srgbClr val="CCFFFF"/>
                </a:solidFill>
                <a:latin typeface="Arial"/>
                <a:cs typeface="Arial"/>
              </a:rPr>
              <a:t>TH</a:t>
            </a: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:	5H30 TO 6H30 PM</a:t>
            </a:r>
            <a:r>
              <a:rPr dirty="0" sz="2000" spc="-90" b="1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MCMED</a:t>
            </a:r>
            <a:r>
              <a:rPr dirty="0" sz="2000" spc="-30" b="1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522 </a:t>
            </a: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2000" spc="5" b="1">
                <a:solidFill>
                  <a:srgbClr val="CCFFFF"/>
                </a:solidFill>
                <a:latin typeface="Arial"/>
                <a:cs typeface="Arial"/>
              </a:rPr>
              <a:t>FEBRUARY 2</a:t>
            </a:r>
            <a:r>
              <a:rPr dirty="0" baseline="25641" sz="1950" spc="7" b="1">
                <a:solidFill>
                  <a:srgbClr val="CCFFFF"/>
                </a:solidFill>
                <a:latin typeface="Arial"/>
                <a:cs typeface="Arial"/>
              </a:rPr>
              <a:t>ND</a:t>
            </a:r>
            <a:r>
              <a:rPr dirty="0" sz="2000" spc="5" b="1">
                <a:solidFill>
                  <a:srgbClr val="CCFFFF"/>
                </a:solidFill>
                <a:latin typeface="Arial"/>
                <a:cs typeface="Arial"/>
              </a:rPr>
              <a:t>: </a:t>
            </a: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5H30 TO 6H30 PM MCMED</a:t>
            </a:r>
            <a:r>
              <a:rPr dirty="0" sz="2000" spc="-135" b="1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CFFFF"/>
                </a:solidFill>
                <a:latin typeface="Arial"/>
                <a:cs typeface="Arial"/>
              </a:rPr>
              <a:t>522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739" y="663701"/>
            <a:ext cx="4323715" cy="74231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40715" marR="5080" indent="-628650">
              <a:lnSpc>
                <a:spcPct val="120000"/>
              </a:lnSpc>
            </a:pPr>
            <a:r>
              <a:rPr dirty="0" u="none">
                <a:solidFill>
                  <a:srgbClr val="FFFFFF"/>
                </a:solidFill>
                <a:latin typeface="Arial"/>
                <a:cs typeface="Arial"/>
              </a:rPr>
              <a:t>TAs: </a:t>
            </a:r>
            <a:r>
              <a:rPr dirty="0" spc="-5" u="heavy">
                <a:solidFill>
                  <a:srgbClr val="66CCFF"/>
                </a:solidFill>
                <a:latin typeface="Arial"/>
                <a:cs typeface="Arial"/>
                <a:hlinkClick r:id="rId2"/>
              </a:rPr>
              <a:t>marissa.aycan@mail.mcgill.ca </a:t>
            </a:r>
            <a:r>
              <a:rPr dirty="0" spc="-5" u="heavy">
                <a:solidFill>
                  <a:srgbClr val="66CCFF"/>
                </a:solidFill>
                <a:latin typeface="Arial"/>
                <a:cs typeface="Arial"/>
              </a:rPr>
              <a:t> </a:t>
            </a:r>
            <a:r>
              <a:rPr dirty="0" spc="-5" u="heavy">
                <a:solidFill>
                  <a:srgbClr val="66CCFF"/>
                </a:solidFill>
                <a:latin typeface="Arial"/>
                <a:cs typeface="Arial"/>
                <a:hlinkClick r:id="rId3"/>
              </a:rPr>
              <a:t>Michael.chen5@mail.mcgill.ca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22630"/>
            <a:ext cx="2143760" cy="6172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5" b="0" u="none">
                <a:latin typeface="Arial"/>
                <a:cs typeface="Arial"/>
              </a:rPr>
              <a:t>Lecture</a:t>
            </a:r>
            <a:r>
              <a:rPr dirty="0" sz="4000" spc="-65" b="0" u="none">
                <a:latin typeface="Arial"/>
                <a:cs typeface="Arial"/>
              </a:rPr>
              <a:t> </a:t>
            </a:r>
            <a:r>
              <a:rPr dirty="0" sz="4000" spc="-5" b="0" u="none">
                <a:latin typeface="Arial"/>
                <a:cs typeface="Arial"/>
              </a:rPr>
              <a:t>1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704341"/>
            <a:ext cx="7261859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 STRUCTURE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THE LUNGS AND CHEST</a:t>
            </a:r>
            <a:r>
              <a:rPr dirty="0" sz="2400" spc="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WALL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91461"/>
            <a:ext cx="7919084" cy="3486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Function of</a:t>
            </a:r>
            <a:r>
              <a:rPr dirty="0" sz="2000" spc="-100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Respiration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•The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primary function of respiration is: 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Gas</a:t>
            </a:r>
            <a:r>
              <a:rPr dirty="0" sz="2000" spc="-160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exchange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•Inspiration: air rich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inhaled into the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•Expiration: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produced during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oxidative processes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body is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exhaled from the</a:t>
            </a: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64235" algn="l"/>
                <a:tab pos="1781810" algn="l"/>
                <a:tab pos="2390140" algn="l"/>
                <a:tab pos="3911600" algn="l"/>
                <a:tab pos="4420235" algn="l"/>
                <a:tab pos="5013325" algn="l"/>
                <a:tab pos="5946140" algn="l"/>
                <a:tab pos="6821170" algn="l"/>
                <a:tab pos="7554595" algn="l"/>
              </a:tabLst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Bo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ses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anspor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ed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bloo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hu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oth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cardiovascular system and the respiratory system are</a:t>
            </a:r>
            <a:r>
              <a:rPr dirty="0" sz="2000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involved.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8375" y="609853"/>
            <a:ext cx="298958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The respiratory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tract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7000" y="1295400"/>
            <a:ext cx="4631436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5066" y="381000"/>
            <a:ext cx="275463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 b="0" u="none">
                <a:latin typeface="Arial"/>
                <a:cs typeface="Arial"/>
              </a:rPr>
              <a:t>The </a:t>
            </a:r>
            <a:r>
              <a:rPr dirty="0" sz="2400" b="0" u="none">
                <a:latin typeface="Arial"/>
                <a:cs typeface="Arial"/>
              </a:rPr>
              <a:t>respiratory</a:t>
            </a:r>
            <a:r>
              <a:rPr dirty="0" sz="2400" spc="-80" b="0" u="none">
                <a:latin typeface="Arial"/>
                <a:cs typeface="Arial"/>
              </a:rPr>
              <a:t> </a:t>
            </a:r>
            <a:r>
              <a:rPr dirty="0" sz="2400" b="0" u="none">
                <a:latin typeface="Arial"/>
                <a:cs typeface="Arial"/>
              </a:rPr>
              <a:t>tract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76627" y="1143000"/>
            <a:ext cx="5334000" cy="5612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470659"/>
            <a:ext cx="7391400" cy="5387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2194" y="381000"/>
            <a:ext cx="298958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The </a:t>
            </a:r>
            <a:r>
              <a:rPr dirty="0" sz="2400">
                <a:latin typeface="Arial"/>
                <a:cs typeface="Arial"/>
              </a:rPr>
              <a:t>respiratory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tract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8375" y="609853"/>
            <a:ext cx="298958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The respiratory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tract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7000" y="1295400"/>
            <a:ext cx="4631436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05435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Pleural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space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600" y="2244851"/>
            <a:ext cx="4876800" cy="3236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942590">
              <a:lnSpc>
                <a:spcPct val="100000"/>
              </a:lnSpc>
            </a:pPr>
            <a:r>
              <a:rPr dirty="0" sz="2400" spc="-5" b="0" u="none">
                <a:latin typeface="Arial"/>
                <a:cs typeface="Arial"/>
              </a:rPr>
              <a:t>Pleural</a:t>
            </a:r>
            <a:r>
              <a:rPr dirty="0" sz="2400" spc="-65" b="0" u="none">
                <a:latin typeface="Arial"/>
                <a:cs typeface="Arial"/>
              </a:rPr>
              <a:t> </a:t>
            </a:r>
            <a:r>
              <a:rPr dirty="0" sz="2400" b="0" u="none">
                <a:latin typeface="Arial"/>
                <a:cs typeface="Arial"/>
              </a:rPr>
              <a:t>surfaces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8046"/>
            <a:ext cx="8035290" cy="13512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A way to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visualize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apposition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of the two pleural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surfaces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is  to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put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drop of water between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two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glass microscope slides. 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two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slides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easily slide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over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each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other but are very 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difficult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to pull</a:t>
            </a:r>
            <a:r>
              <a:rPr dirty="0" sz="22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apart.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948" y="5414467"/>
            <a:ext cx="4914265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“Human </a:t>
            </a:r>
            <a:r>
              <a:rPr dirty="0" sz="1800" spc="-10">
                <a:solidFill>
                  <a:srgbClr val="CCFFFF"/>
                </a:solidFill>
                <a:latin typeface="Arial"/>
                <a:cs typeface="Arial"/>
              </a:rPr>
              <a:t>Physiology” 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by Widmaier, Raff,</a:t>
            </a:r>
            <a:r>
              <a:rPr dirty="0" sz="1800" spc="125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CFFFF"/>
                </a:solidFill>
                <a:latin typeface="Arial"/>
                <a:cs typeface="Arial"/>
              </a:rPr>
              <a:t>Strang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1905000"/>
            <a:ext cx="7924800" cy="2935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4540" y="6443471"/>
            <a:ext cx="429387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 the</a:t>
            </a:r>
            <a:r>
              <a:rPr dirty="0" sz="12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58902"/>
            <a:ext cx="1691639" cy="315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 u="heavy">
                <a:solidFill>
                  <a:srgbClr val="CCFFFF"/>
                </a:solidFill>
                <a:latin typeface="Arial"/>
                <a:cs typeface="Arial"/>
              </a:rPr>
              <a:t>Pleural</a:t>
            </a:r>
            <a:r>
              <a:rPr dirty="0" sz="2000" spc="-110" b="1" u="heavy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dirty="0" sz="2000" b="1" u="heavy">
                <a:solidFill>
                  <a:srgbClr val="CCFFFF"/>
                </a:solidFill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0086" y="886078"/>
            <a:ext cx="2006600" cy="375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Pneumothorax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75844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Mechanical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pump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91411" y="1600200"/>
            <a:ext cx="6362699" cy="4526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400" y="0"/>
            <a:ext cx="536448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95600" y="1143000"/>
            <a:ext cx="3861815" cy="510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267208"/>
            <a:ext cx="8456930" cy="31559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>
                <a:latin typeface="Arial"/>
                <a:cs typeface="Arial"/>
              </a:rPr>
              <a:t>Subdivisions </a:t>
            </a:r>
            <a:r>
              <a:rPr dirty="0">
                <a:latin typeface="Arial"/>
                <a:cs typeface="Arial"/>
              </a:rPr>
              <a:t>of the conducting </a:t>
            </a:r>
            <a:r>
              <a:rPr dirty="0" spc="-5">
                <a:latin typeface="Arial"/>
                <a:cs typeface="Arial"/>
              </a:rPr>
              <a:t>airways </a:t>
            </a:r>
            <a:r>
              <a:rPr dirty="0">
                <a:latin typeface="Arial"/>
                <a:cs typeface="Arial"/>
              </a:rPr>
              <a:t>and terminal respiratory</a:t>
            </a:r>
            <a:r>
              <a:rPr dirty="0" spc="-114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units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6426708" cy="662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31594" y="6608978"/>
            <a:ext cx="558482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(Reproduced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Netter, 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F.H.: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The CIBA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Collection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Medical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Illustrations,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vol.</a:t>
            </a:r>
            <a:r>
              <a:rPr dirty="0" sz="12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7).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140" y="117602"/>
            <a:ext cx="104076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 spc="-15">
                <a:latin typeface="Arial"/>
                <a:cs typeface="Arial"/>
              </a:rPr>
              <a:t>c</a:t>
            </a:r>
            <a:r>
              <a:rPr dirty="0" sz="2400">
                <a:latin typeface="Arial"/>
                <a:cs typeface="Arial"/>
              </a:rPr>
              <a:t>inus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498602"/>
            <a:ext cx="687959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The conducting airways have 4 main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functions: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534414"/>
            <a:ext cx="8289925" cy="4249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buAutoNum type="arabicPeriod"/>
              <a:tabLst>
                <a:tab pos="393065" algn="l"/>
                <a:tab pos="393700" algn="l"/>
              </a:tabLst>
            </a:pPr>
            <a:r>
              <a:rPr dirty="0" sz="2200" spc="-5" b="1" u="heavy">
                <a:solidFill>
                  <a:srgbClr val="FFFFFF"/>
                </a:solidFill>
                <a:latin typeface="Arial"/>
                <a:cs typeface="Arial"/>
              </a:rPr>
              <a:t>Defense against bacterial infection and foreign</a:t>
            </a:r>
            <a:r>
              <a:rPr dirty="0" sz="2200" spc="220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" b="1" u="heavy">
                <a:solidFill>
                  <a:srgbClr val="FFFFFF"/>
                </a:solidFill>
                <a:latin typeface="Arial"/>
                <a:cs typeface="Arial"/>
              </a:rPr>
              <a:t>particles: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393700" marR="52069">
              <a:lnSpc>
                <a:spcPts val="192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epithelial lining of the bronchi has hair-like projections called</a:t>
            </a:r>
            <a:r>
              <a:rPr dirty="0" sz="20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cilia.  The epithelial glands secrete a thick substance, mucous, which lines  the respiratory passages as far down as the bronchioles. Foreign  particles stick to the mucous and the cilia constantly sweep the  mucous up into the</a:t>
            </a:r>
            <a:r>
              <a:rPr dirty="0" sz="20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pharynx;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292735" indent="-280035">
              <a:lnSpc>
                <a:spcPct val="100000"/>
              </a:lnSpc>
              <a:buAutoNum type="arabicPeriod" startAt="2"/>
              <a:tabLst>
                <a:tab pos="293370" algn="l"/>
              </a:tabLst>
            </a:pP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Warm and moisten inhaled</a:t>
            </a:r>
            <a:r>
              <a:rPr dirty="0" sz="2000" spc="-140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air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arabicPeriod" startAt="2"/>
            </a:pPr>
            <a:endParaRPr sz="2450">
              <a:latin typeface="Times New Roman"/>
              <a:cs typeface="Times New Roman"/>
            </a:endParaRPr>
          </a:p>
          <a:p>
            <a:pPr marL="393700" marR="5080" indent="-381000">
              <a:lnSpc>
                <a:spcPts val="1920"/>
              </a:lnSpc>
              <a:buAutoNum type="arabicPeriod" startAt="2"/>
              <a:tabLst>
                <a:tab pos="293370" algn="l"/>
              </a:tabLst>
            </a:pP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Sound and speech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 produced by the movement of air passing</a:t>
            </a:r>
            <a:r>
              <a:rPr dirty="0" sz="20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over  the vocal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cords;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 startAt="2"/>
            </a:pPr>
            <a:endParaRPr sz="2500">
              <a:latin typeface="Times New Roman"/>
              <a:cs typeface="Times New Roman"/>
            </a:endParaRPr>
          </a:p>
          <a:p>
            <a:pPr marL="393700" marR="785495" indent="-381000">
              <a:lnSpc>
                <a:spcPct val="80000"/>
              </a:lnSpc>
              <a:spcBef>
                <a:spcPts val="5"/>
              </a:spcBef>
              <a:buAutoNum type="arabicPeriod" startAt="2"/>
              <a:tabLst>
                <a:tab pos="293370" algn="l"/>
              </a:tabLst>
            </a:pP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Regulation of air flow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smooth muscle around the airways</a:t>
            </a:r>
            <a:r>
              <a:rPr dirty="0" sz="2000" spc="-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may  contract or relax to alter resistance to air</a:t>
            </a:r>
            <a:r>
              <a:rPr dirty="0" sz="2000" spc="-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flow.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Function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the Respiratory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Zone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8046"/>
            <a:ext cx="7964805" cy="13512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6200" marR="5080" indent="-64135">
              <a:lnSpc>
                <a:spcPct val="100000"/>
              </a:lnSpc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respiratory zone is the site of gas exchange between the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air 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in the alveoli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blood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pulmonary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capillaries.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There  are roughly 300 million alveoli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human lungs, and each  alveolus may be associated with as many as 1000</a:t>
            </a:r>
            <a:r>
              <a:rPr dirty="0" sz="2200" spc="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capillaries.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685800"/>
            <a:ext cx="7391400" cy="4905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2044" y="780541"/>
            <a:ext cx="198755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Blood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Supply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3840" y="1639061"/>
            <a:ext cx="7462520" cy="299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The lungs 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dirty="0" sz="2000" spc="5" b="1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dirty="0" sz="20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circulations: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621665" marR="74930" indent="-608965">
              <a:lnSpc>
                <a:spcPct val="100000"/>
              </a:lnSpc>
              <a:buAutoNum type="arabicParenR"/>
              <a:tabLst>
                <a:tab pos="621665" algn="l"/>
                <a:tab pos="622300" algn="l"/>
              </a:tabLst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Pulmonary circulation: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bringing mixed venous blood to</a:t>
            </a:r>
            <a:r>
              <a:rPr dirty="0" sz="2000" spc="-1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 lungs, allowing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blood to get oxygenated, and to then  be taken back to the left</a:t>
            </a:r>
            <a:r>
              <a:rPr dirty="0" sz="2000" spc="-1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heart;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Arial"/>
              <a:buAutoNum type="arabicParenR"/>
            </a:pPr>
            <a:endParaRPr sz="2900">
              <a:latin typeface="Times New Roman"/>
              <a:cs typeface="Times New Roman"/>
            </a:endParaRPr>
          </a:p>
          <a:p>
            <a:pPr marL="621665" marR="5080" indent="-608965">
              <a:lnSpc>
                <a:spcPct val="100000"/>
              </a:lnSpc>
              <a:buAutoNum type="arabicParenR"/>
              <a:tabLst>
                <a:tab pos="621665" algn="l"/>
                <a:tab pos="622300" algn="l"/>
              </a:tabLst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Bronchial circulation: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supplying oxygenated blood from</a:t>
            </a:r>
            <a:r>
              <a:rPr dirty="0" sz="2000" spc="-1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 systemic circulation to the tracheobronchial tree (this  circulation allows for the airways to get</a:t>
            </a:r>
            <a:r>
              <a:rPr dirty="0" sz="20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oxygenated).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6814" y="38100"/>
            <a:ext cx="608330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 u="none">
                <a:latin typeface="Arial"/>
                <a:cs typeface="Arial"/>
              </a:rPr>
              <a:t>The pulmonary and bronchial</a:t>
            </a:r>
            <a:r>
              <a:rPr dirty="0" sz="2400" spc="-25" u="none">
                <a:latin typeface="Arial"/>
                <a:cs typeface="Arial"/>
              </a:rPr>
              <a:t> </a:t>
            </a:r>
            <a:r>
              <a:rPr dirty="0" sz="2400" u="none">
                <a:latin typeface="Arial"/>
                <a:cs typeface="Arial"/>
              </a:rPr>
              <a:t>circulations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7794" y="6625742"/>
            <a:ext cx="553466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Netter, 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F.H.: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The CIBA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Collection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Medical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Illustrations,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vol.</a:t>
            </a:r>
            <a:r>
              <a:rPr dirty="0" sz="1200" spc="-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7).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77567" y="463295"/>
            <a:ext cx="5550408" cy="609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5994" y="513841"/>
            <a:ext cx="283400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Alveolar Cell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Types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70990"/>
            <a:ext cx="7920355" cy="4676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There are three alveolar cell</a:t>
            </a:r>
            <a:r>
              <a:rPr dirty="0" sz="22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types: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AutoNum type="arabicPeriod"/>
              <a:tabLst>
                <a:tab pos="400685" algn="l"/>
                <a:tab pos="401320" algn="l"/>
              </a:tabLst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Epithelial type I and II</a:t>
            </a:r>
            <a:r>
              <a:rPr dirty="0" sz="22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cells:</a:t>
            </a:r>
            <a:endParaRPr sz="2200">
              <a:latin typeface="Arial"/>
              <a:cs typeface="Arial"/>
            </a:endParaRPr>
          </a:p>
          <a:p>
            <a:pPr marL="622300" marR="70485">
              <a:lnSpc>
                <a:spcPct val="80000"/>
              </a:lnSpc>
              <a:spcBef>
                <a:spcPts val="484"/>
              </a:spcBef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Alveoli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 lined by epithelial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 and II cells.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Little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 known  about the specific metabolic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activities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 cells.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Type II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cells  produce pulmonary surfactant, a substance that decreases the  surface tension of the</a:t>
            </a:r>
            <a:r>
              <a:rPr dirty="0" sz="20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alveoli.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AutoNum type="arabicPeriod" startAt="2"/>
              <a:tabLst>
                <a:tab pos="400685" algn="l"/>
                <a:tab pos="401320" algn="l"/>
              </a:tabLst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Endothelial</a:t>
            </a:r>
            <a:r>
              <a:rPr dirty="0" sz="2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cells:</a:t>
            </a:r>
            <a:endParaRPr sz="2200">
              <a:latin typeface="Arial"/>
              <a:cs typeface="Arial"/>
            </a:endParaRPr>
          </a:p>
          <a:p>
            <a:pPr marL="622300" marR="5080">
              <a:lnSpc>
                <a:spcPct val="80000"/>
              </a:lnSpc>
              <a:spcBef>
                <a:spcPts val="484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Endothelial cells constitute the walls of the pulmonary</a:t>
            </a:r>
            <a:r>
              <a:rPr dirty="0" sz="20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capillaries.  These cells may be as thin as 0.1</a:t>
            </a:r>
            <a:r>
              <a:rPr dirty="0" sz="20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micron.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00685" algn="l"/>
                <a:tab pos="401320" algn="l"/>
              </a:tabLst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Alveolar</a:t>
            </a:r>
            <a:r>
              <a:rPr dirty="0" sz="2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macrophages:</a:t>
            </a:r>
            <a:endParaRPr sz="2200">
              <a:latin typeface="Arial"/>
              <a:cs typeface="Arial"/>
            </a:endParaRPr>
          </a:p>
          <a:p>
            <a:pPr marL="622300" marR="252729">
              <a:lnSpc>
                <a:spcPts val="1920"/>
              </a:lnSpc>
              <a:spcBef>
                <a:spcPts val="47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They remove foreign particles that may have escaped the  mucociliary defense system of the airways and found their</a:t>
            </a:r>
            <a:r>
              <a:rPr dirty="0" sz="2000" spc="-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way  into the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alveoli.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219200"/>
            <a:ext cx="7620000" cy="5067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4994" y="495553"/>
            <a:ext cx="4192904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Alveolar-capillary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membrane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775" y="750442"/>
            <a:ext cx="300799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Respiratory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Muscles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8046"/>
            <a:ext cx="7886700" cy="13512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lung tissue is elastic, but it is unable to expand or contract  by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itself.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Air has to be sucked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into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lungs. This function is  powered by the respiratory muscles of the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chest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wall. There are  2 types of respiratory muscles: inspiratory and</a:t>
            </a:r>
            <a:r>
              <a:rPr dirty="0" sz="2200" spc="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expiratory.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8534400" cy="6662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26794" y="6626047"/>
            <a:ext cx="549084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10" i="1">
                <a:solidFill>
                  <a:srgbClr val="FFFFFF"/>
                </a:solidFill>
                <a:latin typeface="Arial"/>
                <a:cs typeface="Arial"/>
              </a:rPr>
              <a:t>Netter, </a:t>
            </a:r>
            <a:r>
              <a:rPr dirty="0" sz="1200" spc="-35" i="1">
                <a:solidFill>
                  <a:srgbClr val="FFFFFF"/>
                </a:solidFill>
                <a:latin typeface="Arial"/>
                <a:cs typeface="Arial"/>
              </a:rPr>
              <a:t>F.H.: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CIBA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Collection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Medical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Illustrations,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vol.</a:t>
            </a:r>
            <a:r>
              <a:rPr dirty="0" sz="1200" spc="-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7.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1143000"/>
            <a:ext cx="6665976" cy="5714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229361"/>
            <a:ext cx="8991600" cy="861060"/>
          </a:xfrm>
          <a:custGeom>
            <a:avLst/>
            <a:gdLst/>
            <a:ahLst/>
            <a:cxnLst/>
            <a:rect l="l" t="t" r="r" b="b"/>
            <a:pathLst>
              <a:path w="8991600" h="861060">
                <a:moveTo>
                  <a:pt x="0" y="861059"/>
                </a:moveTo>
                <a:lnTo>
                  <a:pt x="8991600" y="861059"/>
                </a:lnTo>
                <a:lnTo>
                  <a:pt x="8991600" y="0"/>
                </a:lnTo>
                <a:lnTo>
                  <a:pt x="0" y="0"/>
                </a:lnTo>
                <a:lnTo>
                  <a:pt x="0" y="861059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66700"/>
            <a:ext cx="8703945" cy="7416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The diaphragm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innervated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by the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phrenic nerves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400" spc="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cervical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segments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3,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4 and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5.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194" y="475741"/>
            <a:ext cx="561276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Summary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events </a:t>
            </a:r>
            <a:r>
              <a:rPr dirty="0" sz="2400">
                <a:latin typeface="Arial"/>
                <a:cs typeface="Arial"/>
              </a:rPr>
              <a:t>during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inspiration: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838" y="1433067"/>
            <a:ext cx="5130165" cy="4583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73025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Inspiration: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algn="ctr" marL="14224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Diaphragm and intercostal muscles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endParaRPr sz="20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7048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Thoracic cage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expands</a:t>
            </a:r>
            <a:endParaRPr sz="20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Intrapleural pressure becomes more</a:t>
            </a:r>
            <a:r>
              <a:rPr dirty="0" sz="2000" spc="-1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negative</a:t>
            </a:r>
            <a:endParaRPr sz="20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6921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Transpulmonary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pressure</a:t>
            </a:r>
            <a:r>
              <a:rPr dirty="0" sz="20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increases</a:t>
            </a:r>
            <a:endParaRPr sz="20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7048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Lungs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expands</a:t>
            </a:r>
            <a:endParaRPr sz="20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6985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Alveolar pressure becomes</a:t>
            </a: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subatmospheric</a:t>
            </a:r>
            <a:endParaRPr sz="20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Air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flows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alveoli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0" y="876300"/>
            <a:ext cx="2621279" cy="3607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77000" y="3200400"/>
            <a:ext cx="2667000" cy="1600200"/>
          </a:xfrm>
          <a:custGeom>
            <a:avLst/>
            <a:gdLst/>
            <a:ahLst/>
            <a:cxnLst/>
            <a:rect l="l" t="t" r="r" b="b"/>
            <a:pathLst>
              <a:path w="2667000" h="1600200">
                <a:moveTo>
                  <a:pt x="0" y="1600200"/>
                </a:moveTo>
                <a:lnTo>
                  <a:pt x="2667000" y="1600200"/>
                </a:lnTo>
                <a:lnTo>
                  <a:pt x="2667000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1959864"/>
            <a:ext cx="6629399" cy="2938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4540" y="6443471"/>
            <a:ext cx="429387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 the</a:t>
            </a:r>
            <a:r>
              <a:rPr dirty="0" sz="12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6361" y="1372361"/>
            <a:ext cx="2437765" cy="3733800"/>
          </a:xfrm>
          <a:custGeom>
            <a:avLst/>
            <a:gdLst/>
            <a:ahLst/>
            <a:cxnLst/>
            <a:rect l="l" t="t" r="r" b="b"/>
            <a:pathLst>
              <a:path w="2437765" h="3733800">
                <a:moveTo>
                  <a:pt x="0" y="3733800"/>
                </a:moveTo>
                <a:lnTo>
                  <a:pt x="2437637" y="3733800"/>
                </a:lnTo>
                <a:lnTo>
                  <a:pt x="2437637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06361" y="5093208"/>
            <a:ext cx="2437765" cy="26034"/>
          </a:xfrm>
          <a:custGeom>
            <a:avLst/>
            <a:gdLst/>
            <a:ahLst/>
            <a:cxnLst/>
            <a:rect l="l" t="t" r="r" b="b"/>
            <a:pathLst>
              <a:path w="2437765" h="26035">
                <a:moveTo>
                  <a:pt x="0" y="25908"/>
                </a:moveTo>
                <a:lnTo>
                  <a:pt x="2437637" y="25908"/>
                </a:lnTo>
                <a:lnTo>
                  <a:pt x="2437637" y="0"/>
                </a:lnTo>
                <a:lnTo>
                  <a:pt x="0" y="0"/>
                </a:lnTo>
                <a:lnTo>
                  <a:pt x="0" y="25908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06361" y="1372361"/>
            <a:ext cx="2437765" cy="3733800"/>
          </a:xfrm>
          <a:custGeom>
            <a:avLst/>
            <a:gdLst/>
            <a:ahLst/>
            <a:cxnLst/>
            <a:rect l="l" t="t" r="r" b="b"/>
            <a:pathLst>
              <a:path w="2437765" h="3733800">
                <a:moveTo>
                  <a:pt x="2437637" y="0"/>
                </a:moveTo>
                <a:lnTo>
                  <a:pt x="0" y="0"/>
                </a:lnTo>
                <a:lnTo>
                  <a:pt x="0" y="3733800"/>
                </a:lnTo>
              </a:path>
            </a:pathLst>
          </a:custGeom>
          <a:ln w="25908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194" y="475741"/>
            <a:ext cx="561276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Summary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events </a:t>
            </a:r>
            <a:r>
              <a:rPr dirty="0" sz="2400">
                <a:latin typeface="Arial"/>
                <a:cs typeface="Arial"/>
              </a:rPr>
              <a:t>during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inspiration: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553" y="1433067"/>
            <a:ext cx="7162800" cy="4583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3175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Inspiration: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algn="ctr" marL="762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Diaphragm and intercostal muscles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Thoracic cage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expands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Intrapleural pressure becomes more negative</a:t>
            </a:r>
            <a:r>
              <a:rPr dirty="0" sz="20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(subatmospheric)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Transpulmonary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pressure</a:t>
            </a:r>
            <a:r>
              <a:rPr dirty="0" sz="20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increases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Lungs</a:t>
            </a:r>
            <a:r>
              <a:rPr dirty="0" sz="20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expands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Alveolar pressure becomes</a:t>
            </a: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subatmospheric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Air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flows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alveoli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3659" y="1287780"/>
            <a:ext cx="2720340" cy="19354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594" y="396240"/>
            <a:ext cx="551053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Summary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events </a:t>
            </a:r>
            <a:r>
              <a:rPr dirty="0" sz="2400">
                <a:latin typeface="Arial"/>
                <a:cs typeface="Arial"/>
              </a:rPr>
              <a:t>during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expiration: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0247" y="1231265"/>
            <a:ext cx="7377430" cy="5193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4445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Expiration: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Diaphragm and external intercostal muscles stop</a:t>
            </a:r>
            <a:r>
              <a:rPr dirty="0" sz="2000" spc="-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contracting</a:t>
            </a:r>
            <a:endParaRPr sz="20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Chest wall moves</a:t>
            </a:r>
            <a:r>
              <a:rPr dirty="0" sz="20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inwards</a:t>
            </a:r>
            <a:endParaRPr sz="20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Intrapleural pressure goes back towards preinspiratory</a:t>
            </a:r>
            <a:r>
              <a:rPr dirty="0" sz="2000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Transpulmonary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pressure goes back towards preinspiratory</a:t>
            </a:r>
            <a:r>
              <a:rPr dirty="0" sz="2000" spc="-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 recoil towards preinspiratory</a:t>
            </a:r>
            <a:r>
              <a:rPr dirty="0" sz="20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volume</a:t>
            </a:r>
            <a:endParaRPr sz="20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Air in lungs is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compressed</a:t>
            </a:r>
            <a:endParaRPr sz="20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635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Alveolar pressure becomes greater than atmospheric</a:t>
            </a:r>
            <a:r>
              <a:rPr dirty="0" sz="20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pressure</a:t>
            </a:r>
            <a:endParaRPr sz="20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2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Air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flows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out of the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22630"/>
            <a:ext cx="2143760" cy="6172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5" b="0" u="none">
                <a:latin typeface="Arial"/>
                <a:cs typeface="Arial"/>
              </a:rPr>
              <a:t>Lecture</a:t>
            </a:r>
            <a:r>
              <a:rPr dirty="0" sz="4000" spc="-65" b="0" u="none">
                <a:latin typeface="Arial"/>
                <a:cs typeface="Arial"/>
              </a:rPr>
              <a:t> </a:t>
            </a:r>
            <a:r>
              <a:rPr dirty="0" sz="4000" spc="-5" b="0" u="none">
                <a:latin typeface="Arial"/>
                <a:cs typeface="Arial"/>
              </a:rPr>
              <a:t>2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5969" y="542290"/>
            <a:ext cx="539115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Spirometry: </a:t>
            </a:r>
            <a:r>
              <a:rPr dirty="0" sz="2400">
                <a:latin typeface="Arial"/>
                <a:cs typeface="Arial"/>
              </a:rPr>
              <a:t>Measuring lung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volumes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1295400"/>
            <a:ext cx="8458200" cy="4786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50594" y="6289852"/>
            <a:ext cx="6293485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Lung volumes.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West,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J.B.: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 the</a:t>
            </a:r>
            <a:r>
              <a:rPr dirty="0" sz="1200" spc="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essentials).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49808"/>
            <a:ext cx="9144000" cy="5247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7361" y="1169797"/>
            <a:ext cx="160020" cy="327660"/>
          </a:xfrm>
          <a:custGeom>
            <a:avLst/>
            <a:gdLst/>
            <a:ahLst/>
            <a:cxnLst/>
            <a:rect l="l" t="t" r="r" b="b"/>
            <a:pathLst>
              <a:path w="160020" h="327659">
                <a:moveTo>
                  <a:pt x="0" y="278511"/>
                </a:moveTo>
                <a:lnTo>
                  <a:pt x="12636" y="208500"/>
                </a:lnTo>
                <a:lnTo>
                  <a:pt x="25273" y="142522"/>
                </a:lnTo>
                <a:lnTo>
                  <a:pt x="37909" y="84629"/>
                </a:lnTo>
                <a:lnTo>
                  <a:pt x="50546" y="38876"/>
                </a:lnTo>
                <a:lnTo>
                  <a:pt x="75818" y="0"/>
                </a:lnTo>
                <a:lnTo>
                  <a:pt x="89328" y="20351"/>
                </a:lnTo>
                <a:lnTo>
                  <a:pt x="103886" y="69083"/>
                </a:lnTo>
                <a:lnTo>
                  <a:pt x="118443" y="134000"/>
                </a:lnTo>
                <a:lnTo>
                  <a:pt x="131953" y="202908"/>
                </a:lnTo>
                <a:lnTo>
                  <a:pt x="143367" y="263610"/>
                </a:lnTo>
                <a:lnTo>
                  <a:pt x="151637" y="303911"/>
                </a:lnTo>
                <a:lnTo>
                  <a:pt x="156745" y="326991"/>
                </a:lnTo>
                <a:lnTo>
                  <a:pt x="155829" y="327104"/>
                </a:lnTo>
                <a:lnTo>
                  <a:pt x="152816" y="317716"/>
                </a:lnTo>
                <a:lnTo>
                  <a:pt x="151637" y="312292"/>
                </a:lnTo>
                <a:lnTo>
                  <a:pt x="153035" y="313689"/>
                </a:lnTo>
                <a:lnTo>
                  <a:pt x="156463" y="313054"/>
                </a:lnTo>
                <a:lnTo>
                  <a:pt x="160020" y="312292"/>
                </a:lnTo>
              </a:path>
            </a:pathLst>
          </a:custGeom>
          <a:ln w="25908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46853" y="1169797"/>
            <a:ext cx="161925" cy="327660"/>
          </a:xfrm>
          <a:custGeom>
            <a:avLst/>
            <a:gdLst/>
            <a:ahLst/>
            <a:cxnLst/>
            <a:rect l="l" t="t" r="r" b="b"/>
            <a:pathLst>
              <a:path w="161925" h="327659">
                <a:moveTo>
                  <a:pt x="0" y="278511"/>
                </a:moveTo>
                <a:lnTo>
                  <a:pt x="12763" y="208500"/>
                </a:lnTo>
                <a:lnTo>
                  <a:pt x="25526" y="142522"/>
                </a:lnTo>
                <a:lnTo>
                  <a:pt x="38290" y="84629"/>
                </a:lnTo>
                <a:lnTo>
                  <a:pt x="51053" y="38876"/>
                </a:lnTo>
                <a:lnTo>
                  <a:pt x="76581" y="0"/>
                </a:lnTo>
                <a:lnTo>
                  <a:pt x="90181" y="20351"/>
                </a:lnTo>
                <a:lnTo>
                  <a:pt x="104869" y="69083"/>
                </a:lnTo>
                <a:lnTo>
                  <a:pt x="119570" y="134000"/>
                </a:lnTo>
                <a:lnTo>
                  <a:pt x="133213" y="202908"/>
                </a:lnTo>
                <a:lnTo>
                  <a:pt x="144725" y="263610"/>
                </a:lnTo>
                <a:lnTo>
                  <a:pt x="153035" y="303911"/>
                </a:lnTo>
                <a:lnTo>
                  <a:pt x="158196" y="326991"/>
                </a:lnTo>
                <a:lnTo>
                  <a:pt x="157273" y="327104"/>
                </a:lnTo>
                <a:lnTo>
                  <a:pt x="154231" y="317716"/>
                </a:lnTo>
                <a:lnTo>
                  <a:pt x="153035" y="312292"/>
                </a:lnTo>
                <a:lnTo>
                  <a:pt x="154432" y="313689"/>
                </a:lnTo>
                <a:lnTo>
                  <a:pt x="157987" y="313054"/>
                </a:lnTo>
                <a:lnTo>
                  <a:pt x="161544" y="312292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7394" y="361188"/>
            <a:ext cx="307467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Measurement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FRC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47800" y="838200"/>
            <a:ext cx="6019800" cy="3557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23809" y="1061973"/>
            <a:ext cx="1250315" cy="742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(Reproduced</a:t>
            </a:r>
            <a:r>
              <a:rPr dirty="0" sz="12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from  West: Respiratory 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Physiology-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essentials).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7394" y="4785232"/>
            <a:ext cx="6530340" cy="2032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C1 x V1 = C2 x (V1 + FRC</a:t>
            </a:r>
            <a:r>
              <a:rPr dirty="0" sz="2000" spc="-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20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that: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FRC = (C1 x V1 / C2) -</a:t>
            </a:r>
            <a:r>
              <a:rPr dirty="0" sz="2000" spc="-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V1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imes New Roman"/>
              <a:cs typeface="Times New Roman"/>
            </a:endParaRPr>
          </a:p>
          <a:p>
            <a:pPr marL="2218055">
              <a:lnSpc>
                <a:spcPct val="100000"/>
              </a:lnSpc>
            </a:pP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Note: Think of the lung as a balloon not as a</a:t>
            </a:r>
            <a:r>
              <a:rPr dirty="0" sz="16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jar.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961" y="3048761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381000"/>
                </a:moveTo>
                <a:lnTo>
                  <a:pt x="457200" y="381000"/>
                </a:lnTo>
                <a:lnTo>
                  <a:pt x="4572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05961" y="3048761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381000"/>
                </a:moveTo>
                <a:lnTo>
                  <a:pt x="457200" y="381000"/>
                </a:lnTo>
                <a:lnTo>
                  <a:pt x="4572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82161" y="4065270"/>
            <a:ext cx="2514600" cy="279400"/>
          </a:xfrm>
          <a:custGeom>
            <a:avLst/>
            <a:gdLst/>
            <a:ahLst/>
            <a:cxnLst/>
            <a:rect l="l" t="t" r="r" b="b"/>
            <a:pathLst>
              <a:path w="2514600" h="279400">
                <a:moveTo>
                  <a:pt x="0" y="278891"/>
                </a:moveTo>
                <a:lnTo>
                  <a:pt x="2514600" y="278891"/>
                </a:lnTo>
                <a:lnTo>
                  <a:pt x="2514600" y="0"/>
                </a:lnTo>
                <a:lnTo>
                  <a:pt x="0" y="0"/>
                </a:lnTo>
                <a:lnTo>
                  <a:pt x="0" y="278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82161" y="4065270"/>
            <a:ext cx="2514600" cy="279400"/>
          </a:xfrm>
          <a:custGeom>
            <a:avLst/>
            <a:gdLst/>
            <a:ahLst/>
            <a:cxnLst/>
            <a:rect l="l" t="t" r="r" b="b"/>
            <a:pathLst>
              <a:path w="2514600" h="279400">
                <a:moveTo>
                  <a:pt x="0" y="278891"/>
                </a:moveTo>
                <a:lnTo>
                  <a:pt x="2514600" y="278891"/>
                </a:lnTo>
                <a:lnTo>
                  <a:pt x="2514600" y="0"/>
                </a:lnTo>
                <a:lnTo>
                  <a:pt x="0" y="0"/>
                </a:lnTo>
                <a:lnTo>
                  <a:pt x="0" y="278891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775" y="750442"/>
            <a:ext cx="205549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VENTILATION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9061"/>
            <a:ext cx="2182495" cy="315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Minute</a:t>
            </a:r>
            <a:r>
              <a:rPr dirty="0" sz="2000" spc="-75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 b="1" u="heavy">
                <a:solidFill>
                  <a:srgbClr val="FFFFFF"/>
                </a:solidFill>
                <a:latin typeface="Arial"/>
                <a:cs typeface="Arial"/>
              </a:rPr>
              <a:t>ventilation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r" marR="1537335">
              <a:lnSpc>
                <a:spcPts val="4015"/>
              </a:lnSpc>
            </a:pPr>
            <a:r>
              <a:rPr dirty="0"/>
              <a:t>.</a:t>
            </a:r>
          </a:p>
          <a:p>
            <a:pPr marL="12700">
              <a:lnSpc>
                <a:spcPts val="2014"/>
              </a:lnSpc>
            </a:pPr>
            <a:r>
              <a:rPr dirty="0" sz="2000"/>
              <a:t>The amount of air inspired (or expired) over one minute</a:t>
            </a:r>
            <a:r>
              <a:rPr dirty="0" sz="2000" spc="-195"/>
              <a:t> </a:t>
            </a:r>
            <a:r>
              <a:rPr dirty="0" sz="2000"/>
              <a:t>(V</a:t>
            </a:r>
            <a:r>
              <a:rPr dirty="0" sz="1600"/>
              <a:t>E</a:t>
            </a:r>
            <a:r>
              <a:rPr dirty="0" sz="2000"/>
              <a:t>).</a:t>
            </a:r>
            <a:endParaRPr sz="2000"/>
          </a:p>
          <a:p>
            <a:pPr marL="996950">
              <a:lnSpc>
                <a:spcPts val="3840"/>
              </a:lnSpc>
            </a:pPr>
            <a:r>
              <a:rPr dirty="0"/>
              <a:t>.</a:t>
            </a:r>
          </a:p>
          <a:p>
            <a:pPr marL="991235">
              <a:lnSpc>
                <a:spcPts val="2000"/>
              </a:lnSpc>
            </a:pPr>
            <a:r>
              <a:rPr dirty="0" sz="2000" spc="-5"/>
              <a:t>V</a:t>
            </a:r>
            <a:r>
              <a:rPr dirty="0" sz="1600" spc="-5"/>
              <a:t>E </a:t>
            </a:r>
            <a:r>
              <a:rPr dirty="0" sz="2000"/>
              <a:t>= </a:t>
            </a:r>
            <a:r>
              <a:rPr dirty="0" sz="2000" spc="-5"/>
              <a:t>V</a:t>
            </a:r>
            <a:r>
              <a:rPr dirty="0" sz="1600" spc="-5"/>
              <a:t>T </a:t>
            </a:r>
            <a:r>
              <a:rPr dirty="0" sz="2000"/>
              <a:t>x</a:t>
            </a:r>
            <a:r>
              <a:rPr dirty="0" sz="2000" spc="105"/>
              <a:t> </a:t>
            </a:r>
            <a:r>
              <a:rPr dirty="0" sz="2000"/>
              <a:t>f</a:t>
            </a:r>
            <a:endParaRPr sz="200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/>
              <a:t>where V</a:t>
            </a:r>
            <a:r>
              <a:rPr dirty="0" sz="1600"/>
              <a:t>T </a:t>
            </a:r>
            <a:r>
              <a:rPr dirty="0" sz="2000"/>
              <a:t>is the tidal volume, and f is the number of breaths per</a:t>
            </a:r>
            <a:r>
              <a:rPr dirty="0" sz="2000" spc="-145"/>
              <a:t> </a:t>
            </a:r>
            <a:r>
              <a:rPr dirty="0" sz="2000"/>
              <a:t>minute.</a:t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628900">
              <a:lnSpc>
                <a:spcPct val="100000"/>
              </a:lnSpc>
            </a:pPr>
            <a:r>
              <a:rPr dirty="0" sz="2400" spc="-5" u="none"/>
              <a:t>Alveolar</a:t>
            </a:r>
            <a:r>
              <a:rPr dirty="0" sz="2400" spc="-60" u="none"/>
              <a:t> </a:t>
            </a:r>
            <a:r>
              <a:rPr dirty="0" sz="2400" u="none"/>
              <a:t>ventilation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12165" y="1601470"/>
            <a:ext cx="7966075" cy="1016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Not all the air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inhaled into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lungs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reaches the gas exchanging  area. Some of the air remains in the conducting airways  (</a:t>
            </a:r>
            <a:r>
              <a:rPr dirty="0" sz="2200" spc="-5" b="1">
                <a:solidFill>
                  <a:srgbClr val="FFFFFF"/>
                </a:solidFill>
                <a:latin typeface="Arial"/>
                <a:cs typeface="Arial"/>
              </a:rPr>
              <a:t>anatomical dead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 space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).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533400"/>
            <a:ext cx="6781800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3400" y="152400"/>
            <a:ext cx="6918959" cy="118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3215" y="5650991"/>
            <a:ext cx="7957820" cy="833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volume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anatomical dead space in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adult subject is about 150mL  (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anatomical dead space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difficult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measure, but a close approximation is a  subject's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weight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pounds).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762000"/>
            <a:ext cx="6477000" cy="2711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3540" y="4382896"/>
            <a:ext cx="8087995" cy="620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= 6000ml/min. The volume of the anatomical dead space in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adult  subject is about 150ml. Thus, the amount of air that reaches</a:t>
            </a:r>
            <a:r>
              <a:rPr dirty="0" sz="2000" spc="-2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5297678"/>
            <a:ext cx="2107565" cy="315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ventilation (V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),</a:t>
            </a:r>
            <a:r>
              <a:rPr dirty="0" sz="20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3874896"/>
            <a:ext cx="8209280" cy="662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335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13117" sz="5400" spc="-502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2000" spc="-335">
                <a:solidFill>
                  <a:srgbClr val="FFFFFF"/>
                </a:solidFill>
                <a:latin typeface="Arial"/>
                <a:cs typeface="Arial"/>
              </a:rPr>
              <a:t>n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 normal adult male,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= 500ml, and f =12 breaths/minute.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Therefore,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4789296"/>
            <a:ext cx="8150859" cy="656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respiratory </a:t>
            </a:r>
            <a:r>
              <a:rPr dirty="0" sz="2000" spc="-20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dirty="0" baseline="-12345" sz="5400" spc="-30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2000" spc="-200">
                <a:solidFill>
                  <a:srgbClr val="FFFFFF"/>
                </a:solidFill>
                <a:latin typeface="Arial"/>
                <a:cs typeface="Arial"/>
              </a:rPr>
              <a:t>one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per minute and available for gas exchange, the</a:t>
            </a:r>
            <a:r>
              <a:rPr dirty="0" sz="2000" spc="-3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5467197"/>
            <a:ext cx="4206240" cy="755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3890"/>
              </a:lnSpc>
            </a:pPr>
            <a:r>
              <a:rPr dirty="0" sz="360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197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(500-150 ml) x 12= 4200</a:t>
            </a:r>
            <a:r>
              <a:rPr dirty="0" sz="2000" spc="-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ml/min.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Alveolar </a:t>
            </a:r>
            <a:r>
              <a:rPr dirty="0" sz="2400" spc="-5">
                <a:latin typeface="Arial"/>
                <a:cs typeface="Arial"/>
              </a:rPr>
              <a:t>and Physiological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dead-space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1143000"/>
            <a:ext cx="8229600" cy="5410200"/>
          </a:xfrm>
          <a:custGeom>
            <a:avLst/>
            <a:gdLst/>
            <a:ahLst/>
            <a:cxnLst/>
            <a:rect l="l" t="t" r="r" b="b"/>
            <a:pathLst>
              <a:path w="8229600" h="5410200">
                <a:moveTo>
                  <a:pt x="0" y="5410200"/>
                </a:moveTo>
                <a:lnTo>
                  <a:pt x="8229600" y="5410200"/>
                </a:lnTo>
                <a:lnTo>
                  <a:pt x="8229600" y="0"/>
                </a:lnTo>
                <a:lnTo>
                  <a:pt x="0" y="0"/>
                </a:lnTo>
                <a:lnTo>
                  <a:pt x="0" y="5410200"/>
                </a:lnTo>
                <a:close/>
              </a:path>
            </a:pathLst>
          </a:custGeom>
          <a:ln w="9144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2640" y="1620774"/>
            <a:ext cx="7625715" cy="1229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</a:pPr>
            <a:r>
              <a:rPr dirty="0" sz="2000" spc="-5" b="1" u="heavy">
                <a:solidFill>
                  <a:srgbClr val="FFFFFF"/>
                </a:solidFill>
                <a:latin typeface="Arial"/>
                <a:cs typeface="Arial"/>
              </a:rPr>
              <a:t>Alveolar 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dead-space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under some pathological conditions, a  certain amount of inspired air, although reaching the</a:t>
            </a:r>
            <a:r>
              <a:rPr dirty="0" sz="2000" spc="-1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respiratory</a:t>
            </a:r>
            <a:endParaRPr sz="2000">
              <a:latin typeface="Arial"/>
              <a:cs typeface="Arial"/>
            </a:endParaRPr>
          </a:p>
          <a:p>
            <a:pPr algn="just" marL="12700" marR="5080">
              <a:lnSpc>
                <a:spcPct val="8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zone, does not take part in gas exchange. This situation can be</a:t>
            </a:r>
            <a:r>
              <a:rPr dirty="0" sz="2000" spc="-2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due  to a decreased blood supply or no blood supply at all. These alveoli  represent alveolar dead</a:t>
            </a:r>
            <a:r>
              <a:rPr dirty="0" sz="20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space.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3124200"/>
            <a:ext cx="3263900" cy="2781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62600" y="3276600"/>
            <a:ext cx="2781300" cy="279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53961" y="396316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152400"/>
                </a:moveTo>
                <a:lnTo>
                  <a:pt x="228600" y="152400"/>
                </a:lnTo>
                <a:lnTo>
                  <a:pt x="228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53961" y="396316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152400"/>
                </a:moveTo>
                <a:lnTo>
                  <a:pt x="228600" y="152400"/>
                </a:lnTo>
                <a:lnTo>
                  <a:pt x="228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67761" y="388696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152400"/>
                </a:moveTo>
                <a:lnTo>
                  <a:pt x="228600" y="152400"/>
                </a:lnTo>
                <a:lnTo>
                  <a:pt x="228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67761" y="388696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152400"/>
                </a:moveTo>
                <a:lnTo>
                  <a:pt x="228600" y="152400"/>
                </a:lnTo>
                <a:lnTo>
                  <a:pt x="228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79997" y="4566665"/>
            <a:ext cx="45720" cy="158750"/>
          </a:xfrm>
          <a:custGeom>
            <a:avLst/>
            <a:gdLst/>
            <a:ahLst/>
            <a:cxnLst/>
            <a:rect l="l" t="t" r="r" b="b"/>
            <a:pathLst>
              <a:path w="45720" h="158750">
                <a:moveTo>
                  <a:pt x="22860" y="0"/>
                </a:moveTo>
                <a:lnTo>
                  <a:pt x="13983" y="6221"/>
                </a:lnTo>
                <a:lnTo>
                  <a:pt x="6715" y="23193"/>
                </a:lnTo>
                <a:lnTo>
                  <a:pt x="1803" y="48381"/>
                </a:lnTo>
                <a:lnTo>
                  <a:pt x="0" y="79247"/>
                </a:lnTo>
                <a:lnTo>
                  <a:pt x="1803" y="110114"/>
                </a:lnTo>
                <a:lnTo>
                  <a:pt x="6715" y="135302"/>
                </a:lnTo>
                <a:lnTo>
                  <a:pt x="13983" y="152274"/>
                </a:lnTo>
                <a:lnTo>
                  <a:pt x="22860" y="158495"/>
                </a:lnTo>
                <a:lnTo>
                  <a:pt x="31736" y="152274"/>
                </a:lnTo>
                <a:lnTo>
                  <a:pt x="39004" y="135302"/>
                </a:lnTo>
                <a:lnTo>
                  <a:pt x="43916" y="110114"/>
                </a:lnTo>
                <a:lnTo>
                  <a:pt x="45719" y="79247"/>
                </a:lnTo>
                <a:lnTo>
                  <a:pt x="43916" y="48381"/>
                </a:lnTo>
                <a:lnTo>
                  <a:pt x="39004" y="23193"/>
                </a:lnTo>
                <a:lnTo>
                  <a:pt x="31736" y="6221"/>
                </a:lnTo>
                <a:lnTo>
                  <a:pt x="22860" y="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79997" y="4566665"/>
            <a:ext cx="45720" cy="158750"/>
          </a:xfrm>
          <a:custGeom>
            <a:avLst/>
            <a:gdLst/>
            <a:ahLst/>
            <a:cxnLst/>
            <a:rect l="l" t="t" r="r" b="b"/>
            <a:pathLst>
              <a:path w="45720" h="158750">
                <a:moveTo>
                  <a:pt x="0" y="79247"/>
                </a:moveTo>
                <a:lnTo>
                  <a:pt x="1803" y="48381"/>
                </a:lnTo>
                <a:lnTo>
                  <a:pt x="6715" y="23193"/>
                </a:lnTo>
                <a:lnTo>
                  <a:pt x="13983" y="6221"/>
                </a:lnTo>
                <a:lnTo>
                  <a:pt x="22860" y="0"/>
                </a:lnTo>
                <a:lnTo>
                  <a:pt x="31736" y="6221"/>
                </a:lnTo>
                <a:lnTo>
                  <a:pt x="39004" y="23193"/>
                </a:lnTo>
                <a:lnTo>
                  <a:pt x="43916" y="48381"/>
                </a:lnTo>
                <a:lnTo>
                  <a:pt x="45719" y="79247"/>
                </a:lnTo>
                <a:lnTo>
                  <a:pt x="43916" y="110114"/>
                </a:lnTo>
                <a:lnTo>
                  <a:pt x="39004" y="135302"/>
                </a:lnTo>
                <a:lnTo>
                  <a:pt x="31736" y="152274"/>
                </a:lnTo>
                <a:lnTo>
                  <a:pt x="22860" y="158495"/>
                </a:lnTo>
                <a:lnTo>
                  <a:pt x="13983" y="152274"/>
                </a:lnTo>
                <a:lnTo>
                  <a:pt x="6715" y="135302"/>
                </a:lnTo>
                <a:lnTo>
                  <a:pt x="1803" y="110114"/>
                </a:lnTo>
                <a:lnTo>
                  <a:pt x="0" y="79247"/>
                </a:lnTo>
                <a:close/>
              </a:path>
            </a:pathLst>
          </a:custGeom>
          <a:ln w="25908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Alveolar </a:t>
            </a:r>
            <a:r>
              <a:rPr dirty="0" sz="2400" spc="-5">
                <a:latin typeface="Arial"/>
                <a:cs typeface="Arial"/>
              </a:rPr>
              <a:t>and Physiological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dead-space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6440" y="2169795"/>
            <a:ext cx="7637780" cy="9251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 u="heavy">
                <a:solidFill>
                  <a:srgbClr val="FFFFFF"/>
                </a:solidFill>
                <a:latin typeface="Arial"/>
                <a:cs typeface="Arial"/>
              </a:rPr>
              <a:t>Physiological</a:t>
            </a:r>
            <a:r>
              <a:rPr dirty="0" sz="2000" spc="-20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dead-space: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Physiological dead-space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(V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):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(Alveolar + Anatomical)</a:t>
            </a:r>
            <a:r>
              <a:rPr dirty="0" sz="20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dead-space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 u="heavy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r>
              <a:rPr dirty="0" sz="2400" spc="-65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 u="heavy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20902"/>
            <a:ext cx="7872095" cy="4657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 =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20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pressure</a:t>
            </a:r>
            <a:endParaRPr sz="2000">
              <a:latin typeface="Arial"/>
              <a:cs typeface="Arial"/>
            </a:endParaRPr>
          </a:p>
          <a:p>
            <a:pPr marL="12700" marR="348615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Fx = fractional concentration in dry</a:t>
            </a:r>
            <a:r>
              <a:rPr dirty="0" sz="20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gas  Px = partial pressure of gas</a:t>
            </a:r>
            <a:r>
              <a:rPr dirty="0" sz="2000" spc="-1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Px =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000" spc="-5">
                <a:solidFill>
                  <a:srgbClr val="FFFFFF"/>
                </a:solidFill>
                <a:latin typeface="Symbol"/>
                <a:cs typeface="Symbol"/>
              </a:rPr>
              <a:t>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Fx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Example:</a:t>
            </a:r>
            <a:endParaRPr sz="2000">
              <a:latin typeface="Arial"/>
              <a:cs typeface="Arial"/>
            </a:endParaRPr>
          </a:p>
          <a:p>
            <a:pPr marL="12700" marR="4923155">
              <a:lnSpc>
                <a:spcPct val="100000"/>
              </a:lnSpc>
              <a:tabLst>
                <a:tab pos="14135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Barometric P =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760mmHg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FO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60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21%	*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80848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6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0.03%	*</a:t>
            </a:r>
            <a:endParaRPr sz="2000">
              <a:latin typeface="Arial"/>
              <a:cs typeface="Arial"/>
            </a:endParaRPr>
          </a:p>
          <a:p>
            <a:pPr marL="12700" marR="1394460">
              <a:lnSpc>
                <a:spcPct val="100000"/>
              </a:lnSpc>
              <a:tabLst>
                <a:tab pos="2535555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Px =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(P-47mmHg)</a:t>
            </a:r>
            <a:r>
              <a:rPr dirty="0" sz="2000">
                <a:solidFill>
                  <a:srgbClr val="FFFFFF"/>
                </a:solidFill>
                <a:latin typeface="Symbol"/>
                <a:cs typeface="Symbol"/>
              </a:rPr>
              <a:t>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Fx	(water vapor pressure</a:t>
            </a:r>
            <a:r>
              <a:rPr dirty="0" sz="20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47mmHg)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PO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= (760mmHg – 47mmHg)</a:t>
            </a:r>
            <a:r>
              <a:rPr dirty="0" sz="2000">
                <a:solidFill>
                  <a:srgbClr val="FFFFFF"/>
                </a:solidFill>
                <a:latin typeface="Symbol"/>
                <a:cs typeface="Symbol"/>
              </a:rPr>
              <a:t>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21/100 =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150mmHg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= (760mmHg – 47mmHg)</a:t>
            </a:r>
            <a:r>
              <a:rPr dirty="0" sz="2000">
                <a:solidFill>
                  <a:srgbClr val="FFFFFF"/>
                </a:solidFill>
                <a:latin typeface="Symbol"/>
                <a:cs typeface="Symbol"/>
              </a:rPr>
              <a:t>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0.03/100 =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0.2mmHg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marR="5080">
              <a:lnSpc>
                <a:spcPct val="8010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*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Fractional concentrations are generally given as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fraction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800" spc="-5" u="heavy">
                <a:solidFill>
                  <a:srgbClr val="FFFFFF"/>
                </a:solidFill>
                <a:latin typeface="Arial"/>
                <a:cs typeface="Arial"/>
              </a:rPr>
              <a:t>dry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gas 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volume that is occupied by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gas in question. Because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that convention,  barometric pressure has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corrected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 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contribution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water</a:t>
            </a:r>
            <a:r>
              <a:rPr dirty="0" sz="1800" spc="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vapor.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4994" y="346202"/>
            <a:ext cx="420751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Types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Alveolar</a:t>
            </a:r>
            <a:r>
              <a:rPr dirty="0" sz="2400" spc="2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Ventilation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892302"/>
            <a:ext cx="7245984" cy="559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60"/>
              </a:lnSpc>
            </a:pP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Normal </a:t>
            </a:r>
            <a:r>
              <a:rPr dirty="0" sz="2000" spc="-5" u="heavy">
                <a:solidFill>
                  <a:srgbClr val="FFFFFF"/>
                </a:solidFill>
                <a:latin typeface="Arial"/>
                <a:cs typeface="Arial"/>
              </a:rPr>
              <a:t>Alveolar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Ventilation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matches 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keeps</a:t>
            </a:r>
            <a:r>
              <a:rPr dirty="0" sz="2000" spc="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PaCO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3245485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at a constant</a:t>
            </a:r>
            <a:r>
              <a:rPr dirty="0" sz="20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level.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1441703"/>
            <a:ext cx="5715000" cy="5247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6975" y="490982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34200" y="1447800"/>
            <a:ext cx="2095500" cy="22158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Types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Alveolar Ventilation </a:t>
            </a:r>
            <a:r>
              <a:rPr dirty="0" sz="2400">
                <a:latin typeface="Arial"/>
                <a:cs typeface="Arial"/>
              </a:rPr>
              <a:t>(Cont’ed)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82597"/>
            <a:ext cx="7760970" cy="742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801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more 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removed than the metabolic rate requires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(V</a:t>
            </a:r>
            <a:r>
              <a:rPr dirty="0" sz="1600" spc="5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exceeds the  needs of the body). As a consequence, alveolar and arterial partial  pressures of 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rise and those of 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6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decrease.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19603"/>
            <a:ext cx="7472680" cy="315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Note: This is with respect to metabolism so not as during</a:t>
            </a:r>
            <a:r>
              <a:rPr dirty="0" sz="20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exercise.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374902"/>
            <a:ext cx="7982584" cy="625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dirty="0" sz="2000" spc="-25" b="1" u="heavy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eola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000" spc="-5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2000" spc="-35" b="1" u="heavy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dirty="0" sz="2000" spc="-25" b="1" u="heavy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2000" b="1" u="heavy">
                <a:solidFill>
                  <a:srgbClr val="FFFFFF"/>
                </a:solidFill>
                <a:latin typeface="Arial"/>
                <a:cs typeface="Arial"/>
              </a:rPr>
              <a:t>entilation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0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rs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4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baseline="-8487" sz="5400" spc="-825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6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pplied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Types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Alveolar Ventilation </a:t>
            </a:r>
            <a:r>
              <a:rPr dirty="0" sz="2400">
                <a:latin typeface="Arial"/>
                <a:cs typeface="Arial"/>
              </a:rPr>
              <a:t>(Cont’ed)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31670"/>
            <a:ext cx="8052434" cy="4095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60"/>
              </a:lnSpc>
            </a:pPr>
            <a:r>
              <a:rPr dirty="0" sz="2000" spc="-5" b="1" u="heavy">
                <a:solidFill>
                  <a:srgbClr val="FFFFFF"/>
                </a:solidFill>
                <a:latin typeface="Arial"/>
                <a:cs typeface="Arial"/>
              </a:rPr>
              <a:t>Alveolar hypoventilation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fall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ventilation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can reduce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ventilation below that required by the metabolic activity of the</a:t>
            </a:r>
            <a:r>
              <a:rPr dirty="0" sz="2000" spc="-2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body.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62865">
              <a:lnSpc>
                <a:spcPts val="192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Under such conditions, the rate at which </a:t>
            </a:r>
            <a:r>
              <a:rPr dirty="0" sz="2000" spc="15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600" spc="15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 added to alveolar gas,  and the rate at which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dirty="0" sz="1600" spc="5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 eliminated, is lowered, so that the</a:t>
            </a:r>
            <a:r>
              <a:rPr dirty="0" sz="20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alveolar  partial pressure of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600" spc="5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(P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)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falls and P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6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rises.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101600">
              <a:lnSpc>
                <a:spcPct val="8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Therefore, PaO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falls below normal values and PaCO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rises above the  normal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value.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Alveolar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hypoventilation may occur during severe disorders of the</a:t>
            </a:r>
            <a:r>
              <a:rPr dirty="0" sz="20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lungs  (e.g.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chronic obstructive lung disease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), or when there is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damage to the 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respiratory muscles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. It can also occur when 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chest cage is injured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the lungs collapse, or when 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central nervous system is 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depressed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52600"/>
            <a:ext cx="9144000" cy="2968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4994" y="346202"/>
            <a:ext cx="420751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Types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Alveolar</a:t>
            </a:r>
            <a:r>
              <a:rPr dirty="0" sz="2400" spc="2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Ventilation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1600" y="1543810"/>
            <a:ext cx="5715000" cy="524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22630"/>
            <a:ext cx="2143760" cy="6172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5" b="0" u="none">
                <a:latin typeface="Arial"/>
                <a:cs typeface="Arial"/>
              </a:rPr>
              <a:t>Lecture</a:t>
            </a:r>
            <a:r>
              <a:rPr dirty="0" sz="4000" spc="-65" b="0" u="none">
                <a:latin typeface="Arial"/>
                <a:cs typeface="Arial"/>
              </a:rPr>
              <a:t> </a:t>
            </a:r>
            <a:r>
              <a:rPr dirty="0" sz="4000" spc="-5" b="0" u="none"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18414"/>
            <a:ext cx="241236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GAS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DIFFUSION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33753"/>
            <a:ext cx="8027034" cy="413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b="1" u="heavy">
                <a:solidFill>
                  <a:srgbClr val="FFFFFF"/>
                </a:solidFill>
                <a:latin typeface="Arial"/>
                <a:cs typeface="Arial"/>
              </a:rPr>
              <a:t>Diffusion</a:t>
            </a:r>
            <a:r>
              <a:rPr dirty="0" sz="2400" spc="-114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 b="1" u="heavy">
                <a:solidFill>
                  <a:srgbClr val="FFFFFF"/>
                </a:solidFill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transfer of gases across the alveolar-capillary membrane occurs  by passive diffusion. This diffusion is very efficient in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lungs</a:t>
            </a:r>
            <a:r>
              <a:rPr dirty="0" sz="20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because  of the huge surface area of the membrane and its extreme</a:t>
            </a:r>
            <a:r>
              <a:rPr dirty="0" sz="2000" spc="-2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thinness.</a:t>
            </a:r>
            <a:endParaRPr sz="2000">
              <a:latin typeface="Arial"/>
              <a:cs typeface="Arial"/>
            </a:endParaRPr>
          </a:p>
          <a:p>
            <a:pPr marL="12700" marR="3141345">
              <a:lnSpc>
                <a:spcPct val="24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Diffusion is governed by Fick's Law:  Diffusion rate is </a:t>
            </a:r>
            <a:r>
              <a:rPr dirty="0" sz="2000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surface area (50-100</a:t>
            </a:r>
            <a:r>
              <a:rPr dirty="0" sz="20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baseline="25641" sz="1950" spc="7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182943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partial pressure</a:t>
            </a:r>
            <a:r>
              <a:rPr dirty="0" sz="20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gradient</a:t>
            </a:r>
            <a:endParaRPr sz="2000">
              <a:latin typeface="Arial"/>
              <a:cs typeface="Arial"/>
            </a:endParaRPr>
          </a:p>
          <a:p>
            <a:pPr marL="182943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1/thickness (~0.2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mm)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67583" y="228600"/>
            <a:ext cx="406146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0739" y="6030772"/>
            <a:ext cx="7073900" cy="469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Ultrastructure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respiratory membrane as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shown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cross-section.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(Reproduced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Guyton: </a:t>
            </a:r>
            <a:r>
              <a:rPr dirty="0" sz="1200" spc="-15" i="1">
                <a:solidFill>
                  <a:srgbClr val="FFFFFF"/>
                </a:solidFill>
                <a:latin typeface="Arial"/>
                <a:cs typeface="Arial"/>
              </a:rPr>
              <a:t>Textbook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7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Physiology).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90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Diffusion </a:t>
            </a:r>
            <a:r>
              <a:rPr dirty="0" sz="2400" spc="-5">
                <a:latin typeface="Arial"/>
                <a:cs typeface="Arial"/>
              </a:rPr>
              <a:t>Rate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(Cont’ned)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8757"/>
            <a:ext cx="7873365" cy="3272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715">
              <a:lnSpc>
                <a:spcPct val="901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•To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diffuse through a liquid, a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gas must be soluble in </a:t>
            </a:r>
            <a:r>
              <a:rPr dirty="0" sz="2000" spc="-5" u="heavy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liquid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. The 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amount of gas dissolved is proportional to </a:t>
            </a:r>
            <a:r>
              <a:rPr dirty="0" sz="2000" spc="-5" u="heavy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partial pressure</a:t>
            </a:r>
            <a:r>
              <a:rPr dirty="0" sz="2000" spc="-130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(Henry’s  law).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696595">
              <a:lnSpc>
                <a:spcPts val="2160"/>
              </a:lnSpc>
              <a:buChar char="•"/>
              <a:tabLst>
                <a:tab pos="17145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Because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dirty="0" sz="1600" u="heavy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is considerably more soluble than </a:t>
            </a:r>
            <a:r>
              <a:rPr dirty="0" sz="2000" spc="5" u="heavy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600" spc="5" u="heavy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in water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, it  diffuses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dirty="0" sz="2000" spc="5" u="heavy">
                <a:solidFill>
                  <a:srgbClr val="FFFFFF"/>
                </a:solidFill>
                <a:latin typeface="Arial"/>
                <a:cs typeface="Arial"/>
              </a:rPr>
              <a:t>20 </a:t>
            </a:r>
            <a:r>
              <a:rPr dirty="0" sz="2000" spc="-5" u="heavy">
                <a:solidFill>
                  <a:srgbClr val="FFFFFF"/>
                </a:solidFill>
                <a:latin typeface="Arial"/>
                <a:cs typeface="Arial"/>
              </a:rPr>
              <a:t>times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more rapidly than</a:t>
            </a:r>
            <a:r>
              <a:rPr dirty="0" sz="2000" spc="-160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600" u="heavy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•However, the difference in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PCO</a:t>
            </a:r>
            <a:r>
              <a:rPr dirty="0" sz="1600" u="heavy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between the 2 sides of the</a:t>
            </a:r>
            <a:r>
              <a:rPr dirty="0" sz="2000" spc="-95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alveolar- 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capillary membrane is 10 </a:t>
            </a:r>
            <a:r>
              <a:rPr dirty="0" sz="2000" spc="-5" u="heavy">
                <a:solidFill>
                  <a:srgbClr val="FFFFFF"/>
                </a:solidFill>
                <a:latin typeface="Arial"/>
                <a:cs typeface="Arial"/>
              </a:rPr>
              <a:t>times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smaller than that for PO</a:t>
            </a:r>
            <a:r>
              <a:rPr dirty="0" sz="1600" u="heavy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. Therefore,  the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required for equilibrium between alveolar air and capillary  blood is ~ the same for the two</a:t>
            </a:r>
            <a:r>
              <a:rPr dirty="0" sz="2000" spc="-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gases.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228600"/>
            <a:ext cx="6934200" cy="6367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13175" y="795782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800" y="736091"/>
            <a:ext cx="6705600" cy="61219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8375" y="38100"/>
            <a:ext cx="1814195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20">
                <a:latin typeface="Arial"/>
                <a:cs typeface="Arial"/>
              </a:rPr>
              <a:t>Transit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5">
                <a:latin typeface="Arial"/>
                <a:cs typeface="Arial"/>
              </a:rPr>
              <a:t>Time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8194" y="1791461"/>
            <a:ext cx="2327910" cy="315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FF3300"/>
                </a:solidFill>
                <a:latin typeface="Arial"/>
                <a:cs typeface="Arial"/>
              </a:rPr>
              <a:t>Pulmonary</a:t>
            </a:r>
            <a:r>
              <a:rPr dirty="0" sz="2000" spc="-10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3300"/>
                </a:solidFill>
                <a:latin typeface="Arial"/>
                <a:cs typeface="Arial"/>
              </a:rPr>
              <a:t>arteries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7428" y="1791461"/>
            <a:ext cx="2055495" cy="315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FF3300"/>
                </a:solidFill>
                <a:latin typeface="Arial"/>
                <a:cs typeface="Arial"/>
              </a:rPr>
              <a:t>Pulmonary</a:t>
            </a:r>
            <a:r>
              <a:rPr dirty="0" sz="2000" spc="-11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FF3300"/>
                </a:solidFill>
                <a:latin typeface="Arial"/>
                <a:cs typeface="Arial"/>
              </a:rPr>
              <a:t>veins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IV </a:t>
            </a:r>
            <a:r>
              <a:rPr dirty="0" sz="2400" spc="-5">
                <a:latin typeface="Arial"/>
                <a:cs typeface="Arial"/>
              </a:rPr>
              <a:t>Pulmonary </a:t>
            </a:r>
            <a:r>
              <a:rPr dirty="0" sz="2400">
                <a:latin typeface="Arial"/>
                <a:cs typeface="Arial"/>
              </a:rPr>
              <a:t>blood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flow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57553"/>
            <a:ext cx="7925434" cy="37547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 b="1">
                <a:solidFill>
                  <a:srgbClr val="FFFFFF"/>
                </a:solidFill>
                <a:latin typeface="Arial"/>
                <a:cs typeface="Arial"/>
              </a:rPr>
              <a:t>A. </a:t>
            </a:r>
            <a:r>
              <a:rPr dirty="0" sz="2400" b="1" u="heavy">
                <a:solidFill>
                  <a:srgbClr val="FFFFFF"/>
                </a:solidFill>
                <a:latin typeface="Arial"/>
                <a:cs typeface="Arial"/>
              </a:rPr>
              <a:t>Pulmonary Circulation </a:t>
            </a:r>
            <a:r>
              <a:rPr dirty="0" sz="2400" spc="-5" b="1" u="heavy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b="1" u="heavy">
                <a:solidFill>
                  <a:srgbClr val="FFFFFF"/>
                </a:solidFill>
                <a:latin typeface="Arial"/>
                <a:cs typeface="Arial"/>
              </a:rPr>
              <a:t>Blood</a:t>
            </a:r>
            <a:r>
              <a:rPr dirty="0" sz="2400" spc="-65" b="1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 b="1" u="heavy">
                <a:solidFill>
                  <a:srgbClr val="FFFFFF"/>
                </a:solidFill>
                <a:latin typeface="Arial"/>
                <a:cs typeface="Arial"/>
              </a:rPr>
              <a:t>Pressure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pulmonary circulation differs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 many ways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from the systemic</a:t>
            </a:r>
            <a:r>
              <a:rPr dirty="0" sz="2000" spc="-185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one: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Times New Roman"/>
              <a:cs typeface="Times New Roman"/>
            </a:endParaRPr>
          </a:p>
          <a:p>
            <a:pPr marL="622300" marR="220979" indent="-609600">
              <a:lnSpc>
                <a:spcPts val="1920"/>
              </a:lnSpc>
              <a:buAutoNum type="arabicParenR"/>
              <a:tabLst>
                <a:tab pos="622300" algn="l"/>
                <a:tab pos="622935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right ventricle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develops a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pressure of ~25 mmHg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dirty="0" sz="20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its  systole (compared to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120mmHg in </a:t>
            </a:r>
            <a:r>
              <a:rPr dirty="0" sz="2000" spc="-5" u="heavy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left</a:t>
            </a:r>
            <a:r>
              <a:rPr dirty="0" sz="2000" spc="-140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ventricle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);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Arial"/>
              <a:buAutoNum type="arabicParenR"/>
            </a:pPr>
            <a:endParaRPr sz="2500">
              <a:latin typeface="Times New Roman"/>
              <a:cs typeface="Times New Roman"/>
            </a:endParaRPr>
          </a:p>
          <a:p>
            <a:pPr marL="622300" marR="236854" indent="-609600">
              <a:lnSpc>
                <a:spcPts val="1920"/>
              </a:lnSpc>
              <a:buAutoNum type="arabicParenR"/>
              <a:tabLst>
                <a:tab pos="622300" algn="l"/>
                <a:tab pos="622935" algn="l"/>
              </a:tabLst>
            </a:pP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Blood pressure in </a:t>
            </a:r>
            <a:r>
              <a:rPr dirty="0" sz="2000" spc="-5" u="heavy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pulmonary circulation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lower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than in</a:t>
            </a:r>
            <a:r>
              <a:rPr dirty="0" sz="20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systemic</a:t>
            </a:r>
            <a:r>
              <a:rPr dirty="0" sz="2000" spc="-80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circulation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Arial"/>
              <a:buAutoNum type="arabicParenR"/>
            </a:pPr>
            <a:endParaRPr sz="2500">
              <a:latin typeface="Times New Roman"/>
              <a:cs typeface="Times New Roman"/>
            </a:endParaRPr>
          </a:p>
          <a:p>
            <a:pPr marL="622300" marR="305435" indent="-609600">
              <a:lnSpc>
                <a:spcPct val="80000"/>
              </a:lnSpc>
              <a:buAutoNum type="arabicParenR"/>
              <a:tabLst>
                <a:tab pos="622300" algn="l"/>
                <a:tab pos="622935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pulmonary capillaries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thinner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contain less</a:t>
            </a:r>
            <a:r>
              <a:rPr dirty="0" sz="20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smooth  muscle than comparable vessels in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systemic</a:t>
            </a:r>
            <a:r>
              <a:rPr dirty="0" sz="20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circulation.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304800"/>
            <a:ext cx="6858000" cy="5893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88794" y="6238646"/>
            <a:ext cx="5213985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800" spc="-10" i="1">
                <a:solidFill>
                  <a:srgbClr val="FFFFFF"/>
                </a:solidFill>
                <a:latin typeface="Arial"/>
                <a:cs typeface="Arial"/>
              </a:rPr>
              <a:t>West: </a:t>
            </a:r>
            <a:r>
              <a:rPr dirty="0" sz="1800" spc="-5" i="1">
                <a:solidFill>
                  <a:srgbClr val="FFFFFF"/>
                </a:solidFill>
                <a:latin typeface="Arial"/>
                <a:cs typeface="Arial"/>
              </a:rPr>
              <a:t>Respiratory Physiology-the</a:t>
            </a:r>
            <a:r>
              <a:rPr dirty="0" sz="1800" spc="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FFFFFF"/>
                </a:solidFill>
                <a:latin typeface="Arial"/>
                <a:cs typeface="Arial"/>
              </a:rPr>
              <a:t>essentials).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01242"/>
            <a:ext cx="2825750" cy="31559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>
                <a:latin typeface="Arial"/>
                <a:cs typeface="Arial"/>
              </a:rPr>
              <a:t>B. </a:t>
            </a:r>
            <a:r>
              <a:rPr dirty="0">
                <a:latin typeface="Arial"/>
                <a:cs typeface="Arial"/>
              </a:rPr>
              <a:t>Vascular</a:t>
            </a:r>
            <a:r>
              <a:rPr dirty="0" spc="-9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Resistance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25929"/>
            <a:ext cx="5474970" cy="49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Flow = </a:t>
            </a:r>
            <a:r>
              <a:rPr dirty="0" sz="3200" spc="-5" b="1">
                <a:solidFill>
                  <a:srgbClr val="FFFFFF"/>
                </a:solidFill>
                <a:latin typeface="Arial"/>
                <a:cs typeface="Arial"/>
              </a:rPr>
              <a:t>pressure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32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Arial"/>
                <a:cs typeface="Arial"/>
              </a:rPr>
              <a:t>resistance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706243"/>
            <a:ext cx="7860030" cy="293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200025">
              <a:lnSpc>
                <a:spcPct val="80000"/>
              </a:lnSpc>
            </a:pP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•Total pressure drop from pulmonary artery to left atrium of about</a:t>
            </a:r>
            <a:r>
              <a:rPr dirty="0" sz="2000" spc="-290">
                <a:solidFill>
                  <a:srgbClr val="6278C7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10  mm</a:t>
            </a:r>
            <a:r>
              <a:rPr dirty="0" sz="2000" spc="-110">
                <a:solidFill>
                  <a:srgbClr val="6278C7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Hg.</a:t>
            </a:r>
            <a:endParaRPr sz="2000">
              <a:latin typeface="Arial"/>
              <a:cs typeface="Arial"/>
            </a:endParaRPr>
          </a:p>
          <a:p>
            <a:pPr marL="170815" indent="-158115">
              <a:lnSpc>
                <a:spcPct val="100000"/>
              </a:lnSpc>
              <a:spcBef>
                <a:spcPts val="1440"/>
              </a:spcBef>
              <a:buChar char="•"/>
              <a:tabLst>
                <a:tab pos="171450" algn="l"/>
              </a:tabLst>
            </a:pP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The pulmonary resistance is ~1/10 that of the systemic</a:t>
            </a:r>
            <a:r>
              <a:rPr dirty="0" sz="2000" spc="-190">
                <a:solidFill>
                  <a:srgbClr val="6278C7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circulation.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</a:pPr>
            <a:r>
              <a:rPr dirty="0" sz="2000" spc="-5">
                <a:solidFill>
                  <a:srgbClr val="6278C7"/>
                </a:solidFill>
                <a:latin typeface="Arial"/>
                <a:cs typeface="Arial"/>
              </a:rPr>
              <a:t>•The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low vascular resistance in </a:t>
            </a:r>
            <a:r>
              <a:rPr dirty="0" sz="2000" spc="-5">
                <a:solidFill>
                  <a:srgbClr val="6278C7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pulmonary circulation relies on</a:t>
            </a:r>
            <a:r>
              <a:rPr dirty="0" sz="2000" spc="-140">
                <a:solidFill>
                  <a:srgbClr val="6278C7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the  thin walls of the vascular</a:t>
            </a:r>
            <a:r>
              <a:rPr dirty="0" sz="2000" spc="-135">
                <a:solidFill>
                  <a:srgbClr val="6278C7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system.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2700" marR="255270">
              <a:lnSpc>
                <a:spcPct val="80100"/>
              </a:lnSpc>
            </a:pPr>
            <a:r>
              <a:rPr dirty="0" sz="2000" spc="-5">
                <a:solidFill>
                  <a:srgbClr val="6278C7"/>
                </a:solidFill>
                <a:latin typeface="Arial"/>
                <a:cs typeface="Arial"/>
              </a:rPr>
              <a:t>•The </a:t>
            </a:r>
            <a:r>
              <a:rPr dirty="0" sz="2000" u="heavy">
                <a:solidFill>
                  <a:srgbClr val="6278C7"/>
                </a:solidFill>
                <a:latin typeface="Arial"/>
                <a:cs typeface="Arial"/>
              </a:rPr>
              <a:t>low vascular resistance and high compliance of the</a:t>
            </a:r>
            <a:r>
              <a:rPr dirty="0" sz="2000" spc="-130" u="heavy">
                <a:solidFill>
                  <a:srgbClr val="6278C7"/>
                </a:solidFill>
                <a:latin typeface="Arial"/>
                <a:cs typeface="Arial"/>
              </a:rPr>
              <a:t> </a:t>
            </a:r>
            <a:r>
              <a:rPr dirty="0" sz="2000" u="heavy">
                <a:solidFill>
                  <a:srgbClr val="6278C7"/>
                </a:solidFill>
                <a:latin typeface="Arial"/>
                <a:cs typeface="Arial"/>
              </a:rPr>
              <a:t>pulmonary  </a:t>
            </a:r>
            <a:r>
              <a:rPr dirty="0" sz="2000" u="heavy">
                <a:solidFill>
                  <a:srgbClr val="6278C7"/>
                </a:solidFill>
                <a:latin typeface="Arial"/>
                <a:cs typeface="Arial"/>
              </a:rPr>
              <a:t>circulation </a:t>
            </a:r>
            <a:r>
              <a:rPr dirty="0" sz="2000" u="heavy">
                <a:solidFill>
                  <a:srgbClr val="6278C7"/>
                </a:solidFill>
                <a:latin typeface="Arial"/>
                <a:cs typeface="Arial"/>
              </a:rPr>
              <a:t>allows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the lung </a:t>
            </a:r>
            <a:r>
              <a:rPr dirty="0" sz="2000" spc="-5">
                <a:solidFill>
                  <a:srgbClr val="6278C7"/>
                </a:solidFill>
                <a:latin typeface="Arial"/>
                <a:cs typeface="Arial"/>
              </a:rPr>
              <a:t>to </a:t>
            </a:r>
            <a:r>
              <a:rPr dirty="0" sz="2000" u="heavy">
                <a:solidFill>
                  <a:srgbClr val="6278C7"/>
                </a:solidFill>
                <a:latin typeface="Arial"/>
                <a:cs typeface="Arial"/>
              </a:rPr>
              <a:t>accept the whole cardiac output </a:t>
            </a:r>
            <a:r>
              <a:rPr dirty="0" sz="2000">
                <a:solidFill>
                  <a:srgbClr val="6278C7"/>
                </a:solidFill>
                <a:latin typeface="Arial"/>
                <a:cs typeface="Arial"/>
              </a:rPr>
              <a:t>at all  times.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01242"/>
            <a:ext cx="2825750" cy="31559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>
                <a:latin typeface="Arial"/>
                <a:cs typeface="Arial"/>
              </a:rPr>
              <a:t>B. </a:t>
            </a:r>
            <a:r>
              <a:rPr dirty="0">
                <a:latin typeface="Arial"/>
                <a:cs typeface="Arial"/>
              </a:rPr>
              <a:t>Vascular</a:t>
            </a:r>
            <a:r>
              <a:rPr dirty="0" spc="-9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Resistance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25929"/>
            <a:ext cx="5474970" cy="49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6278C7"/>
                </a:solidFill>
                <a:latin typeface="Arial"/>
                <a:cs typeface="Arial"/>
              </a:rPr>
              <a:t>Flow = </a:t>
            </a:r>
            <a:r>
              <a:rPr dirty="0" sz="3200" spc="-5" b="1">
                <a:solidFill>
                  <a:srgbClr val="6278C7"/>
                </a:solidFill>
                <a:latin typeface="Arial"/>
                <a:cs typeface="Arial"/>
              </a:rPr>
              <a:t>pressure </a:t>
            </a:r>
            <a:r>
              <a:rPr dirty="0" sz="3200" b="1">
                <a:solidFill>
                  <a:srgbClr val="6278C7"/>
                </a:solidFill>
                <a:latin typeface="Arial"/>
                <a:cs typeface="Arial"/>
              </a:rPr>
              <a:t>/</a:t>
            </a:r>
            <a:r>
              <a:rPr dirty="0" sz="3200" spc="-75" b="1">
                <a:solidFill>
                  <a:srgbClr val="6278C7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6278C7"/>
                </a:solidFill>
                <a:latin typeface="Arial"/>
                <a:cs typeface="Arial"/>
              </a:rPr>
              <a:t>resistance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706243"/>
            <a:ext cx="7860030" cy="293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200025">
              <a:lnSpc>
                <a:spcPct val="8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•Total pressure drop from pulmonary artery to left atrium of about</a:t>
            </a:r>
            <a:r>
              <a:rPr dirty="0" sz="2000" spc="-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10  mm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Hg.</a:t>
            </a:r>
            <a:endParaRPr sz="2000">
              <a:latin typeface="Arial"/>
              <a:cs typeface="Arial"/>
            </a:endParaRPr>
          </a:p>
          <a:p>
            <a:pPr marL="170815" indent="-158115">
              <a:lnSpc>
                <a:spcPct val="100000"/>
              </a:lnSpc>
              <a:spcBef>
                <a:spcPts val="1440"/>
              </a:spcBef>
              <a:buChar char="•"/>
              <a:tabLst>
                <a:tab pos="17145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pulmonary resistance is ~1/10 that of the systemic</a:t>
            </a:r>
            <a:r>
              <a:rPr dirty="0" sz="20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circulation.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•The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low vascular resistance in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pulmonary circulation relies on</a:t>
            </a:r>
            <a:r>
              <a:rPr dirty="0" sz="20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 thin walls of the vascular</a:t>
            </a:r>
            <a:r>
              <a:rPr dirty="0" sz="2000" spc="-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system.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2700" marR="255270">
              <a:lnSpc>
                <a:spcPct val="801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•The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low vascular resistance and high compliance of the</a:t>
            </a:r>
            <a:r>
              <a:rPr dirty="0" sz="2000" spc="-130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pulmonary 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circulation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allows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lung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 u="heavy">
                <a:solidFill>
                  <a:srgbClr val="FFFFFF"/>
                </a:solidFill>
                <a:latin typeface="Arial"/>
                <a:cs typeface="Arial"/>
              </a:rPr>
              <a:t>accept the whole cardiac output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at all  times.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/>
              <a:t>C. </a:t>
            </a:r>
            <a:r>
              <a:rPr dirty="0"/>
              <a:t>Accommodation of Pulmonary Blood</a:t>
            </a:r>
            <a:r>
              <a:rPr dirty="0" spc="-75"/>
              <a:t> </a:t>
            </a:r>
            <a:r>
              <a:rPr dirty="0"/>
              <a:t>Vessels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9061"/>
            <a:ext cx="7661275" cy="9251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pulmonary circulation has the capacity to accommodate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two-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  three-fold increases in cardiac output with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little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change in</a:t>
            </a:r>
            <a:r>
              <a:rPr dirty="0" sz="20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pulmonary  arterial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pressure.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600" y="2706623"/>
            <a:ext cx="5943600" cy="3680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55722" y="6476695"/>
            <a:ext cx="425132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Physiology-the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58546"/>
            <a:ext cx="6896734" cy="32004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/>
              <a:t>C. </a:t>
            </a:r>
            <a:r>
              <a:rPr dirty="0"/>
              <a:t>Accommodation of Pulmonary Blood Vessels</a:t>
            </a:r>
            <a:r>
              <a:rPr dirty="0" spc="-145"/>
              <a:t> </a:t>
            </a:r>
            <a:r>
              <a:rPr dirty="0"/>
              <a:t>(Cont’ed)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402334"/>
            <a:ext cx="8594725" cy="4845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93065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•</a:t>
            </a:r>
            <a:r>
              <a:rPr dirty="0" sz="2400" spc="-5" u="heavy">
                <a:solidFill>
                  <a:srgbClr val="FFFFFF"/>
                </a:solidFill>
                <a:latin typeface="Comic Sans MS"/>
                <a:cs typeface="Comic Sans MS"/>
              </a:rPr>
              <a:t>Drugs (serotonin, histamine, norepinephrine)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which cause  the contraction </a:t>
            </a:r>
            <a:r>
              <a:rPr dirty="0" sz="2400">
                <a:solidFill>
                  <a:srgbClr val="FFFFFF"/>
                </a:solidFill>
                <a:latin typeface="Comic Sans MS"/>
                <a:cs typeface="Comic Sans MS"/>
              </a:rPr>
              <a:t>of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smooth muscle increase pulmonary  vascular resistance in the </a:t>
            </a:r>
            <a:r>
              <a:rPr dirty="0" sz="2400">
                <a:solidFill>
                  <a:srgbClr val="FFFFFF"/>
                </a:solidFill>
                <a:latin typeface="Comic Sans MS"/>
                <a:cs typeface="Comic Sans MS"/>
              </a:rPr>
              <a:t>larger pulmonary</a:t>
            </a:r>
            <a:r>
              <a:rPr dirty="0" sz="2400" spc="-9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2400">
                <a:solidFill>
                  <a:srgbClr val="FFFFFF"/>
                </a:solidFill>
                <a:latin typeface="Comic Sans MS"/>
                <a:cs typeface="Comic Sans MS"/>
              </a:rPr>
              <a:t>arteries.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•</a:t>
            </a:r>
            <a:r>
              <a:rPr dirty="0" sz="2400" spc="-5" u="heavy">
                <a:solidFill>
                  <a:srgbClr val="FFFFFF"/>
                </a:solidFill>
                <a:latin typeface="Comic Sans MS"/>
                <a:cs typeface="Comic Sans MS"/>
              </a:rPr>
              <a:t>Drugs (acetylcholine, isoproteranol)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which can relax</a:t>
            </a:r>
            <a:r>
              <a:rPr dirty="0" sz="2400" spc="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smooth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muscle may </a:t>
            </a:r>
            <a:r>
              <a:rPr dirty="0" sz="2400">
                <a:solidFill>
                  <a:srgbClr val="FFFFFF"/>
                </a:solidFill>
                <a:latin typeface="Comic Sans MS"/>
                <a:cs typeface="Comic Sans MS"/>
              </a:rPr>
              <a:t>decrease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pulmonary vascular</a:t>
            </a:r>
            <a:r>
              <a:rPr dirty="0" sz="2400" spc="-1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resistance.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 marR="384810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•There is </a:t>
            </a:r>
            <a:r>
              <a:rPr dirty="0" sz="2400">
                <a:solidFill>
                  <a:srgbClr val="FFFFFF"/>
                </a:solidFill>
                <a:latin typeface="Comic Sans MS"/>
                <a:cs typeface="Comic Sans MS"/>
              </a:rPr>
              <a:t>a </a:t>
            </a:r>
            <a:r>
              <a:rPr dirty="0" sz="2400" u="heavy">
                <a:solidFill>
                  <a:srgbClr val="FFFFFF"/>
                </a:solidFill>
                <a:latin typeface="Comic Sans MS"/>
                <a:cs typeface="Comic Sans MS"/>
              </a:rPr>
              <a:t>reflex </a:t>
            </a:r>
            <a:r>
              <a:rPr dirty="0" sz="2400" spc="-5" u="heavy">
                <a:solidFill>
                  <a:srgbClr val="FFFFFF"/>
                </a:solidFill>
                <a:latin typeface="Comic Sans MS"/>
                <a:cs typeface="Comic Sans MS"/>
              </a:rPr>
              <a:t>vasoconstriction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in regions </a:t>
            </a:r>
            <a:r>
              <a:rPr dirty="0" sz="2400">
                <a:solidFill>
                  <a:srgbClr val="FFFFFF"/>
                </a:solidFill>
                <a:latin typeface="Comic Sans MS"/>
                <a:cs typeface="Comic Sans MS"/>
              </a:rPr>
              <a:t>of the lungs 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that </a:t>
            </a:r>
            <a:r>
              <a:rPr dirty="0" sz="2400">
                <a:solidFill>
                  <a:srgbClr val="FFFFFF"/>
                </a:solidFill>
                <a:latin typeface="Comic Sans MS"/>
                <a:cs typeface="Comic Sans MS"/>
              </a:rPr>
              <a:t>are </a:t>
            </a:r>
            <a:r>
              <a:rPr dirty="0" sz="2400" u="heavy">
                <a:solidFill>
                  <a:srgbClr val="FFFFFF"/>
                </a:solidFill>
                <a:latin typeface="Comic Sans MS"/>
                <a:cs typeface="Comic Sans MS"/>
              </a:rPr>
              <a:t>poorly</a:t>
            </a:r>
            <a:r>
              <a:rPr dirty="0" sz="2400" spc="-85" u="heavy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2400" spc="-5" u="heavy">
                <a:solidFill>
                  <a:srgbClr val="FFFFFF"/>
                </a:solidFill>
                <a:latin typeface="Comic Sans MS"/>
                <a:cs typeface="Comic Sans MS"/>
              </a:rPr>
              <a:t>oxygenated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.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 marR="13843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•</a:t>
            </a:r>
            <a:r>
              <a:rPr dirty="0" sz="2400" spc="-5" u="heavy">
                <a:solidFill>
                  <a:srgbClr val="FFFFFF"/>
                </a:solidFill>
                <a:latin typeface="Comic Sans MS"/>
                <a:cs typeface="Comic Sans MS"/>
              </a:rPr>
              <a:t>Nitric oxide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produced by </a:t>
            </a:r>
            <a:r>
              <a:rPr dirty="0" sz="2400" spc="-5" u="heavy">
                <a:solidFill>
                  <a:srgbClr val="FFFFFF"/>
                </a:solidFill>
                <a:latin typeface="Comic Sans MS"/>
                <a:cs typeface="Comic Sans MS"/>
              </a:rPr>
              <a:t>endothelial </a:t>
            </a:r>
            <a:r>
              <a:rPr dirty="0" sz="2400" u="heavy">
                <a:solidFill>
                  <a:srgbClr val="FFFFFF"/>
                </a:solidFill>
                <a:latin typeface="Comic Sans MS"/>
                <a:cs typeface="Comic Sans MS"/>
              </a:rPr>
              <a:t>cells 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relaxes vascular  smooth muscle leading to</a:t>
            </a:r>
            <a:r>
              <a:rPr dirty="0" sz="2400" spc="-2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2400" spc="-5" u="heavy">
                <a:solidFill>
                  <a:srgbClr val="FFFFFF"/>
                </a:solidFill>
                <a:latin typeface="Comic Sans MS"/>
                <a:cs typeface="Comic Sans MS"/>
              </a:rPr>
              <a:t>vasodilation</a:t>
            </a:r>
            <a:r>
              <a:rPr dirty="0" sz="2400" spc="-5">
                <a:solidFill>
                  <a:srgbClr val="FFFFFF"/>
                </a:solidFill>
                <a:latin typeface="Comic Sans MS"/>
                <a:cs typeface="Comic Sans MS"/>
              </a:rPr>
              <a:t>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11988"/>
            <a:ext cx="5542280" cy="3048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>
                <a:latin typeface="Arial"/>
                <a:cs typeface="Arial"/>
              </a:rPr>
              <a:t>D. </a:t>
            </a:r>
            <a:r>
              <a:rPr dirty="0">
                <a:latin typeface="Arial"/>
                <a:cs typeface="Arial"/>
              </a:rPr>
              <a:t>Effects of Gravity on pulmonary blood</a:t>
            </a:r>
            <a:r>
              <a:rPr dirty="0" spc="-125">
                <a:latin typeface="Arial"/>
                <a:cs typeface="Arial"/>
              </a:rPr>
              <a:t> </a:t>
            </a:r>
            <a:r>
              <a:rPr dirty="0" spc="-5">
                <a:latin typeface="Arial"/>
                <a:cs typeface="Arial"/>
              </a:rPr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1371600" y="1981200"/>
            <a:ext cx="7010400" cy="3909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7340" y="6074145"/>
            <a:ext cx="8502015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</a:pP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Note that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somewhat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lower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blood flow observed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 the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bottom of the lung is due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extra-alveolar vessels being less expanded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low lung volumes.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(Reproduced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Respiratory Physiology-the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4846" y="877061"/>
            <a:ext cx="6705600" cy="1008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3740">
              <a:lnSpc>
                <a:spcPct val="10000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Pulmonary blood flow is affected by</a:t>
            </a:r>
            <a:r>
              <a:rPr dirty="0" sz="20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gravity.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Test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performed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dirty="0" sz="1800" spc="-5" u="heavy">
                <a:solidFill>
                  <a:srgbClr val="FFFFFF"/>
                </a:solidFill>
                <a:latin typeface="Arial"/>
                <a:cs typeface="Arial"/>
              </a:rPr>
              <a:t>injecting radioactive </a:t>
            </a:r>
            <a:r>
              <a:rPr dirty="0" sz="1800" spc="-10" u="heavy">
                <a:solidFill>
                  <a:srgbClr val="FFFFFF"/>
                </a:solidFill>
                <a:latin typeface="Arial"/>
                <a:cs typeface="Arial"/>
              </a:rPr>
              <a:t>Xenon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in a peripheral</a:t>
            </a:r>
            <a:r>
              <a:rPr dirty="0" sz="1800" spc="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vein.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800" y="990600"/>
            <a:ext cx="7080504" cy="4322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93594" y="6062167"/>
            <a:ext cx="425132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Physiology-the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5449519"/>
            <a:ext cx="7229475" cy="289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Figure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18b: Distribution of blood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flow as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described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as West’s</a:t>
            </a:r>
            <a:r>
              <a:rPr dirty="0" sz="1800" spc="2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zones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558546"/>
            <a:ext cx="6975475" cy="32004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/>
              <a:t>D. </a:t>
            </a:r>
            <a:r>
              <a:rPr dirty="0"/>
              <a:t>Effects of Gravity on pulmonary blood flow</a:t>
            </a:r>
            <a:r>
              <a:rPr dirty="0" spc="-165"/>
              <a:t> </a:t>
            </a:r>
            <a:r>
              <a:rPr dirty="0"/>
              <a:t>(Cont’ed)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304800"/>
            <a:ext cx="5929884" cy="624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125" y="61467"/>
            <a:ext cx="3817620" cy="49657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b="0" u="none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3200" spc="-5" b="0" u="none">
                <a:solidFill>
                  <a:srgbClr val="FFFFFF"/>
                </a:solidFill>
                <a:latin typeface="Arial"/>
                <a:cs typeface="Arial"/>
              </a:rPr>
              <a:t>Starling</a:t>
            </a:r>
            <a:r>
              <a:rPr dirty="0" sz="3200" spc="-90" b="0" u="none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b="0" u="none">
                <a:solidFill>
                  <a:srgbClr val="FFFFFF"/>
                </a:solidFill>
                <a:latin typeface="Arial"/>
                <a:cs typeface="Arial"/>
              </a:rPr>
              <a:t>Resistor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125" y="549147"/>
            <a:ext cx="1539240" cy="49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spc="-5">
                <a:solidFill>
                  <a:srgbClr val="FFFFFF"/>
                </a:solidFill>
                <a:latin typeface="Arial"/>
                <a:cs typeface="Arial"/>
              </a:rPr>
              <a:t>Concept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48118" y="116078"/>
            <a:ext cx="1115695" cy="5149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5"/>
              </a:lnSpc>
            </a:pPr>
            <a:r>
              <a:rPr dirty="0" sz="1800" spc="-5">
                <a:solidFill>
                  <a:srgbClr val="66CCFF"/>
                </a:solidFill>
                <a:latin typeface="Arial"/>
                <a:cs typeface="Arial"/>
              </a:rPr>
              <a:t>P</a:t>
            </a:r>
            <a:r>
              <a:rPr dirty="0" sz="1800" spc="-15">
                <a:solidFill>
                  <a:srgbClr val="66CCFF"/>
                </a:solidFill>
                <a:latin typeface="Arial"/>
                <a:cs typeface="Arial"/>
              </a:rPr>
              <a:t>u</a:t>
            </a:r>
            <a:r>
              <a:rPr dirty="0" sz="1800" spc="-5">
                <a:solidFill>
                  <a:srgbClr val="66CCFF"/>
                </a:solidFill>
                <a:latin typeface="Arial"/>
                <a:cs typeface="Arial"/>
              </a:rPr>
              <a:t>lm</a:t>
            </a:r>
            <a:r>
              <a:rPr dirty="0" sz="1800" spc="-15">
                <a:solidFill>
                  <a:srgbClr val="66CCFF"/>
                </a:solidFill>
                <a:latin typeface="Arial"/>
                <a:cs typeface="Arial"/>
              </a:rPr>
              <a:t>o</a:t>
            </a:r>
            <a:r>
              <a:rPr dirty="0" sz="1800" spc="-5">
                <a:solidFill>
                  <a:srgbClr val="66CCFF"/>
                </a:solidFill>
                <a:latin typeface="Arial"/>
                <a:cs typeface="Arial"/>
              </a:rPr>
              <a:t>n</a:t>
            </a:r>
            <a:r>
              <a:rPr dirty="0" sz="1800" spc="-15">
                <a:solidFill>
                  <a:srgbClr val="66CCFF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66CCFF"/>
                </a:solidFill>
                <a:latin typeface="Arial"/>
                <a:cs typeface="Arial"/>
              </a:rPr>
              <a:t>ry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5"/>
              </a:lnSpc>
            </a:pPr>
            <a:r>
              <a:rPr dirty="0" sz="1800" spc="-5">
                <a:solidFill>
                  <a:srgbClr val="66CCFF"/>
                </a:solidFill>
                <a:latin typeface="Arial"/>
                <a:cs typeface="Arial"/>
              </a:rPr>
              <a:t>Circulation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43471" y="4636008"/>
            <a:ext cx="321945" cy="1042669"/>
          </a:xfrm>
          <a:custGeom>
            <a:avLst/>
            <a:gdLst/>
            <a:ahLst/>
            <a:cxnLst/>
            <a:rect l="l" t="t" r="r" b="b"/>
            <a:pathLst>
              <a:path w="321945" h="1042670">
                <a:moveTo>
                  <a:pt x="0" y="1042415"/>
                </a:moveTo>
                <a:lnTo>
                  <a:pt x="321564" y="1042415"/>
                </a:lnTo>
                <a:lnTo>
                  <a:pt x="321564" y="0"/>
                </a:lnTo>
                <a:lnTo>
                  <a:pt x="0" y="0"/>
                </a:lnTo>
                <a:lnTo>
                  <a:pt x="0" y="10424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43471" y="4636008"/>
            <a:ext cx="321945" cy="1042669"/>
          </a:xfrm>
          <a:custGeom>
            <a:avLst/>
            <a:gdLst/>
            <a:ahLst/>
            <a:cxnLst/>
            <a:rect l="l" t="t" r="r" b="b"/>
            <a:pathLst>
              <a:path w="321945" h="1042670">
                <a:moveTo>
                  <a:pt x="0" y="1042415"/>
                </a:moveTo>
                <a:lnTo>
                  <a:pt x="321564" y="1042415"/>
                </a:lnTo>
                <a:lnTo>
                  <a:pt x="321564" y="0"/>
                </a:lnTo>
                <a:lnTo>
                  <a:pt x="0" y="0"/>
                </a:lnTo>
                <a:lnTo>
                  <a:pt x="0" y="1042415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86371" y="4802123"/>
            <a:ext cx="1891664" cy="320040"/>
          </a:xfrm>
          <a:custGeom>
            <a:avLst/>
            <a:gdLst/>
            <a:ahLst/>
            <a:cxnLst/>
            <a:rect l="l" t="t" r="r" b="b"/>
            <a:pathLst>
              <a:path w="1891665" h="320039">
                <a:moveTo>
                  <a:pt x="0" y="320039"/>
                </a:moveTo>
                <a:lnTo>
                  <a:pt x="1891283" y="320039"/>
                </a:lnTo>
                <a:lnTo>
                  <a:pt x="1891283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86371" y="4802123"/>
            <a:ext cx="1891664" cy="320040"/>
          </a:xfrm>
          <a:custGeom>
            <a:avLst/>
            <a:gdLst/>
            <a:ahLst/>
            <a:cxnLst/>
            <a:rect l="l" t="t" r="r" b="b"/>
            <a:pathLst>
              <a:path w="1891665" h="320039">
                <a:moveTo>
                  <a:pt x="0" y="320039"/>
                </a:moveTo>
                <a:lnTo>
                  <a:pt x="1891283" y="320039"/>
                </a:lnTo>
                <a:lnTo>
                  <a:pt x="1891283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52159" y="5786628"/>
            <a:ext cx="934719" cy="352425"/>
          </a:xfrm>
          <a:custGeom>
            <a:avLst/>
            <a:gdLst/>
            <a:ahLst/>
            <a:cxnLst/>
            <a:rect l="l" t="t" r="r" b="b"/>
            <a:pathLst>
              <a:path w="934720" h="352425">
                <a:moveTo>
                  <a:pt x="0" y="352044"/>
                </a:moveTo>
                <a:lnTo>
                  <a:pt x="934212" y="352044"/>
                </a:lnTo>
                <a:lnTo>
                  <a:pt x="934212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52159" y="5786628"/>
            <a:ext cx="934719" cy="352425"/>
          </a:xfrm>
          <a:custGeom>
            <a:avLst/>
            <a:gdLst/>
            <a:ahLst/>
            <a:cxnLst/>
            <a:rect l="l" t="t" r="r" b="b"/>
            <a:pathLst>
              <a:path w="934720" h="352425">
                <a:moveTo>
                  <a:pt x="0" y="352044"/>
                </a:moveTo>
                <a:lnTo>
                  <a:pt x="934212" y="352044"/>
                </a:lnTo>
                <a:lnTo>
                  <a:pt x="934212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76700" y="5730240"/>
            <a:ext cx="1767839" cy="445134"/>
          </a:xfrm>
          <a:custGeom>
            <a:avLst/>
            <a:gdLst/>
            <a:ahLst/>
            <a:cxnLst/>
            <a:rect l="l" t="t" r="r" b="b"/>
            <a:pathLst>
              <a:path w="1767839" h="445135">
                <a:moveTo>
                  <a:pt x="1137792" y="441833"/>
                </a:moveTo>
                <a:lnTo>
                  <a:pt x="658622" y="441833"/>
                </a:lnTo>
                <a:lnTo>
                  <a:pt x="706120" y="445008"/>
                </a:lnTo>
                <a:lnTo>
                  <a:pt x="1090167" y="445008"/>
                </a:lnTo>
                <a:lnTo>
                  <a:pt x="1137792" y="441833"/>
                </a:lnTo>
                <a:close/>
              </a:path>
              <a:path w="1767839" h="445135">
                <a:moveTo>
                  <a:pt x="1280667" y="438645"/>
                </a:moveTo>
                <a:lnTo>
                  <a:pt x="515747" y="438645"/>
                </a:lnTo>
                <a:lnTo>
                  <a:pt x="563372" y="441833"/>
                </a:lnTo>
                <a:lnTo>
                  <a:pt x="1233042" y="441833"/>
                </a:lnTo>
                <a:lnTo>
                  <a:pt x="1280667" y="438645"/>
                </a:lnTo>
                <a:close/>
              </a:path>
              <a:path w="1767839" h="445135">
                <a:moveTo>
                  <a:pt x="1090167" y="3175"/>
                </a:moveTo>
                <a:lnTo>
                  <a:pt x="650621" y="3175"/>
                </a:lnTo>
                <a:lnTo>
                  <a:pt x="585597" y="6362"/>
                </a:lnTo>
                <a:lnTo>
                  <a:pt x="523748" y="7950"/>
                </a:lnTo>
                <a:lnTo>
                  <a:pt x="463423" y="7950"/>
                </a:lnTo>
                <a:lnTo>
                  <a:pt x="401447" y="11125"/>
                </a:lnTo>
                <a:lnTo>
                  <a:pt x="342773" y="17487"/>
                </a:lnTo>
                <a:lnTo>
                  <a:pt x="282448" y="19075"/>
                </a:lnTo>
                <a:lnTo>
                  <a:pt x="223774" y="22250"/>
                </a:lnTo>
                <a:lnTo>
                  <a:pt x="166624" y="28613"/>
                </a:lnTo>
                <a:lnTo>
                  <a:pt x="109474" y="33375"/>
                </a:lnTo>
                <a:lnTo>
                  <a:pt x="52324" y="39738"/>
                </a:lnTo>
                <a:lnTo>
                  <a:pt x="0" y="44500"/>
                </a:lnTo>
                <a:lnTo>
                  <a:pt x="6350" y="416394"/>
                </a:lnTo>
                <a:lnTo>
                  <a:pt x="109474" y="421170"/>
                </a:lnTo>
                <a:lnTo>
                  <a:pt x="239649" y="430707"/>
                </a:lnTo>
                <a:lnTo>
                  <a:pt x="284099" y="432295"/>
                </a:lnTo>
                <a:lnTo>
                  <a:pt x="328549" y="432295"/>
                </a:lnTo>
                <a:lnTo>
                  <a:pt x="420497" y="438645"/>
                </a:lnTo>
                <a:lnTo>
                  <a:pt x="1325117" y="438645"/>
                </a:lnTo>
                <a:lnTo>
                  <a:pt x="1372742" y="435470"/>
                </a:lnTo>
                <a:lnTo>
                  <a:pt x="1420240" y="435470"/>
                </a:lnTo>
                <a:lnTo>
                  <a:pt x="1464690" y="432295"/>
                </a:lnTo>
                <a:lnTo>
                  <a:pt x="1509140" y="430707"/>
                </a:lnTo>
                <a:lnTo>
                  <a:pt x="1553590" y="430707"/>
                </a:lnTo>
                <a:lnTo>
                  <a:pt x="1685289" y="421170"/>
                </a:lnTo>
                <a:lnTo>
                  <a:pt x="1726564" y="419582"/>
                </a:lnTo>
                <a:lnTo>
                  <a:pt x="1767839" y="416394"/>
                </a:lnTo>
                <a:lnTo>
                  <a:pt x="1767839" y="44500"/>
                </a:lnTo>
                <a:lnTo>
                  <a:pt x="1634489" y="30200"/>
                </a:lnTo>
                <a:lnTo>
                  <a:pt x="1575815" y="25425"/>
                </a:lnTo>
                <a:lnTo>
                  <a:pt x="1517141" y="22250"/>
                </a:lnTo>
                <a:lnTo>
                  <a:pt x="1458340" y="17487"/>
                </a:lnTo>
                <a:lnTo>
                  <a:pt x="1277492" y="7950"/>
                </a:lnTo>
                <a:lnTo>
                  <a:pt x="1215644" y="6362"/>
                </a:lnTo>
                <a:lnTo>
                  <a:pt x="1155319" y="6362"/>
                </a:lnTo>
                <a:lnTo>
                  <a:pt x="1090167" y="3175"/>
                </a:lnTo>
                <a:close/>
              </a:path>
              <a:path w="1767839" h="445135">
                <a:moveTo>
                  <a:pt x="901319" y="0"/>
                </a:moveTo>
                <a:lnTo>
                  <a:pt x="839470" y="0"/>
                </a:lnTo>
                <a:lnTo>
                  <a:pt x="775970" y="3175"/>
                </a:lnTo>
                <a:lnTo>
                  <a:pt x="964819" y="3175"/>
                </a:lnTo>
                <a:lnTo>
                  <a:pt x="9013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76700" y="5730240"/>
            <a:ext cx="1767839" cy="445134"/>
          </a:xfrm>
          <a:custGeom>
            <a:avLst/>
            <a:gdLst/>
            <a:ahLst/>
            <a:cxnLst/>
            <a:rect l="l" t="t" r="r" b="b"/>
            <a:pathLst>
              <a:path w="1767839" h="445135">
                <a:moveTo>
                  <a:pt x="0" y="44500"/>
                </a:moveTo>
                <a:lnTo>
                  <a:pt x="52324" y="39738"/>
                </a:lnTo>
                <a:lnTo>
                  <a:pt x="109474" y="33375"/>
                </a:lnTo>
                <a:lnTo>
                  <a:pt x="166624" y="28613"/>
                </a:lnTo>
                <a:lnTo>
                  <a:pt x="223774" y="22250"/>
                </a:lnTo>
                <a:lnTo>
                  <a:pt x="282448" y="19075"/>
                </a:lnTo>
                <a:lnTo>
                  <a:pt x="342773" y="17487"/>
                </a:lnTo>
                <a:lnTo>
                  <a:pt x="401447" y="11125"/>
                </a:lnTo>
                <a:lnTo>
                  <a:pt x="463423" y="7950"/>
                </a:lnTo>
                <a:lnTo>
                  <a:pt x="523748" y="7950"/>
                </a:lnTo>
                <a:lnTo>
                  <a:pt x="585597" y="6362"/>
                </a:lnTo>
                <a:lnTo>
                  <a:pt x="650621" y="3175"/>
                </a:lnTo>
                <a:lnTo>
                  <a:pt x="710946" y="3175"/>
                </a:lnTo>
                <a:lnTo>
                  <a:pt x="775970" y="3175"/>
                </a:lnTo>
                <a:lnTo>
                  <a:pt x="839470" y="0"/>
                </a:lnTo>
                <a:lnTo>
                  <a:pt x="901319" y="0"/>
                </a:lnTo>
                <a:lnTo>
                  <a:pt x="964819" y="3175"/>
                </a:lnTo>
                <a:lnTo>
                  <a:pt x="1029970" y="3175"/>
                </a:lnTo>
                <a:lnTo>
                  <a:pt x="1090167" y="3175"/>
                </a:lnTo>
                <a:lnTo>
                  <a:pt x="1155319" y="6362"/>
                </a:lnTo>
                <a:lnTo>
                  <a:pt x="1215644" y="6362"/>
                </a:lnTo>
                <a:lnTo>
                  <a:pt x="1277492" y="7950"/>
                </a:lnTo>
                <a:lnTo>
                  <a:pt x="1339341" y="11125"/>
                </a:lnTo>
                <a:lnTo>
                  <a:pt x="1399666" y="14300"/>
                </a:lnTo>
                <a:lnTo>
                  <a:pt x="1458340" y="17487"/>
                </a:lnTo>
                <a:lnTo>
                  <a:pt x="1517141" y="22250"/>
                </a:lnTo>
                <a:lnTo>
                  <a:pt x="1575815" y="25425"/>
                </a:lnTo>
                <a:lnTo>
                  <a:pt x="1634489" y="30200"/>
                </a:lnTo>
                <a:lnTo>
                  <a:pt x="1767839" y="44500"/>
                </a:lnTo>
                <a:lnTo>
                  <a:pt x="1767839" y="42913"/>
                </a:lnTo>
                <a:lnTo>
                  <a:pt x="1767839" y="416394"/>
                </a:lnTo>
                <a:lnTo>
                  <a:pt x="1726564" y="419582"/>
                </a:lnTo>
                <a:lnTo>
                  <a:pt x="1685289" y="421170"/>
                </a:lnTo>
                <a:lnTo>
                  <a:pt x="1640839" y="424345"/>
                </a:lnTo>
                <a:lnTo>
                  <a:pt x="1598040" y="427520"/>
                </a:lnTo>
                <a:lnTo>
                  <a:pt x="1553590" y="430707"/>
                </a:lnTo>
                <a:lnTo>
                  <a:pt x="1509140" y="430707"/>
                </a:lnTo>
                <a:lnTo>
                  <a:pt x="1464690" y="432295"/>
                </a:lnTo>
                <a:lnTo>
                  <a:pt x="1420240" y="435470"/>
                </a:lnTo>
                <a:lnTo>
                  <a:pt x="1372742" y="435470"/>
                </a:lnTo>
                <a:lnTo>
                  <a:pt x="1325117" y="438645"/>
                </a:lnTo>
                <a:lnTo>
                  <a:pt x="1280667" y="438645"/>
                </a:lnTo>
                <a:lnTo>
                  <a:pt x="1233042" y="441833"/>
                </a:lnTo>
                <a:lnTo>
                  <a:pt x="1185417" y="441833"/>
                </a:lnTo>
                <a:lnTo>
                  <a:pt x="1137792" y="441833"/>
                </a:lnTo>
                <a:lnTo>
                  <a:pt x="1090167" y="445008"/>
                </a:lnTo>
                <a:lnTo>
                  <a:pt x="1042670" y="445008"/>
                </a:lnTo>
                <a:lnTo>
                  <a:pt x="706120" y="445008"/>
                </a:lnTo>
                <a:lnTo>
                  <a:pt x="658622" y="441833"/>
                </a:lnTo>
                <a:lnTo>
                  <a:pt x="610997" y="441833"/>
                </a:lnTo>
                <a:lnTo>
                  <a:pt x="563372" y="441833"/>
                </a:lnTo>
                <a:lnTo>
                  <a:pt x="515747" y="438645"/>
                </a:lnTo>
                <a:lnTo>
                  <a:pt x="468122" y="438645"/>
                </a:lnTo>
                <a:lnTo>
                  <a:pt x="420497" y="438645"/>
                </a:lnTo>
                <a:lnTo>
                  <a:pt x="376047" y="435470"/>
                </a:lnTo>
                <a:lnTo>
                  <a:pt x="328549" y="432295"/>
                </a:lnTo>
                <a:lnTo>
                  <a:pt x="284099" y="432295"/>
                </a:lnTo>
                <a:lnTo>
                  <a:pt x="239649" y="430707"/>
                </a:lnTo>
                <a:lnTo>
                  <a:pt x="195199" y="427520"/>
                </a:lnTo>
                <a:lnTo>
                  <a:pt x="150749" y="424345"/>
                </a:lnTo>
                <a:lnTo>
                  <a:pt x="109474" y="421170"/>
                </a:lnTo>
                <a:lnTo>
                  <a:pt x="6350" y="416394"/>
                </a:lnTo>
                <a:lnTo>
                  <a:pt x="0" y="44500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35251" y="2429255"/>
            <a:ext cx="349250" cy="3717290"/>
          </a:xfrm>
          <a:custGeom>
            <a:avLst/>
            <a:gdLst/>
            <a:ahLst/>
            <a:cxnLst/>
            <a:rect l="l" t="t" r="r" b="b"/>
            <a:pathLst>
              <a:path w="349250" h="3717290">
                <a:moveTo>
                  <a:pt x="0" y="3717036"/>
                </a:moveTo>
                <a:lnTo>
                  <a:pt x="348995" y="3717036"/>
                </a:lnTo>
                <a:lnTo>
                  <a:pt x="348995" y="0"/>
                </a:lnTo>
                <a:lnTo>
                  <a:pt x="0" y="0"/>
                </a:lnTo>
                <a:lnTo>
                  <a:pt x="0" y="37170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35251" y="2429255"/>
            <a:ext cx="349250" cy="3717290"/>
          </a:xfrm>
          <a:custGeom>
            <a:avLst/>
            <a:gdLst/>
            <a:ahLst/>
            <a:cxnLst/>
            <a:rect l="l" t="t" r="r" b="b"/>
            <a:pathLst>
              <a:path w="349250" h="3717290">
                <a:moveTo>
                  <a:pt x="0" y="3717036"/>
                </a:moveTo>
                <a:lnTo>
                  <a:pt x="348995" y="3717036"/>
                </a:lnTo>
                <a:lnTo>
                  <a:pt x="348995" y="0"/>
                </a:lnTo>
                <a:lnTo>
                  <a:pt x="0" y="0"/>
                </a:lnTo>
                <a:lnTo>
                  <a:pt x="0" y="3717036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55292" y="5786628"/>
            <a:ext cx="2091055" cy="352425"/>
          </a:xfrm>
          <a:custGeom>
            <a:avLst/>
            <a:gdLst/>
            <a:ahLst/>
            <a:cxnLst/>
            <a:rect l="l" t="t" r="r" b="b"/>
            <a:pathLst>
              <a:path w="2091054" h="352425">
                <a:moveTo>
                  <a:pt x="0" y="352044"/>
                </a:moveTo>
                <a:lnTo>
                  <a:pt x="2090928" y="352044"/>
                </a:lnTo>
                <a:lnTo>
                  <a:pt x="2090928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55292" y="5786628"/>
            <a:ext cx="2091055" cy="352425"/>
          </a:xfrm>
          <a:custGeom>
            <a:avLst/>
            <a:gdLst/>
            <a:ahLst/>
            <a:cxnLst/>
            <a:rect l="l" t="t" r="r" b="b"/>
            <a:pathLst>
              <a:path w="2091054" h="352425">
                <a:moveTo>
                  <a:pt x="0" y="352044"/>
                </a:moveTo>
                <a:lnTo>
                  <a:pt x="2090928" y="352044"/>
                </a:lnTo>
                <a:lnTo>
                  <a:pt x="2090928" y="0"/>
                </a:lnTo>
                <a:lnTo>
                  <a:pt x="0" y="0"/>
                </a:lnTo>
                <a:lnTo>
                  <a:pt x="0" y="352044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38643" y="4581144"/>
            <a:ext cx="1245235" cy="241300"/>
          </a:xfrm>
          <a:custGeom>
            <a:avLst/>
            <a:gdLst/>
            <a:ahLst/>
            <a:cxnLst/>
            <a:rect l="l" t="t" r="r" b="b"/>
            <a:pathLst>
              <a:path w="1245234" h="241300">
                <a:moveTo>
                  <a:pt x="0" y="0"/>
                </a:moveTo>
                <a:lnTo>
                  <a:pt x="0" y="240791"/>
                </a:lnTo>
                <a:lnTo>
                  <a:pt x="1245107" y="240791"/>
                </a:lnTo>
                <a:lnTo>
                  <a:pt x="1245107" y="55752"/>
                </a:lnTo>
                <a:lnTo>
                  <a:pt x="547877" y="55752"/>
                </a:lnTo>
                <a:lnTo>
                  <a:pt x="466851" y="54228"/>
                </a:lnTo>
                <a:lnTo>
                  <a:pt x="385952" y="47878"/>
                </a:lnTo>
                <a:lnTo>
                  <a:pt x="304926" y="43052"/>
                </a:lnTo>
                <a:lnTo>
                  <a:pt x="225551" y="33527"/>
                </a:lnTo>
                <a:lnTo>
                  <a:pt x="150875" y="25526"/>
                </a:lnTo>
                <a:lnTo>
                  <a:pt x="0" y="0"/>
                </a:lnTo>
                <a:close/>
              </a:path>
              <a:path w="1245234" h="241300">
                <a:moveTo>
                  <a:pt x="1245107" y="0"/>
                </a:moveTo>
                <a:lnTo>
                  <a:pt x="1175257" y="11175"/>
                </a:lnTo>
                <a:lnTo>
                  <a:pt x="1102232" y="25526"/>
                </a:lnTo>
                <a:lnTo>
                  <a:pt x="1027556" y="33527"/>
                </a:lnTo>
                <a:lnTo>
                  <a:pt x="951356" y="43052"/>
                </a:lnTo>
                <a:lnTo>
                  <a:pt x="870330" y="47878"/>
                </a:lnTo>
                <a:lnTo>
                  <a:pt x="789304" y="54228"/>
                </a:lnTo>
                <a:lnTo>
                  <a:pt x="708278" y="55752"/>
                </a:lnTo>
                <a:lnTo>
                  <a:pt x="1245107" y="55752"/>
                </a:lnTo>
                <a:lnTo>
                  <a:pt x="12451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38643" y="4581144"/>
            <a:ext cx="1245235" cy="241300"/>
          </a:xfrm>
          <a:custGeom>
            <a:avLst/>
            <a:gdLst/>
            <a:ahLst/>
            <a:cxnLst/>
            <a:rect l="l" t="t" r="r" b="b"/>
            <a:pathLst>
              <a:path w="1245234" h="241300">
                <a:moveTo>
                  <a:pt x="0" y="0"/>
                </a:moveTo>
                <a:lnTo>
                  <a:pt x="0" y="240791"/>
                </a:lnTo>
                <a:lnTo>
                  <a:pt x="1245107" y="240791"/>
                </a:lnTo>
                <a:lnTo>
                  <a:pt x="1245107" y="0"/>
                </a:lnTo>
                <a:lnTo>
                  <a:pt x="1175257" y="11175"/>
                </a:lnTo>
                <a:lnTo>
                  <a:pt x="1102232" y="25526"/>
                </a:lnTo>
                <a:lnTo>
                  <a:pt x="1027556" y="33527"/>
                </a:lnTo>
                <a:lnTo>
                  <a:pt x="951356" y="43052"/>
                </a:lnTo>
                <a:lnTo>
                  <a:pt x="870330" y="47878"/>
                </a:lnTo>
                <a:lnTo>
                  <a:pt x="789304" y="54228"/>
                </a:lnTo>
                <a:lnTo>
                  <a:pt x="708278" y="55752"/>
                </a:lnTo>
                <a:lnTo>
                  <a:pt x="628903" y="55752"/>
                </a:lnTo>
                <a:lnTo>
                  <a:pt x="547877" y="55752"/>
                </a:lnTo>
                <a:lnTo>
                  <a:pt x="466851" y="54228"/>
                </a:lnTo>
                <a:lnTo>
                  <a:pt x="385952" y="47878"/>
                </a:lnTo>
                <a:lnTo>
                  <a:pt x="304926" y="43052"/>
                </a:lnTo>
                <a:lnTo>
                  <a:pt x="225551" y="33527"/>
                </a:lnTo>
                <a:lnTo>
                  <a:pt x="150875" y="2552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01128" y="4706111"/>
            <a:ext cx="169545" cy="1905"/>
          </a:xfrm>
          <a:custGeom>
            <a:avLst/>
            <a:gdLst/>
            <a:ahLst/>
            <a:cxnLst/>
            <a:rect l="l" t="t" r="r" b="b"/>
            <a:pathLst>
              <a:path w="169545" h="1904">
                <a:moveTo>
                  <a:pt x="0" y="0"/>
                </a:moveTo>
                <a:lnTo>
                  <a:pt x="169164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02880" y="4768596"/>
            <a:ext cx="192405" cy="1905"/>
          </a:xfrm>
          <a:custGeom>
            <a:avLst/>
            <a:gdLst/>
            <a:ahLst/>
            <a:cxnLst/>
            <a:rect l="l" t="t" r="r" b="b"/>
            <a:pathLst>
              <a:path w="192404" h="1904">
                <a:moveTo>
                  <a:pt x="0" y="0"/>
                </a:moveTo>
                <a:lnTo>
                  <a:pt x="192024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170164" y="4683252"/>
            <a:ext cx="170815" cy="1905"/>
          </a:xfrm>
          <a:custGeom>
            <a:avLst/>
            <a:gdLst/>
            <a:ahLst/>
            <a:cxnLst/>
            <a:rect l="l" t="t" r="r" b="b"/>
            <a:pathLst>
              <a:path w="170815" h="1904">
                <a:moveTo>
                  <a:pt x="0" y="0"/>
                </a:moveTo>
                <a:lnTo>
                  <a:pt x="170687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170164" y="4791455"/>
            <a:ext cx="381000" cy="21590"/>
          </a:xfrm>
          <a:custGeom>
            <a:avLst/>
            <a:gdLst/>
            <a:ahLst/>
            <a:cxnLst/>
            <a:rect l="l" t="t" r="r" b="b"/>
            <a:pathLst>
              <a:path w="381000" h="21589">
                <a:moveTo>
                  <a:pt x="0" y="0"/>
                </a:moveTo>
                <a:lnTo>
                  <a:pt x="381000" y="213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16011" y="4812791"/>
            <a:ext cx="192405" cy="1905"/>
          </a:xfrm>
          <a:custGeom>
            <a:avLst/>
            <a:gdLst/>
            <a:ahLst/>
            <a:cxnLst/>
            <a:rect l="l" t="t" r="r" b="b"/>
            <a:pathLst>
              <a:path w="192404" h="1904">
                <a:moveTo>
                  <a:pt x="0" y="0"/>
                </a:moveTo>
                <a:lnTo>
                  <a:pt x="192024" y="152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54786" y="1936242"/>
            <a:ext cx="1666239" cy="471170"/>
          </a:xfrm>
          <a:custGeom>
            <a:avLst/>
            <a:gdLst/>
            <a:ahLst/>
            <a:cxnLst/>
            <a:rect l="l" t="t" r="r" b="b"/>
            <a:pathLst>
              <a:path w="1666239" h="471169">
                <a:moveTo>
                  <a:pt x="0" y="0"/>
                </a:moveTo>
                <a:lnTo>
                  <a:pt x="0" y="470916"/>
                </a:lnTo>
                <a:lnTo>
                  <a:pt x="1665732" y="467741"/>
                </a:lnTo>
                <a:lnTo>
                  <a:pt x="1665732" y="96774"/>
                </a:lnTo>
                <a:lnTo>
                  <a:pt x="843152" y="96774"/>
                </a:lnTo>
                <a:lnTo>
                  <a:pt x="744727" y="95123"/>
                </a:lnTo>
                <a:lnTo>
                  <a:pt x="651001" y="88773"/>
                </a:lnTo>
                <a:lnTo>
                  <a:pt x="471550" y="72898"/>
                </a:lnTo>
                <a:lnTo>
                  <a:pt x="385825" y="60198"/>
                </a:lnTo>
                <a:lnTo>
                  <a:pt x="301701" y="49149"/>
                </a:lnTo>
                <a:lnTo>
                  <a:pt x="223900" y="36449"/>
                </a:lnTo>
                <a:lnTo>
                  <a:pt x="147675" y="25400"/>
                </a:lnTo>
                <a:lnTo>
                  <a:pt x="0" y="0"/>
                </a:lnTo>
                <a:close/>
              </a:path>
              <a:path w="1666239" h="471169">
                <a:moveTo>
                  <a:pt x="1665732" y="0"/>
                </a:moveTo>
                <a:lnTo>
                  <a:pt x="1560957" y="26924"/>
                </a:lnTo>
                <a:lnTo>
                  <a:pt x="1454531" y="49149"/>
                </a:lnTo>
                <a:lnTo>
                  <a:pt x="1351280" y="66548"/>
                </a:lnTo>
                <a:lnTo>
                  <a:pt x="1244981" y="80899"/>
                </a:lnTo>
                <a:lnTo>
                  <a:pt x="1141730" y="88773"/>
                </a:lnTo>
                <a:lnTo>
                  <a:pt x="1041653" y="95123"/>
                </a:lnTo>
                <a:lnTo>
                  <a:pt x="940053" y="96774"/>
                </a:lnTo>
                <a:lnTo>
                  <a:pt x="1665732" y="96774"/>
                </a:lnTo>
                <a:lnTo>
                  <a:pt x="1665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54786" y="1936242"/>
            <a:ext cx="1666239" cy="471170"/>
          </a:xfrm>
          <a:custGeom>
            <a:avLst/>
            <a:gdLst/>
            <a:ahLst/>
            <a:cxnLst/>
            <a:rect l="l" t="t" r="r" b="b"/>
            <a:pathLst>
              <a:path w="1666239" h="471169">
                <a:moveTo>
                  <a:pt x="0" y="0"/>
                </a:moveTo>
                <a:lnTo>
                  <a:pt x="0" y="470916"/>
                </a:lnTo>
                <a:lnTo>
                  <a:pt x="1665732" y="467741"/>
                </a:lnTo>
                <a:lnTo>
                  <a:pt x="1665732" y="0"/>
                </a:lnTo>
                <a:lnTo>
                  <a:pt x="1560957" y="26924"/>
                </a:lnTo>
                <a:lnTo>
                  <a:pt x="1454531" y="49149"/>
                </a:lnTo>
                <a:lnTo>
                  <a:pt x="1351280" y="66548"/>
                </a:lnTo>
                <a:lnTo>
                  <a:pt x="1244981" y="80899"/>
                </a:lnTo>
                <a:lnTo>
                  <a:pt x="1141730" y="88773"/>
                </a:lnTo>
                <a:lnTo>
                  <a:pt x="1041653" y="95123"/>
                </a:lnTo>
                <a:lnTo>
                  <a:pt x="940053" y="96774"/>
                </a:lnTo>
                <a:lnTo>
                  <a:pt x="843152" y="96774"/>
                </a:lnTo>
                <a:lnTo>
                  <a:pt x="744727" y="95123"/>
                </a:lnTo>
                <a:lnTo>
                  <a:pt x="651001" y="88773"/>
                </a:lnTo>
                <a:lnTo>
                  <a:pt x="558926" y="80899"/>
                </a:lnTo>
                <a:lnTo>
                  <a:pt x="471550" y="72898"/>
                </a:lnTo>
                <a:lnTo>
                  <a:pt x="385825" y="60198"/>
                </a:lnTo>
                <a:lnTo>
                  <a:pt x="301701" y="49149"/>
                </a:lnTo>
                <a:lnTo>
                  <a:pt x="223900" y="36449"/>
                </a:lnTo>
                <a:lnTo>
                  <a:pt x="147675" y="254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64563" y="2231135"/>
            <a:ext cx="254635" cy="41275"/>
          </a:xfrm>
          <a:custGeom>
            <a:avLst/>
            <a:gdLst/>
            <a:ahLst/>
            <a:cxnLst/>
            <a:rect l="l" t="t" r="r" b="b"/>
            <a:pathLst>
              <a:path w="254635" h="41275">
                <a:moveTo>
                  <a:pt x="0" y="0"/>
                </a:moveTo>
                <a:lnTo>
                  <a:pt x="254508" y="411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20367" y="2124455"/>
            <a:ext cx="635635" cy="20320"/>
          </a:xfrm>
          <a:custGeom>
            <a:avLst/>
            <a:gdLst/>
            <a:ahLst/>
            <a:cxnLst/>
            <a:rect l="l" t="t" r="r" b="b"/>
            <a:pathLst>
              <a:path w="635635" h="20319">
                <a:moveTo>
                  <a:pt x="0" y="0"/>
                </a:moveTo>
                <a:lnTo>
                  <a:pt x="635507" y="198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981200" y="2208276"/>
            <a:ext cx="276225" cy="1905"/>
          </a:xfrm>
          <a:custGeom>
            <a:avLst/>
            <a:gdLst/>
            <a:ahLst/>
            <a:cxnLst/>
            <a:rect l="l" t="t" r="r" b="b"/>
            <a:pathLst>
              <a:path w="276225" h="1905">
                <a:moveTo>
                  <a:pt x="0" y="0"/>
                </a:moveTo>
                <a:lnTo>
                  <a:pt x="275844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61616" y="2122932"/>
            <a:ext cx="213360" cy="21590"/>
          </a:xfrm>
          <a:custGeom>
            <a:avLst/>
            <a:gdLst/>
            <a:ahLst/>
            <a:cxnLst/>
            <a:rect l="l" t="t" r="r" b="b"/>
            <a:pathLst>
              <a:path w="213360" h="21589">
                <a:moveTo>
                  <a:pt x="0" y="21335"/>
                </a:moveTo>
                <a:lnTo>
                  <a:pt x="21335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13460" y="2101595"/>
            <a:ext cx="212090" cy="21590"/>
          </a:xfrm>
          <a:custGeom>
            <a:avLst/>
            <a:gdLst/>
            <a:ahLst/>
            <a:cxnLst/>
            <a:rect l="l" t="t" r="r" b="b"/>
            <a:pathLst>
              <a:path w="212090" h="21589">
                <a:moveTo>
                  <a:pt x="0" y="0"/>
                </a:moveTo>
                <a:lnTo>
                  <a:pt x="211836" y="213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91867" y="1815083"/>
            <a:ext cx="5439410" cy="3975100"/>
          </a:xfrm>
          <a:custGeom>
            <a:avLst/>
            <a:gdLst/>
            <a:ahLst/>
            <a:cxnLst/>
            <a:rect l="l" t="t" r="r" b="b"/>
            <a:pathLst>
              <a:path w="5439409" h="3975100">
                <a:moveTo>
                  <a:pt x="5439156" y="2660268"/>
                </a:moveTo>
                <a:lnTo>
                  <a:pt x="5439156" y="2990468"/>
                </a:lnTo>
                <a:lnTo>
                  <a:pt x="4451604" y="2990468"/>
                </a:lnTo>
                <a:lnTo>
                  <a:pt x="4451604" y="3974591"/>
                </a:lnTo>
                <a:lnTo>
                  <a:pt x="3911854" y="3974591"/>
                </a:lnTo>
                <a:lnTo>
                  <a:pt x="3840479" y="3966654"/>
                </a:lnTo>
                <a:lnTo>
                  <a:pt x="3767454" y="3955541"/>
                </a:lnTo>
                <a:lnTo>
                  <a:pt x="3694429" y="3949191"/>
                </a:lnTo>
                <a:lnTo>
                  <a:pt x="3619754" y="3941254"/>
                </a:lnTo>
                <a:lnTo>
                  <a:pt x="3546729" y="3934904"/>
                </a:lnTo>
                <a:lnTo>
                  <a:pt x="3473704" y="3926966"/>
                </a:lnTo>
                <a:lnTo>
                  <a:pt x="3399028" y="3923791"/>
                </a:lnTo>
                <a:lnTo>
                  <a:pt x="3326003" y="3919042"/>
                </a:lnTo>
                <a:lnTo>
                  <a:pt x="3252978" y="3915867"/>
                </a:lnTo>
                <a:lnTo>
                  <a:pt x="3178429" y="3912692"/>
                </a:lnTo>
                <a:lnTo>
                  <a:pt x="3105404" y="3912692"/>
                </a:lnTo>
                <a:lnTo>
                  <a:pt x="3030728" y="3911104"/>
                </a:lnTo>
                <a:lnTo>
                  <a:pt x="2957703" y="3911104"/>
                </a:lnTo>
                <a:lnTo>
                  <a:pt x="2884678" y="3912692"/>
                </a:lnTo>
                <a:lnTo>
                  <a:pt x="2810129" y="3912692"/>
                </a:lnTo>
                <a:lnTo>
                  <a:pt x="2737104" y="3915867"/>
                </a:lnTo>
                <a:lnTo>
                  <a:pt x="2662428" y="3919042"/>
                </a:lnTo>
                <a:lnTo>
                  <a:pt x="2589403" y="3923791"/>
                </a:lnTo>
                <a:lnTo>
                  <a:pt x="2516378" y="3926966"/>
                </a:lnTo>
                <a:lnTo>
                  <a:pt x="2441702" y="3934904"/>
                </a:lnTo>
                <a:lnTo>
                  <a:pt x="2368677" y="3941254"/>
                </a:lnTo>
                <a:lnTo>
                  <a:pt x="2297303" y="3949191"/>
                </a:lnTo>
                <a:lnTo>
                  <a:pt x="2224278" y="3955541"/>
                </a:lnTo>
                <a:lnTo>
                  <a:pt x="2076577" y="3974591"/>
                </a:lnTo>
                <a:lnTo>
                  <a:pt x="0" y="3974591"/>
                </a:lnTo>
                <a:lnTo>
                  <a:pt x="0" y="625348"/>
                </a:lnTo>
                <a:lnTo>
                  <a:pt x="647700" y="625348"/>
                </a:lnTo>
                <a:lnTo>
                  <a:pt x="647700" y="0"/>
                </a:lnTo>
              </a:path>
            </a:pathLst>
          </a:custGeom>
          <a:ln w="5791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466332" y="4739640"/>
            <a:ext cx="320040" cy="1045844"/>
          </a:xfrm>
          <a:custGeom>
            <a:avLst/>
            <a:gdLst/>
            <a:ahLst/>
            <a:cxnLst/>
            <a:rect l="l" t="t" r="r" b="b"/>
            <a:pathLst>
              <a:path w="320040" h="1045845">
                <a:moveTo>
                  <a:pt x="0" y="1045464"/>
                </a:moveTo>
                <a:lnTo>
                  <a:pt x="320039" y="1045464"/>
                </a:lnTo>
                <a:lnTo>
                  <a:pt x="320039" y="0"/>
                </a:lnTo>
                <a:lnTo>
                  <a:pt x="0" y="0"/>
                </a:lnTo>
                <a:lnTo>
                  <a:pt x="0" y="10454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466332" y="4739640"/>
            <a:ext cx="320040" cy="1045844"/>
          </a:xfrm>
          <a:custGeom>
            <a:avLst/>
            <a:gdLst/>
            <a:ahLst/>
            <a:cxnLst/>
            <a:rect l="l" t="t" r="r" b="b"/>
            <a:pathLst>
              <a:path w="320040" h="1045845">
                <a:moveTo>
                  <a:pt x="0" y="1045464"/>
                </a:moveTo>
                <a:lnTo>
                  <a:pt x="320039" y="1045464"/>
                </a:lnTo>
                <a:lnTo>
                  <a:pt x="320039" y="0"/>
                </a:lnTo>
                <a:lnTo>
                  <a:pt x="0" y="0"/>
                </a:lnTo>
                <a:lnTo>
                  <a:pt x="0" y="1045464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43355" y="1805939"/>
            <a:ext cx="7748270" cy="4381500"/>
          </a:xfrm>
          <a:custGeom>
            <a:avLst/>
            <a:gdLst/>
            <a:ahLst/>
            <a:cxnLst/>
            <a:rect l="l" t="t" r="r" b="b"/>
            <a:pathLst>
              <a:path w="7748270" h="4381500">
                <a:moveTo>
                  <a:pt x="0" y="0"/>
                </a:moveTo>
                <a:lnTo>
                  <a:pt x="0" y="636524"/>
                </a:lnTo>
                <a:lnTo>
                  <a:pt x="688975" y="636524"/>
                </a:lnTo>
                <a:lnTo>
                  <a:pt x="688975" y="4354512"/>
                </a:lnTo>
                <a:lnTo>
                  <a:pt x="3136646" y="4354512"/>
                </a:lnTo>
                <a:lnTo>
                  <a:pt x="3177921" y="4356100"/>
                </a:lnTo>
                <a:lnTo>
                  <a:pt x="3219196" y="4359275"/>
                </a:lnTo>
                <a:lnTo>
                  <a:pt x="3262122" y="4362450"/>
                </a:lnTo>
                <a:lnTo>
                  <a:pt x="3306572" y="4365625"/>
                </a:lnTo>
                <a:lnTo>
                  <a:pt x="3351022" y="4368800"/>
                </a:lnTo>
                <a:lnTo>
                  <a:pt x="3395472" y="4368800"/>
                </a:lnTo>
                <a:lnTo>
                  <a:pt x="3439795" y="4370387"/>
                </a:lnTo>
                <a:lnTo>
                  <a:pt x="3484245" y="4373562"/>
                </a:lnTo>
                <a:lnTo>
                  <a:pt x="3531870" y="4373562"/>
                </a:lnTo>
                <a:lnTo>
                  <a:pt x="3576320" y="4376737"/>
                </a:lnTo>
                <a:lnTo>
                  <a:pt x="3623945" y="4376737"/>
                </a:lnTo>
                <a:lnTo>
                  <a:pt x="3671570" y="4379912"/>
                </a:lnTo>
                <a:lnTo>
                  <a:pt x="3716020" y="4379912"/>
                </a:lnTo>
                <a:lnTo>
                  <a:pt x="3766820" y="4379912"/>
                </a:lnTo>
                <a:lnTo>
                  <a:pt x="3814445" y="4381500"/>
                </a:lnTo>
                <a:lnTo>
                  <a:pt x="4293870" y="4381500"/>
                </a:lnTo>
                <a:lnTo>
                  <a:pt x="4341495" y="4379912"/>
                </a:lnTo>
                <a:lnTo>
                  <a:pt x="4389120" y="4379912"/>
                </a:lnTo>
                <a:lnTo>
                  <a:pt x="4436745" y="4379912"/>
                </a:lnTo>
                <a:lnTo>
                  <a:pt x="4484370" y="4376737"/>
                </a:lnTo>
                <a:lnTo>
                  <a:pt x="4528820" y="4376737"/>
                </a:lnTo>
                <a:lnTo>
                  <a:pt x="4576445" y="4373562"/>
                </a:lnTo>
                <a:lnTo>
                  <a:pt x="4620895" y="4373562"/>
                </a:lnTo>
                <a:lnTo>
                  <a:pt x="4668520" y="4370387"/>
                </a:lnTo>
                <a:lnTo>
                  <a:pt x="4712970" y="4368800"/>
                </a:lnTo>
                <a:lnTo>
                  <a:pt x="4757420" y="4368800"/>
                </a:lnTo>
                <a:lnTo>
                  <a:pt x="4801870" y="4365625"/>
                </a:lnTo>
                <a:lnTo>
                  <a:pt x="4843145" y="4362450"/>
                </a:lnTo>
                <a:lnTo>
                  <a:pt x="4971669" y="4354512"/>
                </a:lnTo>
                <a:lnTo>
                  <a:pt x="5839968" y="4354512"/>
                </a:lnTo>
                <a:lnTo>
                  <a:pt x="5839968" y="3346450"/>
                </a:lnTo>
                <a:lnTo>
                  <a:pt x="7748016" y="3346450"/>
                </a:lnTo>
                <a:lnTo>
                  <a:pt x="7748016" y="2668524"/>
                </a:lnTo>
              </a:path>
            </a:pathLst>
          </a:custGeom>
          <a:ln w="579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79747" y="3659123"/>
            <a:ext cx="1338580" cy="350520"/>
          </a:xfrm>
          <a:custGeom>
            <a:avLst/>
            <a:gdLst/>
            <a:ahLst/>
            <a:cxnLst/>
            <a:rect l="l" t="t" r="r" b="b"/>
            <a:pathLst>
              <a:path w="1338579" h="350520">
                <a:moveTo>
                  <a:pt x="479298" y="0"/>
                </a:moveTo>
                <a:lnTo>
                  <a:pt x="0" y="0"/>
                </a:lnTo>
                <a:lnTo>
                  <a:pt x="0" y="350519"/>
                </a:lnTo>
                <a:lnTo>
                  <a:pt x="596773" y="350519"/>
                </a:lnTo>
                <a:lnTo>
                  <a:pt x="623824" y="345820"/>
                </a:lnTo>
                <a:lnTo>
                  <a:pt x="655574" y="336295"/>
                </a:lnTo>
                <a:lnTo>
                  <a:pt x="682498" y="331469"/>
                </a:lnTo>
                <a:lnTo>
                  <a:pt x="715899" y="325119"/>
                </a:lnTo>
                <a:lnTo>
                  <a:pt x="747649" y="320420"/>
                </a:lnTo>
                <a:lnTo>
                  <a:pt x="777748" y="310895"/>
                </a:lnTo>
                <a:lnTo>
                  <a:pt x="811149" y="306069"/>
                </a:lnTo>
                <a:lnTo>
                  <a:pt x="844423" y="299719"/>
                </a:lnTo>
                <a:lnTo>
                  <a:pt x="877824" y="295020"/>
                </a:lnTo>
                <a:lnTo>
                  <a:pt x="912622" y="288670"/>
                </a:lnTo>
                <a:lnTo>
                  <a:pt x="946023" y="283844"/>
                </a:lnTo>
                <a:lnTo>
                  <a:pt x="979297" y="277621"/>
                </a:lnTo>
                <a:lnTo>
                  <a:pt x="1012698" y="272795"/>
                </a:lnTo>
                <a:lnTo>
                  <a:pt x="1045972" y="266445"/>
                </a:lnTo>
                <a:lnTo>
                  <a:pt x="1079373" y="264921"/>
                </a:lnTo>
                <a:lnTo>
                  <a:pt x="1112647" y="258571"/>
                </a:lnTo>
                <a:lnTo>
                  <a:pt x="1142873" y="253745"/>
                </a:lnTo>
                <a:lnTo>
                  <a:pt x="1177798" y="250570"/>
                </a:lnTo>
                <a:lnTo>
                  <a:pt x="1211072" y="244220"/>
                </a:lnTo>
                <a:lnTo>
                  <a:pt x="1241298" y="242696"/>
                </a:lnTo>
                <a:lnTo>
                  <a:pt x="1271397" y="239521"/>
                </a:lnTo>
                <a:lnTo>
                  <a:pt x="1338072" y="231520"/>
                </a:lnTo>
                <a:lnTo>
                  <a:pt x="1338072" y="161798"/>
                </a:lnTo>
                <a:lnTo>
                  <a:pt x="1255522" y="152273"/>
                </a:lnTo>
                <a:lnTo>
                  <a:pt x="1223772" y="147446"/>
                </a:lnTo>
                <a:lnTo>
                  <a:pt x="1163447" y="141096"/>
                </a:lnTo>
                <a:lnTo>
                  <a:pt x="1131697" y="136398"/>
                </a:lnTo>
                <a:lnTo>
                  <a:pt x="1101598" y="130048"/>
                </a:lnTo>
                <a:lnTo>
                  <a:pt x="1068197" y="128524"/>
                </a:lnTo>
                <a:lnTo>
                  <a:pt x="1038098" y="122174"/>
                </a:lnTo>
                <a:lnTo>
                  <a:pt x="1004697" y="115824"/>
                </a:lnTo>
                <a:lnTo>
                  <a:pt x="972947" y="110998"/>
                </a:lnTo>
                <a:lnTo>
                  <a:pt x="942848" y="104648"/>
                </a:lnTo>
                <a:lnTo>
                  <a:pt x="909447" y="99949"/>
                </a:lnTo>
                <a:lnTo>
                  <a:pt x="877824" y="93599"/>
                </a:lnTo>
                <a:lnTo>
                  <a:pt x="847598" y="88773"/>
                </a:lnTo>
                <a:lnTo>
                  <a:pt x="820674" y="82423"/>
                </a:lnTo>
                <a:lnTo>
                  <a:pt x="788924" y="77724"/>
                </a:lnTo>
                <a:lnTo>
                  <a:pt x="761873" y="71374"/>
                </a:lnTo>
                <a:lnTo>
                  <a:pt x="696849" y="58674"/>
                </a:lnTo>
                <a:lnTo>
                  <a:pt x="696849" y="55499"/>
                </a:lnTo>
                <a:lnTo>
                  <a:pt x="4792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79747" y="3659123"/>
            <a:ext cx="1338580" cy="350520"/>
          </a:xfrm>
          <a:custGeom>
            <a:avLst/>
            <a:gdLst/>
            <a:ahLst/>
            <a:cxnLst/>
            <a:rect l="l" t="t" r="r" b="b"/>
            <a:pathLst>
              <a:path w="1338579" h="350520">
                <a:moveTo>
                  <a:pt x="1338072" y="231520"/>
                </a:moveTo>
                <a:lnTo>
                  <a:pt x="1338072" y="161798"/>
                </a:lnTo>
                <a:lnTo>
                  <a:pt x="1311148" y="158623"/>
                </a:lnTo>
                <a:lnTo>
                  <a:pt x="1282573" y="155448"/>
                </a:lnTo>
                <a:lnTo>
                  <a:pt x="1255522" y="152273"/>
                </a:lnTo>
                <a:lnTo>
                  <a:pt x="1223772" y="147446"/>
                </a:lnTo>
                <a:lnTo>
                  <a:pt x="1193673" y="144271"/>
                </a:lnTo>
                <a:lnTo>
                  <a:pt x="1163447" y="141096"/>
                </a:lnTo>
                <a:lnTo>
                  <a:pt x="1131697" y="136398"/>
                </a:lnTo>
                <a:lnTo>
                  <a:pt x="1101598" y="130048"/>
                </a:lnTo>
                <a:lnTo>
                  <a:pt x="1068197" y="128524"/>
                </a:lnTo>
                <a:lnTo>
                  <a:pt x="1038098" y="122174"/>
                </a:lnTo>
                <a:lnTo>
                  <a:pt x="1004697" y="115824"/>
                </a:lnTo>
                <a:lnTo>
                  <a:pt x="972947" y="110998"/>
                </a:lnTo>
                <a:lnTo>
                  <a:pt x="942848" y="104648"/>
                </a:lnTo>
                <a:lnTo>
                  <a:pt x="909447" y="99949"/>
                </a:lnTo>
                <a:lnTo>
                  <a:pt x="877824" y="93599"/>
                </a:lnTo>
                <a:lnTo>
                  <a:pt x="847598" y="88773"/>
                </a:lnTo>
                <a:lnTo>
                  <a:pt x="820674" y="82423"/>
                </a:lnTo>
                <a:lnTo>
                  <a:pt x="788924" y="77724"/>
                </a:lnTo>
                <a:lnTo>
                  <a:pt x="761873" y="71374"/>
                </a:lnTo>
                <a:lnTo>
                  <a:pt x="696849" y="58674"/>
                </a:lnTo>
                <a:lnTo>
                  <a:pt x="696849" y="55499"/>
                </a:lnTo>
                <a:lnTo>
                  <a:pt x="479298" y="0"/>
                </a:lnTo>
                <a:lnTo>
                  <a:pt x="0" y="0"/>
                </a:lnTo>
                <a:lnTo>
                  <a:pt x="0" y="350519"/>
                </a:lnTo>
                <a:lnTo>
                  <a:pt x="596773" y="350519"/>
                </a:lnTo>
                <a:lnTo>
                  <a:pt x="623824" y="345820"/>
                </a:lnTo>
                <a:lnTo>
                  <a:pt x="655574" y="336295"/>
                </a:lnTo>
                <a:lnTo>
                  <a:pt x="682498" y="331469"/>
                </a:lnTo>
                <a:lnTo>
                  <a:pt x="715899" y="325119"/>
                </a:lnTo>
                <a:lnTo>
                  <a:pt x="747649" y="320420"/>
                </a:lnTo>
                <a:lnTo>
                  <a:pt x="777748" y="310895"/>
                </a:lnTo>
                <a:lnTo>
                  <a:pt x="811149" y="306069"/>
                </a:lnTo>
                <a:lnTo>
                  <a:pt x="844423" y="299719"/>
                </a:lnTo>
                <a:lnTo>
                  <a:pt x="877824" y="295020"/>
                </a:lnTo>
                <a:lnTo>
                  <a:pt x="912622" y="288670"/>
                </a:lnTo>
                <a:lnTo>
                  <a:pt x="946023" y="283844"/>
                </a:lnTo>
                <a:lnTo>
                  <a:pt x="979297" y="277621"/>
                </a:lnTo>
                <a:lnTo>
                  <a:pt x="1012698" y="272795"/>
                </a:lnTo>
                <a:lnTo>
                  <a:pt x="1045972" y="266445"/>
                </a:lnTo>
                <a:lnTo>
                  <a:pt x="1079373" y="264921"/>
                </a:lnTo>
                <a:lnTo>
                  <a:pt x="1112647" y="258571"/>
                </a:lnTo>
                <a:lnTo>
                  <a:pt x="1142873" y="253745"/>
                </a:lnTo>
                <a:lnTo>
                  <a:pt x="1177798" y="250570"/>
                </a:lnTo>
                <a:lnTo>
                  <a:pt x="1211072" y="244220"/>
                </a:lnTo>
                <a:lnTo>
                  <a:pt x="1241298" y="242696"/>
                </a:lnTo>
                <a:lnTo>
                  <a:pt x="1271397" y="239521"/>
                </a:lnTo>
                <a:lnTo>
                  <a:pt x="1338072" y="231520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384291" y="3817620"/>
            <a:ext cx="1402080" cy="1021080"/>
          </a:xfrm>
          <a:custGeom>
            <a:avLst/>
            <a:gdLst/>
            <a:ahLst/>
            <a:cxnLst/>
            <a:rect l="l" t="t" r="r" b="b"/>
            <a:pathLst>
              <a:path w="1402079" h="1021079">
                <a:moveTo>
                  <a:pt x="1199510" y="195325"/>
                </a:moveTo>
                <a:lnTo>
                  <a:pt x="1063879" y="195325"/>
                </a:lnTo>
                <a:lnTo>
                  <a:pt x="1059053" y="1021079"/>
                </a:lnTo>
                <a:lnTo>
                  <a:pt x="1402080" y="1021079"/>
                </a:lnTo>
                <a:lnTo>
                  <a:pt x="1402080" y="940053"/>
                </a:lnTo>
                <a:lnTo>
                  <a:pt x="1398905" y="940053"/>
                </a:lnTo>
                <a:lnTo>
                  <a:pt x="1206754" y="220725"/>
                </a:lnTo>
                <a:lnTo>
                  <a:pt x="1199510" y="195325"/>
                </a:lnTo>
                <a:close/>
              </a:path>
              <a:path w="1402079" h="1021079">
                <a:moveTo>
                  <a:pt x="0" y="0"/>
                </a:moveTo>
                <a:lnTo>
                  <a:pt x="6350" y="69849"/>
                </a:lnTo>
                <a:lnTo>
                  <a:pt x="6350" y="73024"/>
                </a:lnTo>
                <a:lnTo>
                  <a:pt x="123825" y="73024"/>
                </a:lnTo>
                <a:lnTo>
                  <a:pt x="149225" y="74675"/>
                </a:lnTo>
                <a:lnTo>
                  <a:pt x="171450" y="74675"/>
                </a:lnTo>
                <a:lnTo>
                  <a:pt x="220725" y="81025"/>
                </a:lnTo>
                <a:lnTo>
                  <a:pt x="246125" y="85724"/>
                </a:lnTo>
                <a:lnTo>
                  <a:pt x="268350" y="88899"/>
                </a:lnTo>
                <a:lnTo>
                  <a:pt x="293750" y="95249"/>
                </a:lnTo>
                <a:lnTo>
                  <a:pt x="319150" y="100075"/>
                </a:lnTo>
                <a:lnTo>
                  <a:pt x="341375" y="106425"/>
                </a:lnTo>
                <a:lnTo>
                  <a:pt x="363600" y="111124"/>
                </a:lnTo>
                <a:lnTo>
                  <a:pt x="385825" y="119125"/>
                </a:lnTo>
                <a:lnTo>
                  <a:pt x="408050" y="128650"/>
                </a:lnTo>
                <a:lnTo>
                  <a:pt x="430275" y="136524"/>
                </a:lnTo>
                <a:lnTo>
                  <a:pt x="449325" y="147700"/>
                </a:lnTo>
                <a:lnTo>
                  <a:pt x="470027" y="155574"/>
                </a:lnTo>
                <a:lnTo>
                  <a:pt x="489077" y="166750"/>
                </a:lnTo>
                <a:lnTo>
                  <a:pt x="506475" y="180974"/>
                </a:lnTo>
                <a:lnTo>
                  <a:pt x="522350" y="192150"/>
                </a:lnTo>
                <a:lnTo>
                  <a:pt x="536702" y="206501"/>
                </a:lnTo>
                <a:lnTo>
                  <a:pt x="1063879" y="195325"/>
                </a:lnTo>
                <a:lnTo>
                  <a:pt x="1199510" y="195325"/>
                </a:lnTo>
                <a:lnTo>
                  <a:pt x="1197229" y="187324"/>
                </a:lnTo>
                <a:lnTo>
                  <a:pt x="1195705" y="176275"/>
                </a:lnTo>
                <a:lnTo>
                  <a:pt x="1189355" y="166750"/>
                </a:lnTo>
                <a:lnTo>
                  <a:pt x="1184529" y="158749"/>
                </a:lnTo>
                <a:lnTo>
                  <a:pt x="1178179" y="150875"/>
                </a:lnTo>
                <a:lnTo>
                  <a:pt x="1173480" y="141350"/>
                </a:lnTo>
                <a:lnTo>
                  <a:pt x="1167130" y="133349"/>
                </a:lnTo>
                <a:lnTo>
                  <a:pt x="1159129" y="125475"/>
                </a:lnTo>
                <a:lnTo>
                  <a:pt x="1151255" y="119125"/>
                </a:lnTo>
                <a:lnTo>
                  <a:pt x="1144905" y="114299"/>
                </a:lnTo>
                <a:lnTo>
                  <a:pt x="1136904" y="106425"/>
                </a:lnTo>
                <a:lnTo>
                  <a:pt x="1127379" y="100075"/>
                </a:lnTo>
                <a:lnTo>
                  <a:pt x="1119378" y="96900"/>
                </a:lnTo>
                <a:lnTo>
                  <a:pt x="1108329" y="92074"/>
                </a:lnTo>
                <a:lnTo>
                  <a:pt x="1100328" y="85724"/>
                </a:lnTo>
                <a:lnTo>
                  <a:pt x="1092454" y="84200"/>
                </a:lnTo>
                <a:lnTo>
                  <a:pt x="1081278" y="81025"/>
                </a:lnTo>
                <a:lnTo>
                  <a:pt x="1071753" y="77850"/>
                </a:lnTo>
                <a:lnTo>
                  <a:pt x="1063879" y="74675"/>
                </a:lnTo>
                <a:lnTo>
                  <a:pt x="1052703" y="73024"/>
                </a:lnTo>
                <a:lnTo>
                  <a:pt x="1044829" y="698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384291" y="3817620"/>
            <a:ext cx="1402080" cy="1021080"/>
          </a:xfrm>
          <a:custGeom>
            <a:avLst/>
            <a:gdLst/>
            <a:ahLst/>
            <a:cxnLst/>
            <a:rect l="l" t="t" r="r" b="b"/>
            <a:pathLst>
              <a:path w="1402079" h="1021079">
                <a:moveTo>
                  <a:pt x="0" y="0"/>
                </a:moveTo>
                <a:lnTo>
                  <a:pt x="1044829" y="69849"/>
                </a:lnTo>
                <a:lnTo>
                  <a:pt x="1052703" y="73024"/>
                </a:lnTo>
                <a:lnTo>
                  <a:pt x="1063879" y="74675"/>
                </a:lnTo>
                <a:lnTo>
                  <a:pt x="1071753" y="77850"/>
                </a:lnTo>
                <a:lnTo>
                  <a:pt x="1081278" y="81025"/>
                </a:lnTo>
                <a:lnTo>
                  <a:pt x="1092454" y="84200"/>
                </a:lnTo>
                <a:lnTo>
                  <a:pt x="1100328" y="85724"/>
                </a:lnTo>
                <a:lnTo>
                  <a:pt x="1108329" y="92074"/>
                </a:lnTo>
                <a:lnTo>
                  <a:pt x="1119378" y="96900"/>
                </a:lnTo>
                <a:lnTo>
                  <a:pt x="1127379" y="100075"/>
                </a:lnTo>
                <a:lnTo>
                  <a:pt x="1136904" y="106425"/>
                </a:lnTo>
                <a:lnTo>
                  <a:pt x="1144905" y="114299"/>
                </a:lnTo>
                <a:lnTo>
                  <a:pt x="1151255" y="119125"/>
                </a:lnTo>
                <a:lnTo>
                  <a:pt x="1159129" y="125475"/>
                </a:lnTo>
                <a:lnTo>
                  <a:pt x="1167130" y="133349"/>
                </a:lnTo>
                <a:lnTo>
                  <a:pt x="1173480" y="141350"/>
                </a:lnTo>
                <a:lnTo>
                  <a:pt x="1178179" y="150875"/>
                </a:lnTo>
                <a:lnTo>
                  <a:pt x="1184529" y="158749"/>
                </a:lnTo>
                <a:lnTo>
                  <a:pt x="1189355" y="166750"/>
                </a:lnTo>
                <a:lnTo>
                  <a:pt x="1195705" y="176275"/>
                </a:lnTo>
                <a:lnTo>
                  <a:pt x="1197229" y="187324"/>
                </a:lnTo>
                <a:lnTo>
                  <a:pt x="1200404" y="198500"/>
                </a:lnTo>
                <a:lnTo>
                  <a:pt x="1206754" y="220725"/>
                </a:lnTo>
                <a:lnTo>
                  <a:pt x="1398905" y="940053"/>
                </a:lnTo>
                <a:lnTo>
                  <a:pt x="1402080" y="940053"/>
                </a:lnTo>
                <a:lnTo>
                  <a:pt x="1402080" y="1021079"/>
                </a:lnTo>
                <a:lnTo>
                  <a:pt x="1059053" y="1021079"/>
                </a:lnTo>
                <a:lnTo>
                  <a:pt x="1063879" y="195325"/>
                </a:lnTo>
                <a:lnTo>
                  <a:pt x="536702" y="206501"/>
                </a:lnTo>
                <a:lnTo>
                  <a:pt x="522350" y="192150"/>
                </a:lnTo>
                <a:lnTo>
                  <a:pt x="506475" y="180974"/>
                </a:lnTo>
                <a:lnTo>
                  <a:pt x="489077" y="166750"/>
                </a:lnTo>
                <a:lnTo>
                  <a:pt x="470027" y="155574"/>
                </a:lnTo>
                <a:lnTo>
                  <a:pt x="449325" y="147700"/>
                </a:lnTo>
                <a:lnTo>
                  <a:pt x="430275" y="136524"/>
                </a:lnTo>
                <a:lnTo>
                  <a:pt x="408050" y="128650"/>
                </a:lnTo>
                <a:lnTo>
                  <a:pt x="385825" y="119125"/>
                </a:lnTo>
                <a:lnTo>
                  <a:pt x="363600" y="111124"/>
                </a:lnTo>
                <a:lnTo>
                  <a:pt x="341375" y="106425"/>
                </a:lnTo>
                <a:lnTo>
                  <a:pt x="319150" y="100075"/>
                </a:lnTo>
                <a:lnTo>
                  <a:pt x="293750" y="95249"/>
                </a:lnTo>
                <a:lnTo>
                  <a:pt x="268350" y="88899"/>
                </a:lnTo>
                <a:lnTo>
                  <a:pt x="246125" y="85724"/>
                </a:lnTo>
                <a:lnTo>
                  <a:pt x="220725" y="81025"/>
                </a:lnTo>
                <a:lnTo>
                  <a:pt x="195325" y="77850"/>
                </a:lnTo>
                <a:lnTo>
                  <a:pt x="171450" y="74675"/>
                </a:lnTo>
                <a:lnTo>
                  <a:pt x="149225" y="74675"/>
                </a:lnTo>
                <a:lnTo>
                  <a:pt x="123825" y="73024"/>
                </a:lnTo>
                <a:lnTo>
                  <a:pt x="101600" y="73024"/>
                </a:lnTo>
                <a:lnTo>
                  <a:pt x="79375" y="73024"/>
                </a:lnTo>
                <a:lnTo>
                  <a:pt x="57150" y="73024"/>
                </a:lnTo>
                <a:lnTo>
                  <a:pt x="6350" y="73024"/>
                </a:lnTo>
                <a:lnTo>
                  <a:pt x="6350" y="69849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97964" y="3660647"/>
            <a:ext cx="4442460" cy="172720"/>
          </a:xfrm>
          <a:custGeom>
            <a:avLst/>
            <a:gdLst/>
            <a:ahLst/>
            <a:cxnLst/>
            <a:rect l="l" t="t" r="r" b="b"/>
            <a:pathLst>
              <a:path w="4442460" h="172720">
                <a:moveTo>
                  <a:pt x="0" y="0"/>
                </a:moveTo>
                <a:lnTo>
                  <a:pt x="2597531" y="0"/>
                </a:lnTo>
                <a:lnTo>
                  <a:pt x="2645156" y="11175"/>
                </a:lnTo>
                <a:lnTo>
                  <a:pt x="2697607" y="22351"/>
                </a:lnTo>
                <a:lnTo>
                  <a:pt x="2751582" y="35051"/>
                </a:lnTo>
                <a:lnTo>
                  <a:pt x="2807081" y="46227"/>
                </a:lnTo>
                <a:lnTo>
                  <a:pt x="2862707" y="57403"/>
                </a:lnTo>
                <a:lnTo>
                  <a:pt x="2918206" y="68579"/>
                </a:lnTo>
                <a:lnTo>
                  <a:pt x="2977007" y="79756"/>
                </a:lnTo>
                <a:lnTo>
                  <a:pt x="3035681" y="87756"/>
                </a:lnTo>
                <a:lnTo>
                  <a:pt x="3094482" y="98806"/>
                </a:lnTo>
                <a:lnTo>
                  <a:pt x="3153283" y="106806"/>
                </a:lnTo>
                <a:lnTo>
                  <a:pt x="3211957" y="114807"/>
                </a:lnTo>
                <a:lnTo>
                  <a:pt x="3272282" y="124332"/>
                </a:lnTo>
                <a:lnTo>
                  <a:pt x="3331083" y="132333"/>
                </a:lnTo>
                <a:lnTo>
                  <a:pt x="3389757" y="140334"/>
                </a:lnTo>
                <a:lnTo>
                  <a:pt x="3451733" y="146684"/>
                </a:lnTo>
                <a:lnTo>
                  <a:pt x="3510407" y="151510"/>
                </a:lnTo>
                <a:lnTo>
                  <a:pt x="3569208" y="157860"/>
                </a:lnTo>
                <a:lnTo>
                  <a:pt x="3624834" y="162687"/>
                </a:lnTo>
                <a:lnTo>
                  <a:pt x="3683508" y="165862"/>
                </a:lnTo>
                <a:lnTo>
                  <a:pt x="3739134" y="169037"/>
                </a:lnTo>
                <a:lnTo>
                  <a:pt x="3791458" y="172212"/>
                </a:lnTo>
                <a:lnTo>
                  <a:pt x="3912108" y="172212"/>
                </a:lnTo>
                <a:lnTo>
                  <a:pt x="3923284" y="146684"/>
                </a:lnTo>
                <a:lnTo>
                  <a:pt x="3939159" y="124332"/>
                </a:lnTo>
                <a:lnTo>
                  <a:pt x="3970909" y="84454"/>
                </a:lnTo>
                <a:lnTo>
                  <a:pt x="4009009" y="54228"/>
                </a:lnTo>
                <a:lnTo>
                  <a:pt x="4051935" y="35051"/>
                </a:lnTo>
                <a:lnTo>
                  <a:pt x="4074160" y="22351"/>
                </a:lnTo>
                <a:lnTo>
                  <a:pt x="4096385" y="17525"/>
                </a:lnTo>
                <a:lnTo>
                  <a:pt x="4118610" y="11175"/>
                </a:lnTo>
                <a:lnTo>
                  <a:pt x="4140835" y="6350"/>
                </a:lnTo>
                <a:lnTo>
                  <a:pt x="4166235" y="3175"/>
                </a:lnTo>
                <a:lnTo>
                  <a:pt x="4188460" y="3175"/>
                </a:lnTo>
                <a:lnTo>
                  <a:pt x="4213860" y="0"/>
                </a:lnTo>
                <a:lnTo>
                  <a:pt x="4236085" y="0"/>
                </a:lnTo>
                <a:lnTo>
                  <a:pt x="4258310" y="0"/>
                </a:lnTo>
                <a:lnTo>
                  <a:pt x="4280535" y="3175"/>
                </a:lnTo>
                <a:lnTo>
                  <a:pt x="4302760" y="6350"/>
                </a:lnTo>
                <a:lnTo>
                  <a:pt x="4324985" y="6350"/>
                </a:lnTo>
                <a:lnTo>
                  <a:pt x="4347210" y="9525"/>
                </a:lnTo>
                <a:lnTo>
                  <a:pt x="4366260" y="11175"/>
                </a:lnTo>
                <a:lnTo>
                  <a:pt x="4386834" y="14350"/>
                </a:lnTo>
                <a:lnTo>
                  <a:pt x="4402709" y="17525"/>
                </a:lnTo>
                <a:lnTo>
                  <a:pt x="4442460" y="22351"/>
                </a:lnTo>
              </a:path>
            </a:pathLst>
          </a:custGeom>
          <a:ln w="5791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89938" y="3670553"/>
            <a:ext cx="2247900" cy="329565"/>
          </a:xfrm>
          <a:custGeom>
            <a:avLst/>
            <a:gdLst/>
            <a:ahLst/>
            <a:cxnLst/>
            <a:rect l="l" t="t" r="r" b="b"/>
            <a:pathLst>
              <a:path w="2247900" h="329564">
                <a:moveTo>
                  <a:pt x="0" y="329184"/>
                </a:moveTo>
                <a:lnTo>
                  <a:pt x="2247900" y="329184"/>
                </a:lnTo>
                <a:lnTo>
                  <a:pt x="22479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89938" y="3670553"/>
            <a:ext cx="2247900" cy="329565"/>
          </a:xfrm>
          <a:custGeom>
            <a:avLst/>
            <a:gdLst/>
            <a:ahLst/>
            <a:cxnLst/>
            <a:rect l="l" t="t" r="r" b="b"/>
            <a:pathLst>
              <a:path w="2247900" h="329564">
                <a:moveTo>
                  <a:pt x="0" y="329184"/>
                </a:moveTo>
                <a:lnTo>
                  <a:pt x="2247900" y="329184"/>
                </a:lnTo>
                <a:lnTo>
                  <a:pt x="22479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066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994916" y="3898391"/>
            <a:ext cx="4442460" cy="123825"/>
          </a:xfrm>
          <a:custGeom>
            <a:avLst/>
            <a:gdLst/>
            <a:ahLst/>
            <a:cxnLst/>
            <a:rect l="l" t="t" r="r" b="b"/>
            <a:pathLst>
              <a:path w="4442460" h="123825">
                <a:moveTo>
                  <a:pt x="0" y="123443"/>
                </a:moveTo>
                <a:lnTo>
                  <a:pt x="2692781" y="123443"/>
                </a:lnTo>
                <a:lnTo>
                  <a:pt x="2723007" y="118617"/>
                </a:lnTo>
                <a:lnTo>
                  <a:pt x="2756281" y="108965"/>
                </a:lnTo>
                <a:lnTo>
                  <a:pt x="2789682" y="104266"/>
                </a:lnTo>
                <a:lnTo>
                  <a:pt x="2826131" y="96138"/>
                </a:lnTo>
                <a:lnTo>
                  <a:pt x="2859532" y="86613"/>
                </a:lnTo>
                <a:lnTo>
                  <a:pt x="2899156" y="78612"/>
                </a:lnTo>
                <a:lnTo>
                  <a:pt x="2935732" y="72135"/>
                </a:lnTo>
                <a:lnTo>
                  <a:pt x="2972181" y="64134"/>
                </a:lnTo>
                <a:lnTo>
                  <a:pt x="3010281" y="56133"/>
                </a:lnTo>
                <a:lnTo>
                  <a:pt x="3050032" y="48132"/>
                </a:lnTo>
                <a:lnTo>
                  <a:pt x="3089656" y="41655"/>
                </a:lnTo>
                <a:lnTo>
                  <a:pt x="3127883" y="33654"/>
                </a:lnTo>
                <a:lnTo>
                  <a:pt x="3167507" y="27304"/>
                </a:lnTo>
                <a:lnTo>
                  <a:pt x="3205607" y="22478"/>
                </a:lnTo>
                <a:lnTo>
                  <a:pt x="3248533" y="16001"/>
                </a:lnTo>
                <a:lnTo>
                  <a:pt x="3286632" y="11175"/>
                </a:lnTo>
                <a:lnTo>
                  <a:pt x="3326256" y="8000"/>
                </a:lnTo>
                <a:lnTo>
                  <a:pt x="3366007" y="4825"/>
                </a:lnTo>
                <a:lnTo>
                  <a:pt x="3404107" y="3174"/>
                </a:lnTo>
                <a:lnTo>
                  <a:pt x="3443731" y="0"/>
                </a:lnTo>
                <a:lnTo>
                  <a:pt x="3481831" y="0"/>
                </a:lnTo>
                <a:lnTo>
                  <a:pt x="3521582" y="0"/>
                </a:lnTo>
                <a:lnTo>
                  <a:pt x="3558158" y="3174"/>
                </a:lnTo>
                <a:lnTo>
                  <a:pt x="3594607" y="4825"/>
                </a:lnTo>
                <a:lnTo>
                  <a:pt x="3631183" y="8000"/>
                </a:lnTo>
                <a:lnTo>
                  <a:pt x="3666108" y="14477"/>
                </a:lnTo>
                <a:lnTo>
                  <a:pt x="3699382" y="22478"/>
                </a:lnTo>
                <a:lnTo>
                  <a:pt x="3734307" y="30479"/>
                </a:lnTo>
                <a:lnTo>
                  <a:pt x="3797807" y="49656"/>
                </a:lnTo>
                <a:lnTo>
                  <a:pt x="3856608" y="78612"/>
                </a:lnTo>
                <a:lnTo>
                  <a:pt x="3923283" y="123443"/>
                </a:lnTo>
                <a:lnTo>
                  <a:pt x="4442459" y="123443"/>
                </a:lnTo>
              </a:path>
            </a:pathLst>
          </a:custGeom>
          <a:ln w="579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65704" y="2020823"/>
            <a:ext cx="338455" cy="722630"/>
          </a:xfrm>
          <a:custGeom>
            <a:avLst/>
            <a:gdLst/>
            <a:ahLst/>
            <a:cxnLst/>
            <a:rect l="l" t="t" r="r" b="b"/>
            <a:pathLst>
              <a:path w="338454" h="722630">
                <a:moveTo>
                  <a:pt x="0" y="722376"/>
                </a:moveTo>
                <a:lnTo>
                  <a:pt x="338328" y="722376"/>
                </a:lnTo>
                <a:lnTo>
                  <a:pt x="338328" y="0"/>
                </a:lnTo>
                <a:lnTo>
                  <a:pt x="0" y="0"/>
                </a:lnTo>
                <a:lnTo>
                  <a:pt x="0" y="7223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965704" y="2020823"/>
            <a:ext cx="338455" cy="762000"/>
          </a:xfrm>
          <a:custGeom>
            <a:avLst/>
            <a:gdLst/>
            <a:ahLst/>
            <a:cxnLst/>
            <a:rect l="l" t="t" r="r" b="b"/>
            <a:pathLst>
              <a:path w="338454" h="762000">
                <a:moveTo>
                  <a:pt x="0" y="762000"/>
                </a:moveTo>
                <a:lnTo>
                  <a:pt x="338328" y="762000"/>
                </a:lnTo>
                <a:lnTo>
                  <a:pt x="338328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88820" y="1603247"/>
            <a:ext cx="4462780" cy="3206750"/>
          </a:xfrm>
          <a:custGeom>
            <a:avLst/>
            <a:gdLst/>
            <a:ahLst/>
            <a:cxnLst/>
            <a:rect l="l" t="t" r="r" b="b"/>
            <a:pathLst>
              <a:path w="4462780" h="3206750">
                <a:moveTo>
                  <a:pt x="0" y="1525524"/>
                </a:moveTo>
                <a:lnTo>
                  <a:pt x="1325499" y="1525524"/>
                </a:lnTo>
                <a:lnTo>
                  <a:pt x="1325499" y="188849"/>
                </a:lnTo>
                <a:lnTo>
                  <a:pt x="1981072" y="188849"/>
                </a:lnTo>
                <a:lnTo>
                  <a:pt x="2017649" y="172974"/>
                </a:lnTo>
                <a:lnTo>
                  <a:pt x="2057272" y="155575"/>
                </a:lnTo>
                <a:lnTo>
                  <a:pt x="2095372" y="139700"/>
                </a:lnTo>
                <a:lnTo>
                  <a:pt x="2135124" y="125349"/>
                </a:lnTo>
                <a:lnTo>
                  <a:pt x="2176399" y="111125"/>
                </a:lnTo>
                <a:lnTo>
                  <a:pt x="2219197" y="96774"/>
                </a:lnTo>
                <a:lnTo>
                  <a:pt x="2263647" y="85725"/>
                </a:lnTo>
                <a:lnTo>
                  <a:pt x="2304922" y="74549"/>
                </a:lnTo>
                <a:lnTo>
                  <a:pt x="2352547" y="63500"/>
                </a:lnTo>
                <a:lnTo>
                  <a:pt x="2396997" y="52324"/>
                </a:lnTo>
                <a:lnTo>
                  <a:pt x="2441447" y="44450"/>
                </a:lnTo>
                <a:lnTo>
                  <a:pt x="2489072" y="36449"/>
                </a:lnTo>
                <a:lnTo>
                  <a:pt x="2536697" y="26924"/>
                </a:lnTo>
                <a:lnTo>
                  <a:pt x="2584322" y="22225"/>
                </a:lnTo>
                <a:lnTo>
                  <a:pt x="2631947" y="15875"/>
                </a:lnTo>
                <a:lnTo>
                  <a:pt x="2681224" y="11049"/>
                </a:lnTo>
                <a:lnTo>
                  <a:pt x="2728849" y="4699"/>
                </a:lnTo>
                <a:lnTo>
                  <a:pt x="2779649" y="3175"/>
                </a:lnTo>
                <a:lnTo>
                  <a:pt x="2827274" y="0"/>
                </a:lnTo>
                <a:lnTo>
                  <a:pt x="2876422" y="0"/>
                </a:lnTo>
                <a:lnTo>
                  <a:pt x="2927222" y="0"/>
                </a:lnTo>
                <a:lnTo>
                  <a:pt x="2974847" y="0"/>
                </a:lnTo>
                <a:lnTo>
                  <a:pt x="3025647" y="0"/>
                </a:lnTo>
                <a:lnTo>
                  <a:pt x="3071622" y="3175"/>
                </a:lnTo>
                <a:lnTo>
                  <a:pt x="3122422" y="4699"/>
                </a:lnTo>
                <a:lnTo>
                  <a:pt x="3170047" y="7874"/>
                </a:lnTo>
                <a:lnTo>
                  <a:pt x="3220847" y="14224"/>
                </a:lnTo>
                <a:lnTo>
                  <a:pt x="3268472" y="19050"/>
                </a:lnTo>
                <a:lnTo>
                  <a:pt x="3314573" y="25400"/>
                </a:lnTo>
                <a:lnTo>
                  <a:pt x="3360547" y="33274"/>
                </a:lnTo>
                <a:lnTo>
                  <a:pt x="3406648" y="41275"/>
                </a:lnTo>
                <a:lnTo>
                  <a:pt x="3452622" y="49149"/>
                </a:lnTo>
                <a:lnTo>
                  <a:pt x="3497072" y="60325"/>
                </a:lnTo>
                <a:lnTo>
                  <a:pt x="3541522" y="71374"/>
                </a:lnTo>
                <a:lnTo>
                  <a:pt x="3585972" y="82550"/>
                </a:lnTo>
                <a:lnTo>
                  <a:pt x="3627247" y="96774"/>
                </a:lnTo>
                <a:lnTo>
                  <a:pt x="3670173" y="111125"/>
                </a:lnTo>
                <a:lnTo>
                  <a:pt x="3708273" y="125349"/>
                </a:lnTo>
                <a:lnTo>
                  <a:pt x="3747897" y="141224"/>
                </a:lnTo>
                <a:lnTo>
                  <a:pt x="3847973" y="188849"/>
                </a:lnTo>
                <a:lnTo>
                  <a:pt x="4462272" y="188849"/>
                </a:lnTo>
                <a:lnTo>
                  <a:pt x="4451096" y="3206496"/>
                </a:lnTo>
              </a:path>
            </a:pathLst>
          </a:custGeom>
          <a:ln w="579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05000" y="2743200"/>
            <a:ext cx="1402080" cy="347980"/>
          </a:xfrm>
          <a:custGeom>
            <a:avLst/>
            <a:gdLst/>
            <a:ahLst/>
            <a:cxnLst/>
            <a:rect l="l" t="t" r="r" b="b"/>
            <a:pathLst>
              <a:path w="1402079" h="347980">
                <a:moveTo>
                  <a:pt x="0" y="347472"/>
                </a:moveTo>
                <a:lnTo>
                  <a:pt x="1402079" y="347472"/>
                </a:lnTo>
                <a:lnTo>
                  <a:pt x="1402079" y="0"/>
                </a:lnTo>
                <a:lnTo>
                  <a:pt x="0" y="0"/>
                </a:lnTo>
                <a:lnTo>
                  <a:pt x="0" y="3474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905000" y="2743200"/>
            <a:ext cx="1402080" cy="347980"/>
          </a:xfrm>
          <a:custGeom>
            <a:avLst/>
            <a:gdLst/>
            <a:ahLst/>
            <a:cxnLst/>
            <a:rect l="l" t="t" r="r" b="b"/>
            <a:pathLst>
              <a:path w="1402079" h="347980">
                <a:moveTo>
                  <a:pt x="0" y="347472"/>
                </a:moveTo>
                <a:lnTo>
                  <a:pt x="1402079" y="347472"/>
                </a:lnTo>
                <a:lnTo>
                  <a:pt x="1402079" y="0"/>
                </a:lnTo>
                <a:lnTo>
                  <a:pt x="0" y="0"/>
                </a:lnTo>
                <a:lnTo>
                  <a:pt x="0" y="347472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97964" y="1431036"/>
            <a:ext cx="4803775" cy="3390900"/>
          </a:xfrm>
          <a:custGeom>
            <a:avLst/>
            <a:gdLst/>
            <a:ahLst/>
            <a:cxnLst/>
            <a:rect l="l" t="t" r="r" b="b"/>
            <a:pathLst>
              <a:path w="4803775" h="3390900">
                <a:moveTo>
                  <a:pt x="0" y="1335024"/>
                </a:moveTo>
                <a:lnTo>
                  <a:pt x="965454" y="1335024"/>
                </a:lnTo>
                <a:lnTo>
                  <a:pt x="965454" y="0"/>
                </a:lnTo>
                <a:lnTo>
                  <a:pt x="1980184" y="0"/>
                </a:lnTo>
                <a:lnTo>
                  <a:pt x="2019935" y="19050"/>
                </a:lnTo>
                <a:lnTo>
                  <a:pt x="2056384" y="38100"/>
                </a:lnTo>
                <a:lnTo>
                  <a:pt x="2097786" y="55499"/>
                </a:lnTo>
                <a:lnTo>
                  <a:pt x="2140585" y="71374"/>
                </a:lnTo>
                <a:lnTo>
                  <a:pt x="2181860" y="85725"/>
                </a:lnTo>
                <a:lnTo>
                  <a:pt x="2226310" y="99949"/>
                </a:lnTo>
                <a:lnTo>
                  <a:pt x="2270760" y="114300"/>
                </a:lnTo>
                <a:lnTo>
                  <a:pt x="2315337" y="125349"/>
                </a:lnTo>
                <a:lnTo>
                  <a:pt x="2361311" y="136525"/>
                </a:lnTo>
                <a:lnTo>
                  <a:pt x="2407412" y="147574"/>
                </a:lnTo>
                <a:lnTo>
                  <a:pt x="2458212" y="155575"/>
                </a:lnTo>
                <a:lnTo>
                  <a:pt x="2505837" y="163449"/>
                </a:lnTo>
                <a:lnTo>
                  <a:pt x="2556637" y="172974"/>
                </a:lnTo>
                <a:lnTo>
                  <a:pt x="2602738" y="177800"/>
                </a:lnTo>
                <a:lnTo>
                  <a:pt x="2653538" y="184150"/>
                </a:lnTo>
                <a:lnTo>
                  <a:pt x="2704338" y="187325"/>
                </a:lnTo>
                <a:lnTo>
                  <a:pt x="2756789" y="192024"/>
                </a:lnTo>
                <a:lnTo>
                  <a:pt x="2807589" y="195199"/>
                </a:lnTo>
                <a:lnTo>
                  <a:pt x="2856738" y="195199"/>
                </a:lnTo>
                <a:lnTo>
                  <a:pt x="2910713" y="195199"/>
                </a:lnTo>
                <a:lnTo>
                  <a:pt x="2959989" y="195199"/>
                </a:lnTo>
                <a:lnTo>
                  <a:pt x="3010789" y="195199"/>
                </a:lnTo>
                <a:lnTo>
                  <a:pt x="3061589" y="192024"/>
                </a:lnTo>
                <a:lnTo>
                  <a:pt x="3114040" y="187325"/>
                </a:lnTo>
                <a:lnTo>
                  <a:pt x="3164840" y="184150"/>
                </a:lnTo>
                <a:lnTo>
                  <a:pt x="3214116" y="177800"/>
                </a:lnTo>
                <a:lnTo>
                  <a:pt x="3261741" y="172974"/>
                </a:lnTo>
                <a:lnTo>
                  <a:pt x="3312541" y="163449"/>
                </a:lnTo>
                <a:lnTo>
                  <a:pt x="3363341" y="155575"/>
                </a:lnTo>
                <a:lnTo>
                  <a:pt x="3409441" y="147574"/>
                </a:lnTo>
                <a:lnTo>
                  <a:pt x="3457066" y="136525"/>
                </a:lnTo>
                <a:lnTo>
                  <a:pt x="3501516" y="125349"/>
                </a:lnTo>
                <a:lnTo>
                  <a:pt x="3549141" y="114300"/>
                </a:lnTo>
                <a:lnTo>
                  <a:pt x="3593591" y="99949"/>
                </a:lnTo>
                <a:lnTo>
                  <a:pt x="3636518" y="85725"/>
                </a:lnTo>
                <a:lnTo>
                  <a:pt x="3680968" y="71374"/>
                </a:lnTo>
                <a:lnTo>
                  <a:pt x="3720591" y="55499"/>
                </a:lnTo>
                <a:lnTo>
                  <a:pt x="3761994" y="38100"/>
                </a:lnTo>
                <a:lnTo>
                  <a:pt x="3836543" y="0"/>
                </a:lnTo>
                <a:lnTo>
                  <a:pt x="4803647" y="0"/>
                </a:lnTo>
                <a:lnTo>
                  <a:pt x="4803647" y="3390900"/>
                </a:lnTo>
              </a:path>
            </a:pathLst>
          </a:custGeom>
          <a:ln w="579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973829" y="787145"/>
            <a:ext cx="1866900" cy="1525905"/>
          </a:xfrm>
          <a:custGeom>
            <a:avLst/>
            <a:gdLst/>
            <a:ahLst/>
            <a:cxnLst/>
            <a:rect l="l" t="t" r="r" b="b"/>
            <a:pathLst>
              <a:path w="1866900" h="1525905">
                <a:moveTo>
                  <a:pt x="677799" y="0"/>
                </a:moveTo>
                <a:lnTo>
                  <a:pt x="677799" y="169799"/>
                </a:lnTo>
                <a:lnTo>
                  <a:pt x="0" y="169799"/>
                </a:lnTo>
                <a:lnTo>
                  <a:pt x="0" y="1525524"/>
                </a:lnTo>
                <a:lnTo>
                  <a:pt x="1866900" y="1525524"/>
                </a:lnTo>
                <a:lnTo>
                  <a:pt x="1866900" y="169799"/>
                </a:lnTo>
                <a:lnTo>
                  <a:pt x="1185799" y="169799"/>
                </a:lnTo>
                <a:lnTo>
                  <a:pt x="1185799" y="0"/>
                </a:lnTo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059173" y="2971038"/>
            <a:ext cx="1866900" cy="1525905"/>
          </a:xfrm>
          <a:custGeom>
            <a:avLst/>
            <a:gdLst/>
            <a:ahLst/>
            <a:cxnLst/>
            <a:rect l="l" t="t" r="r" b="b"/>
            <a:pathLst>
              <a:path w="1866900" h="1525904">
                <a:moveTo>
                  <a:pt x="677799" y="0"/>
                </a:moveTo>
                <a:lnTo>
                  <a:pt x="677799" y="169799"/>
                </a:lnTo>
                <a:lnTo>
                  <a:pt x="0" y="169799"/>
                </a:lnTo>
                <a:lnTo>
                  <a:pt x="0" y="1525524"/>
                </a:lnTo>
                <a:lnTo>
                  <a:pt x="1866900" y="1525524"/>
                </a:lnTo>
                <a:lnTo>
                  <a:pt x="1866900" y="169799"/>
                </a:lnTo>
                <a:lnTo>
                  <a:pt x="1187450" y="169799"/>
                </a:lnTo>
                <a:lnTo>
                  <a:pt x="1187450" y="0"/>
                </a:lnTo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59173" y="5090921"/>
            <a:ext cx="1866900" cy="1525905"/>
          </a:xfrm>
          <a:custGeom>
            <a:avLst/>
            <a:gdLst/>
            <a:ahLst/>
            <a:cxnLst/>
            <a:rect l="l" t="t" r="r" b="b"/>
            <a:pathLst>
              <a:path w="1866900" h="1525904">
                <a:moveTo>
                  <a:pt x="677799" y="0"/>
                </a:moveTo>
                <a:lnTo>
                  <a:pt x="677799" y="166623"/>
                </a:lnTo>
                <a:lnTo>
                  <a:pt x="0" y="166623"/>
                </a:lnTo>
                <a:lnTo>
                  <a:pt x="0" y="1525523"/>
                </a:lnTo>
                <a:lnTo>
                  <a:pt x="1866900" y="1525523"/>
                </a:lnTo>
                <a:lnTo>
                  <a:pt x="1866900" y="166623"/>
                </a:lnTo>
                <a:lnTo>
                  <a:pt x="1187450" y="166623"/>
                </a:lnTo>
                <a:lnTo>
                  <a:pt x="1187450" y="0"/>
                </a:lnTo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18617" y="6438595"/>
            <a:ext cx="1841500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(unknown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source)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05382"/>
            <a:ext cx="7966075" cy="838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Lung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volume affects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pulmonary </a:t>
            </a:r>
            <a:r>
              <a:rPr dirty="0" sz="1800" spc="-5">
                <a:solidFill>
                  <a:srgbClr val="FFC000"/>
                </a:solidFill>
                <a:latin typeface="Comic Sans MS"/>
                <a:cs typeface="Comic Sans MS"/>
              </a:rPr>
              <a:t>vascular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resistance in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a complex manner 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depending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on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if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the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blood vessels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are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surrounded by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alveoli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(alveolar  vessels)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or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not (extra-alveolar</a:t>
            </a:r>
            <a:r>
              <a:rPr dirty="0" sz="1800" spc="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vessels).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/>
              <a:t>E. </a:t>
            </a:r>
            <a:r>
              <a:rPr dirty="0"/>
              <a:t>Effects of lung volume on pulmonary vascular</a:t>
            </a:r>
            <a:r>
              <a:rPr dirty="0" spc="-185"/>
              <a:t> </a:t>
            </a:r>
            <a:r>
              <a:rPr dirty="0" spc="-5"/>
              <a:t>resistance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4918836"/>
            <a:ext cx="8138159" cy="1824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99535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Physiology-the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355600" marR="35242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Above FRC,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the alveolar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vessels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are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stretched longitudinally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and thus,  their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diameter decrease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leading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to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an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increase in vascular</a:t>
            </a:r>
            <a:r>
              <a:rPr dirty="0" sz="1800" spc="-1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resistance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Comic Sans MS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355600" marR="555625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Below FRC, the extra-alveolar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vessels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collapse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because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they are</a:t>
            </a:r>
            <a:r>
              <a:rPr dirty="0" sz="1800" spc="-125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not  stretched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by </a:t>
            </a:r>
            <a:r>
              <a:rPr dirty="0" sz="1800">
                <a:solidFill>
                  <a:srgbClr val="FFFFFF"/>
                </a:solidFill>
                <a:latin typeface="Comic Sans MS"/>
                <a:cs typeface="Comic Sans MS"/>
              </a:rPr>
              <a:t>the pulmonary</a:t>
            </a:r>
            <a:r>
              <a:rPr dirty="0" sz="1800" spc="-12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omic Sans MS"/>
                <a:cs typeface="Comic Sans MS"/>
              </a:rPr>
              <a:t>tissues.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29200" y="2285986"/>
            <a:ext cx="3469173" cy="2612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86400" y="4495800"/>
            <a:ext cx="2667000" cy="152400"/>
          </a:xfrm>
          <a:custGeom>
            <a:avLst/>
            <a:gdLst/>
            <a:ahLst/>
            <a:cxnLst/>
            <a:rect l="l" t="t" r="r" b="b"/>
            <a:pathLst>
              <a:path w="2667000" h="152400">
                <a:moveTo>
                  <a:pt x="0" y="152400"/>
                </a:moveTo>
                <a:lnTo>
                  <a:pt x="2667000" y="152400"/>
                </a:lnTo>
                <a:lnTo>
                  <a:pt x="2667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72504" y="4429632"/>
            <a:ext cx="495300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latin typeface="Arial"/>
                <a:cs typeface="Arial"/>
              </a:rPr>
              <a:t>FRC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304800"/>
            <a:ext cx="5929884" cy="624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34631" y="3544189"/>
            <a:ext cx="2227580" cy="375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Alveolar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vessels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53000" y="3706621"/>
            <a:ext cx="1686560" cy="659130"/>
          </a:xfrm>
          <a:custGeom>
            <a:avLst/>
            <a:gdLst/>
            <a:ahLst/>
            <a:cxnLst/>
            <a:rect l="l" t="t" r="r" b="b"/>
            <a:pathLst>
              <a:path w="1686559" h="659129">
                <a:moveTo>
                  <a:pt x="133603" y="495807"/>
                </a:moveTo>
                <a:lnTo>
                  <a:pt x="0" y="636777"/>
                </a:lnTo>
                <a:lnTo>
                  <a:pt x="192912" y="659002"/>
                </a:lnTo>
                <a:lnTo>
                  <a:pt x="176758" y="614552"/>
                </a:lnTo>
                <a:lnTo>
                  <a:pt x="145923" y="614552"/>
                </a:lnTo>
                <a:lnTo>
                  <a:pt x="126111" y="560069"/>
                </a:lnTo>
                <a:lnTo>
                  <a:pt x="153358" y="550163"/>
                </a:lnTo>
                <a:lnTo>
                  <a:pt x="133603" y="495807"/>
                </a:lnTo>
                <a:close/>
              </a:path>
              <a:path w="1686559" h="659129">
                <a:moveTo>
                  <a:pt x="153358" y="550163"/>
                </a:moveTo>
                <a:lnTo>
                  <a:pt x="126111" y="560069"/>
                </a:lnTo>
                <a:lnTo>
                  <a:pt x="145923" y="614552"/>
                </a:lnTo>
                <a:lnTo>
                  <a:pt x="173159" y="604647"/>
                </a:lnTo>
                <a:lnTo>
                  <a:pt x="153358" y="550163"/>
                </a:lnTo>
                <a:close/>
              </a:path>
              <a:path w="1686559" h="659129">
                <a:moveTo>
                  <a:pt x="173159" y="604647"/>
                </a:moveTo>
                <a:lnTo>
                  <a:pt x="145923" y="614552"/>
                </a:lnTo>
                <a:lnTo>
                  <a:pt x="176758" y="614552"/>
                </a:lnTo>
                <a:lnTo>
                  <a:pt x="173159" y="604647"/>
                </a:lnTo>
                <a:close/>
              </a:path>
              <a:path w="1686559" h="659129">
                <a:moveTo>
                  <a:pt x="1666494" y="0"/>
                </a:moveTo>
                <a:lnTo>
                  <a:pt x="153358" y="550163"/>
                </a:lnTo>
                <a:lnTo>
                  <a:pt x="173159" y="604647"/>
                </a:lnTo>
                <a:lnTo>
                  <a:pt x="1686305" y="54355"/>
                </a:lnTo>
                <a:lnTo>
                  <a:pt x="1666494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80428" y="724153"/>
            <a:ext cx="1903095" cy="7416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6520" marR="5080" indent="-8382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veo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ar 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vessels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0" y="630808"/>
            <a:ext cx="2138680" cy="464820"/>
          </a:xfrm>
          <a:custGeom>
            <a:avLst/>
            <a:gdLst/>
            <a:ahLst/>
            <a:cxnLst/>
            <a:rect l="l" t="t" r="r" b="b"/>
            <a:pathLst>
              <a:path w="2138679" h="464819">
                <a:moveTo>
                  <a:pt x="176103" y="57038"/>
                </a:moveTo>
                <a:lnTo>
                  <a:pt x="165903" y="114052"/>
                </a:lnTo>
                <a:lnTo>
                  <a:pt x="2128520" y="464438"/>
                </a:lnTo>
                <a:lnTo>
                  <a:pt x="2138679" y="407542"/>
                </a:lnTo>
                <a:lnTo>
                  <a:pt x="176103" y="57038"/>
                </a:lnTo>
                <a:close/>
              </a:path>
              <a:path w="2138679" h="464819">
                <a:moveTo>
                  <a:pt x="186309" y="0"/>
                </a:moveTo>
                <a:lnTo>
                  <a:pt x="0" y="54990"/>
                </a:lnTo>
                <a:lnTo>
                  <a:pt x="155701" y="171068"/>
                </a:lnTo>
                <a:lnTo>
                  <a:pt x="165903" y="114052"/>
                </a:lnTo>
                <a:lnTo>
                  <a:pt x="137413" y="108965"/>
                </a:lnTo>
                <a:lnTo>
                  <a:pt x="147574" y="51942"/>
                </a:lnTo>
                <a:lnTo>
                  <a:pt x="177015" y="51942"/>
                </a:lnTo>
                <a:lnTo>
                  <a:pt x="186309" y="0"/>
                </a:lnTo>
                <a:close/>
              </a:path>
              <a:path w="2138679" h="464819">
                <a:moveTo>
                  <a:pt x="147574" y="51942"/>
                </a:moveTo>
                <a:lnTo>
                  <a:pt x="137413" y="108965"/>
                </a:lnTo>
                <a:lnTo>
                  <a:pt x="165903" y="114052"/>
                </a:lnTo>
                <a:lnTo>
                  <a:pt x="176103" y="57038"/>
                </a:lnTo>
                <a:lnTo>
                  <a:pt x="147574" y="51942"/>
                </a:lnTo>
                <a:close/>
              </a:path>
              <a:path w="2138679" h="464819">
                <a:moveTo>
                  <a:pt x="177015" y="51942"/>
                </a:moveTo>
                <a:lnTo>
                  <a:pt x="147574" y="51942"/>
                </a:lnTo>
                <a:lnTo>
                  <a:pt x="176103" y="57038"/>
                </a:lnTo>
                <a:lnTo>
                  <a:pt x="177015" y="5194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763777"/>
            <a:ext cx="5412740" cy="484505"/>
          </a:xfrm>
          <a:custGeom>
            <a:avLst/>
            <a:gdLst/>
            <a:ahLst/>
            <a:cxnLst/>
            <a:rect l="l" t="t" r="r" b="b"/>
            <a:pathLst>
              <a:path w="5412740" h="484505">
                <a:moveTo>
                  <a:pt x="175341" y="57788"/>
                </a:moveTo>
                <a:lnTo>
                  <a:pt x="171270" y="115571"/>
                </a:lnTo>
                <a:lnTo>
                  <a:pt x="5408168" y="484250"/>
                </a:lnTo>
                <a:lnTo>
                  <a:pt x="5412232" y="426593"/>
                </a:lnTo>
                <a:lnTo>
                  <a:pt x="175341" y="57788"/>
                </a:lnTo>
                <a:close/>
              </a:path>
              <a:path w="5412740" h="484505">
                <a:moveTo>
                  <a:pt x="179412" y="0"/>
                </a:moveTo>
                <a:lnTo>
                  <a:pt x="0" y="74422"/>
                </a:lnTo>
                <a:lnTo>
                  <a:pt x="167208" y="173227"/>
                </a:lnTo>
                <a:lnTo>
                  <a:pt x="171270" y="115571"/>
                </a:lnTo>
                <a:lnTo>
                  <a:pt x="142379" y="113537"/>
                </a:lnTo>
                <a:lnTo>
                  <a:pt x="146443" y="55752"/>
                </a:lnTo>
                <a:lnTo>
                  <a:pt x="175484" y="55752"/>
                </a:lnTo>
                <a:lnTo>
                  <a:pt x="179412" y="0"/>
                </a:lnTo>
                <a:close/>
              </a:path>
              <a:path w="5412740" h="484505">
                <a:moveTo>
                  <a:pt x="146443" y="55752"/>
                </a:moveTo>
                <a:lnTo>
                  <a:pt x="142379" y="113537"/>
                </a:lnTo>
                <a:lnTo>
                  <a:pt x="171270" y="115571"/>
                </a:lnTo>
                <a:lnTo>
                  <a:pt x="175341" y="57788"/>
                </a:lnTo>
                <a:lnTo>
                  <a:pt x="146443" y="55752"/>
                </a:lnTo>
                <a:close/>
              </a:path>
              <a:path w="5412740" h="484505">
                <a:moveTo>
                  <a:pt x="175484" y="55752"/>
                </a:moveTo>
                <a:lnTo>
                  <a:pt x="146443" y="55752"/>
                </a:lnTo>
                <a:lnTo>
                  <a:pt x="175341" y="57788"/>
                </a:lnTo>
                <a:lnTo>
                  <a:pt x="175484" y="5575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08228"/>
            <a:ext cx="4173854" cy="31559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none">
                <a:latin typeface="Arial"/>
                <a:cs typeface="Arial"/>
              </a:rPr>
              <a:t>F. </a:t>
            </a:r>
            <a:r>
              <a:rPr dirty="0">
                <a:latin typeface="Arial"/>
                <a:cs typeface="Arial"/>
              </a:rPr>
              <a:t>Effects of </a:t>
            </a:r>
            <a:r>
              <a:rPr dirty="0" spc="-5">
                <a:latin typeface="Arial"/>
                <a:cs typeface="Arial"/>
              </a:rPr>
              <a:t>Gravity </a:t>
            </a:r>
            <a:r>
              <a:rPr dirty="0">
                <a:latin typeface="Arial"/>
                <a:cs typeface="Arial"/>
              </a:rPr>
              <a:t>on</a:t>
            </a:r>
            <a:r>
              <a:rPr dirty="0" spc="-8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Ventilation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8582"/>
            <a:ext cx="8039100" cy="2754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•Gravity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also affects the distribution of</a:t>
            </a:r>
            <a:r>
              <a:rPr dirty="0" sz="20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ventilation.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Times New Roman"/>
              <a:cs typeface="Times New Roman"/>
            </a:endParaRPr>
          </a:p>
          <a:p>
            <a:pPr algn="just" marL="12700" marR="40005">
              <a:lnSpc>
                <a:spcPts val="2160"/>
              </a:lnSpc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•In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 upright lung at rest, in normal gravity, the alveoli at the top of the  lungs are more opened than the bottom ones (think of a “Slinky” held</a:t>
            </a:r>
            <a:r>
              <a:rPr dirty="0" sz="2000" spc="-2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  normal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gravity).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16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•The distribution of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ventilation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can be measured in a similar way as that  of perfusion but with inhaled radioactive Xenon instead of infused in</a:t>
            </a:r>
            <a:r>
              <a:rPr dirty="0" sz="2000" spc="-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blood.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4191000"/>
            <a:ext cx="4931663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69794" y="6625742"/>
            <a:ext cx="425132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Physiology-the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914400"/>
            <a:ext cx="6781800" cy="5658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288" y="335534"/>
            <a:ext cx="9005570" cy="31559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 u="none">
                <a:solidFill>
                  <a:srgbClr val="FFFFFF"/>
                </a:solidFill>
                <a:latin typeface="Arial"/>
                <a:cs typeface="Arial"/>
              </a:rPr>
              <a:t>G.  </a:t>
            </a:r>
            <a:r>
              <a:rPr dirty="0" u="heavy">
                <a:solidFill>
                  <a:srgbClr val="FFFFFF"/>
                </a:solidFill>
                <a:latin typeface="Arial"/>
                <a:cs typeface="Arial"/>
              </a:rPr>
              <a:t>Distribution of </a:t>
            </a:r>
            <a:r>
              <a:rPr dirty="0" spc="-5" u="heavy">
                <a:solidFill>
                  <a:srgbClr val="FFFFFF"/>
                </a:solidFill>
                <a:latin typeface="Arial"/>
                <a:cs typeface="Arial"/>
              </a:rPr>
              <a:t>ventilation </a:t>
            </a:r>
            <a:r>
              <a:rPr dirty="0" u="heavy">
                <a:solidFill>
                  <a:srgbClr val="FFFFFF"/>
                </a:solidFill>
                <a:latin typeface="Arial"/>
                <a:cs typeface="Arial"/>
              </a:rPr>
              <a:t>perfusion ratio in the lungs </a:t>
            </a:r>
            <a:r>
              <a:rPr dirty="0" spc="-5" u="heavy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u="heavy">
                <a:solidFill>
                  <a:srgbClr val="FFFFFF"/>
                </a:solidFill>
                <a:latin typeface="Arial"/>
                <a:cs typeface="Arial"/>
              </a:rPr>
              <a:t>normal</a:t>
            </a:r>
            <a:r>
              <a:rPr dirty="0" spc="-180" u="heavy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pc="-25" u="heavy">
                <a:solidFill>
                  <a:srgbClr val="FFFFFF"/>
                </a:solidFill>
                <a:latin typeface="Arial"/>
                <a:cs typeface="Arial"/>
              </a:rPr>
              <a:t>gravity.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52470" y="6616293"/>
            <a:ext cx="425132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Reproduced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West: Respiratory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Physiology-the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essentials.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C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Anne-Marie Lauzon</dc:creator>
  <dc:title>Slide 1</dc:title>
  <dcterms:created xsi:type="dcterms:W3CDTF">2017-01-17T22:10:16Z</dcterms:created>
  <dcterms:modified xsi:type="dcterms:W3CDTF">2017-01-17T22:10:16Z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2017-01-16T00:00:00Z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2017-01-17T00:00:00Z</vt:filetime>
  </property>
</Properties>
</file>